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7" r:id="rId31"/>
    <p:sldId id="288" r:id="rId32"/>
    <p:sldId id="285" r:id="rId33"/>
    <p:sldId id="286"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u mathew" userId="ec8c2f12682202a6" providerId="LiveId" clId="{05ADEA0A-BB2B-4313-8B38-3B2BF9CE5AE5}"/>
    <pc:docChg chg="custSel addSld modSld">
      <pc:chgData name="sanu mathew" userId="ec8c2f12682202a6" providerId="LiveId" clId="{05ADEA0A-BB2B-4313-8B38-3B2BF9CE5AE5}" dt="2026-03-25T15:19:46.016" v="249" actId="108"/>
      <pc:docMkLst>
        <pc:docMk/>
      </pc:docMkLst>
      <pc:sldChg chg="modSp mod">
        <pc:chgData name="sanu mathew" userId="ec8c2f12682202a6" providerId="LiveId" clId="{05ADEA0A-BB2B-4313-8B38-3B2BF9CE5AE5}" dt="2026-03-25T15:19:46.016" v="249" actId="108"/>
        <pc:sldMkLst>
          <pc:docMk/>
          <pc:sldMk cId="2909452751" sldId="256"/>
        </pc:sldMkLst>
        <pc:spChg chg="mod">
          <ac:chgData name="sanu mathew" userId="ec8c2f12682202a6" providerId="LiveId" clId="{05ADEA0A-BB2B-4313-8B38-3B2BF9CE5AE5}" dt="2026-03-25T15:19:46.016" v="249" actId="108"/>
          <ac:spMkLst>
            <pc:docMk/>
            <pc:sldMk cId="2909452751" sldId="256"/>
            <ac:spMk id="2" creationId="{14A75411-D560-D31B-DD39-6C1AC30AE6CB}"/>
          </ac:spMkLst>
        </pc:spChg>
      </pc:sldChg>
      <pc:sldChg chg="modSp mod">
        <pc:chgData name="sanu mathew" userId="ec8c2f12682202a6" providerId="LiveId" clId="{05ADEA0A-BB2B-4313-8B38-3B2BF9CE5AE5}" dt="2026-02-23T16:36:14.220" v="235" actId="20577"/>
        <pc:sldMkLst>
          <pc:docMk/>
          <pc:sldMk cId="4104687172" sldId="264"/>
        </pc:sldMkLst>
        <pc:spChg chg="mod">
          <ac:chgData name="sanu mathew" userId="ec8c2f12682202a6" providerId="LiveId" clId="{05ADEA0A-BB2B-4313-8B38-3B2BF9CE5AE5}" dt="2026-02-23T16:36:14.220" v="235" actId="20577"/>
          <ac:spMkLst>
            <pc:docMk/>
            <pc:sldMk cId="4104687172" sldId="264"/>
            <ac:spMk id="7" creationId="{DB254F03-1D8F-5B80-C531-A8F76EB4821D}"/>
          </ac:spMkLst>
        </pc:spChg>
      </pc:sldChg>
      <pc:sldChg chg="modSp mod">
        <pc:chgData name="sanu mathew" userId="ec8c2f12682202a6" providerId="LiveId" clId="{05ADEA0A-BB2B-4313-8B38-3B2BF9CE5AE5}" dt="2026-02-23T16:36:55.324" v="248" actId="20577"/>
        <pc:sldMkLst>
          <pc:docMk/>
          <pc:sldMk cId="540468989" sldId="265"/>
        </pc:sldMkLst>
        <pc:spChg chg="mod">
          <ac:chgData name="sanu mathew" userId="ec8c2f12682202a6" providerId="LiveId" clId="{05ADEA0A-BB2B-4313-8B38-3B2BF9CE5AE5}" dt="2026-02-23T16:36:55.324" v="248" actId="20577"/>
          <ac:spMkLst>
            <pc:docMk/>
            <pc:sldMk cId="540468989" sldId="265"/>
            <ac:spMk id="3" creationId="{B55C52CB-E31A-110F-A770-C0B3A8BFB298}"/>
          </ac:spMkLst>
        </pc:spChg>
      </pc:sldChg>
      <pc:sldChg chg="modSp new mod">
        <pc:chgData name="sanu mathew" userId="ec8c2f12682202a6" providerId="LiveId" clId="{05ADEA0A-BB2B-4313-8B38-3B2BF9CE5AE5}" dt="2026-02-23T13:33:59.337" v="34"/>
        <pc:sldMkLst>
          <pc:docMk/>
          <pc:sldMk cId="3105860327" sldId="297"/>
        </pc:sldMkLst>
        <pc:spChg chg="mod">
          <ac:chgData name="sanu mathew" userId="ec8c2f12682202a6" providerId="LiveId" clId="{05ADEA0A-BB2B-4313-8B38-3B2BF9CE5AE5}" dt="2026-02-23T13:33:38.490" v="30" actId="14100"/>
          <ac:spMkLst>
            <pc:docMk/>
            <pc:sldMk cId="3105860327" sldId="297"/>
            <ac:spMk id="2" creationId="{8C81A023-B5B9-3492-EABD-37AB7BB853B6}"/>
          </ac:spMkLst>
        </pc:spChg>
        <pc:spChg chg="mod">
          <ac:chgData name="sanu mathew" userId="ec8c2f12682202a6" providerId="LiveId" clId="{05ADEA0A-BB2B-4313-8B38-3B2BF9CE5AE5}" dt="2026-02-23T13:33:59.337" v="34"/>
          <ac:spMkLst>
            <pc:docMk/>
            <pc:sldMk cId="3105860327" sldId="297"/>
            <ac:spMk id="3" creationId="{D4839713-EF7D-5004-E6CF-F8F83C06FB91}"/>
          </ac:spMkLst>
        </pc:spChg>
      </pc:sldChg>
      <pc:sldChg chg="addSp delSp modSp new mod">
        <pc:chgData name="sanu mathew" userId="ec8c2f12682202a6" providerId="LiveId" clId="{05ADEA0A-BB2B-4313-8B38-3B2BF9CE5AE5}" dt="2026-02-23T13:43:53.814" v="64" actId="20577"/>
        <pc:sldMkLst>
          <pc:docMk/>
          <pc:sldMk cId="1283448582" sldId="298"/>
        </pc:sldMkLst>
        <pc:spChg chg="mod">
          <ac:chgData name="sanu mathew" userId="ec8c2f12682202a6" providerId="LiveId" clId="{05ADEA0A-BB2B-4313-8B38-3B2BF9CE5AE5}" dt="2026-02-23T13:42:20.752" v="48" actId="14100"/>
          <ac:spMkLst>
            <pc:docMk/>
            <pc:sldMk cId="1283448582" sldId="298"/>
            <ac:spMk id="2" creationId="{17439814-7D2E-8559-D7F2-D761618B8A06}"/>
          </ac:spMkLst>
        </pc:spChg>
        <pc:spChg chg="add mod">
          <ac:chgData name="sanu mathew" userId="ec8c2f12682202a6" providerId="LiveId" clId="{05ADEA0A-BB2B-4313-8B38-3B2BF9CE5AE5}" dt="2026-02-23T13:43:53.814" v="64" actId="20577"/>
          <ac:spMkLst>
            <pc:docMk/>
            <pc:sldMk cId="1283448582" sldId="298"/>
            <ac:spMk id="6" creationId="{A7665564-164D-5162-6BA8-F73289260149}"/>
          </ac:spMkLst>
        </pc:spChg>
        <pc:picChg chg="add mod ord">
          <ac:chgData name="sanu mathew" userId="ec8c2f12682202a6" providerId="LiveId" clId="{05ADEA0A-BB2B-4313-8B38-3B2BF9CE5AE5}" dt="2026-02-23T13:43:04.545" v="54" actId="339"/>
          <ac:picMkLst>
            <pc:docMk/>
            <pc:sldMk cId="1283448582" sldId="298"/>
            <ac:picMk id="5" creationId="{87B572F9-AF13-7500-6DE4-79E8ADC4F2D5}"/>
          </ac:picMkLst>
        </pc:picChg>
      </pc:sldChg>
      <pc:sldChg chg="addSp delSp modSp new mod">
        <pc:chgData name="sanu mathew" userId="ec8c2f12682202a6" providerId="LiveId" clId="{05ADEA0A-BB2B-4313-8B38-3B2BF9CE5AE5}" dt="2026-02-23T13:46:08.474" v="88" actId="1076"/>
        <pc:sldMkLst>
          <pc:docMk/>
          <pc:sldMk cId="3594808577" sldId="299"/>
        </pc:sldMkLst>
        <pc:spChg chg="mod">
          <ac:chgData name="sanu mathew" userId="ec8c2f12682202a6" providerId="LiveId" clId="{05ADEA0A-BB2B-4313-8B38-3B2BF9CE5AE5}" dt="2026-02-23T13:44:30.065" v="71" actId="1076"/>
          <ac:spMkLst>
            <pc:docMk/>
            <pc:sldMk cId="3594808577" sldId="299"/>
            <ac:spMk id="2" creationId="{B12FF52C-9AF0-9B77-61AE-25696E4E1667}"/>
          </ac:spMkLst>
        </pc:spChg>
        <pc:spChg chg="add mod">
          <ac:chgData name="sanu mathew" userId="ec8c2f12682202a6" providerId="LiveId" clId="{05ADEA0A-BB2B-4313-8B38-3B2BF9CE5AE5}" dt="2026-02-23T13:45:58.197" v="86" actId="20577"/>
          <ac:spMkLst>
            <pc:docMk/>
            <pc:sldMk cId="3594808577" sldId="299"/>
            <ac:spMk id="6" creationId="{99714060-3C45-16B0-76F1-34F3A906F0D8}"/>
          </ac:spMkLst>
        </pc:spChg>
        <pc:picChg chg="add mod ord">
          <ac:chgData name="sanu mathew" userId="ec8c2f12682202a6" providerId="LiveId" clId="{05ADEA0A-BB2B-4313-8B38-3B2BF9CE5AE5}" dt="2026-02-23T13:46:08.474" v="88" actId="1076"/>
          <ac:picMkLst>
            <pc:docMk/>
            <pc:sldMk cId="3594808577" sldId="299"/>
            <ac:picMk id="5" creationId="{E6762897-3098-6292-CA0F-01D577A6E501}"/>
          </ac:picMkLst>
        </pc:picChg>
      </pc:sldChg>
      <pc:sldChg chg="addSp delSp modSp new mod">
        <pc:chgData name="sanu mathew" userId="ec8c2f12682202a6" providerId="LiveId" clId="{05ADEA0A-BB2B-4313-8B38-3B2BF9CE5AE5}" dt="2026-02-23T13:48:42.311" v="123" actId="1076"/>
        <pc:sldMkLst>
          <pc:docMk/>
          <pc:sldMk cId="469227337" sldId="300"/>
        </pc:sldMkLst>
        <pc:spChg chg="mod">
          <ac:chgData name="sanu mathew" userId="ec8c2f12682202a6" providerId="LiveId" clId="{05ADEA0A-BB2B-4313-8B38-3B2BF9CE5AE5}" dt="2026-02-23T13:46:32.037" v="93" actId="14100"/>
          <ac:spMkLst>
            <pc:docMk/>
            <pc:sldMk cId="469227337" sldId="300"/>
            <ac:spMk id="2" creationId="{497D3669-0871-537E-6BF5-849AF77C1FD3}"/>
          </ac:spMkLst>
        </pc:spChg>
        <pc:spChg chg="add mod">
          <ac:chgData name="sanu mathew" userId="ec8c2f12682202a6" providerId="LiveId" clId="{05ADEA0A-BB2B-4313-8B38-3B2BF9CE5AE5}" dt="2026-02-23T13:48:42.311" v="123" actId="1076"/>
          <ac:spMkLst>
            <pc:docMk/>
            <pc:sldMk cId="469227337" sldId="300"/>
            <ac:spMk id="6" creationId="{FA35F09E-A231-B205-75C1-51ECA230F7DE}"/>
          </ac:spMkLst>
        </pc:spChg>
        <pc:picChg chg="add mod ord">
          <ac:chgData name="sanu mathew" userId="ec8c2f12682202a6" providerId="LiveId" clId="{05ADEA0A-BB2B-4313-8B38-3B2BF9CE5AE5}" dt="2026-02-23T13:47:01.442" v="98" actId="339"/>
          <ac:picMkLst>
            <pc:docMk/>
            <pc:sldMk cId="469227337" sldId="300"/>
            <ac:picMk id="5" creationId="{478931B9-C1C2-EB9B-D78E-E9D8AC90E6D7}"/>
          </ac:picMkLst>
        </pc:picChg>
      </pc:sldChg>
      <pc:sldChg chg="addSp delSp modSp new mod">
        <pc:chgData name="sanu mathew" userId="ec8c2f12682202a6" providerId="LiveId" clId="{05ADEA0A-BB2B-4313-8B38-3B2BF9CE5AE5}" dt="2026-02-23T14:02:17.753" v="195"/>
        <pc:sldMkLst>
          <pc:docMk/>
          <pc:sldMk cId="115917529" sldId="301"/>
        </pc:sldMkLst>
        <pc:spChg chg="mod">
          <ac:chgData name="sanu mathew" userId="ec8c2f12682202a6" providerId="LiveId" clId="{05ADEA0A-BB2B-4313-8B38-3B2BF9CE5AE5}" dt="2026-02-23T14:01:15.264" v="184" actId="14100"/>
          <ac:spMkLst>
            <pc:docMk/>
            <pc:sldMk cId="115917529" sldId="301"/>
            <ac:spMk id="2" creationId="{9759DC00-0727-6031-0628-2DF8DE527AC0}"/>
          </ac:spMkLst>
        </pc:spChg>
        <pc:spChg chg="add mod">
          <ac:chgData name="sanu mathew" userId="ec8c2f12682202a6" providerId="LiveId" clId="{05ADEA0A-BB2B-4313-8B38-3B2BF9CE5AE5}" dt="2026-02-23T14:01:34.137" v="188" actId="6549"/>
          <ac:spMkLst>
            <pc:docMk/>
            <pc:sldMk cId="115917529" sldId="301"/>
            <ac:spMk id="6" creationId="{7599788C-EC6A-0097-2CC0-6F7EA99B0A23}"/>
          </ac:spMkLst>
        </pc:spChg>
        <pc:spChg chg="add mod">
          <ac:chgData name="sanu mathew" userId="ec8c2f12682202a6" providerId="LiveId" clId="{05ADEA0A-BB2B-4313-8B38-3B2BF9CE5AE5}" dt="2026-02-23T14:02:17.753" v="195"/>
          <ac:spMkLst>
            <pc:docMk/>
            <pc:sldMk cId="115917529" sldId="301"/>
            <ac:spMk id="7" creationId="{C1C1E0EE-2FB2-1951-A2A0-7B26B74D209E}"/>
          </ac:spMkLst>
        </pc:spChg>
        <pc:picChg chg="add mod ord">
          <ac:chgData name="sanu mathew" userId="ec8c2f12682202a6" providerId="LiveId" clId="{05ADEA0A-BB2B-4313-8B38-3B2BF9CE5AE5}" dt="2026-02-23T14:01:28.572" v="187" actId="1076"/>
          <ac:picMkLst>
            <pc:docMk/>
            <pc:sldMk cId="115917529" sldId="301"/>
            <ac:picMk id="5" creationId="{DF6D188C-3AE5-CA9F-2A54-C61EFACF163C}"/>
          </ac:picMkLst>
        </pc:picChg>
      </pc:sldChg>
      <pc:sldChg chg="modSp new mod">
        <pc:chgData name="sanu mathew" userId="ec8c2f12682202a6" providerId="LiveId" clId="{05ADEA0A-BB2B-4313-8B38-3B2BF9CE5AE5}" dt="2026-02-23T14:05:17.451" v="224" actId="20577"/>
        <pc:sldMkLst>
          <pc:docMk/>
          <pc:sldMk cId="981714504" sldId="302"/>
        </pc:sldMkLst>
        <pc:spChg chg="mod">
          <ac:chgData name="sanu mathew" userId="ec8c2f12682202a6" providerId="LiveId" clId="{05ADEA0A-BB2B-4313-8B38-3B2BF9CE5AE5}" dt="2026-02-23T14:03:57.367" v="203" actId="27636"/>
          <ac:spMkLst>
            <pc:docMk/>
            <pc:sldMk cId="981714504" sldId="302"/>
            <ac:spMk id="2" creationId="{35EAE6E9-6C88-3DEA-CF0C-2045F1619044}"/>
          </ac:spMkLst>
        </pc:spChg>
        <pc:spChg chg="mod">
          <ac:chgData name="sanu mathew" userId="ec8c2f12682202a6" providerId="LiveId" clId="{05ADEA0A-BB2B-4313-8B38-3B2BF9CE5AE5}" dt="2026-02-23T14:05:17.451" v="224" actId="20577"/>
          <ac:spMkLst>
            <pc:docMk/>
            <pc:sldMk cId="981714504" sldId="302"/>
            <ac:spMk id="3" creationId="{BF90790D-87B0-BF41-6084-A614C509441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F47346C3-8687-48B9-9A79-DC06EF284A5E}" type="datetimeFigureOut">
              <a:rPr lang="en-IN" smtClean="0"/>
              <a:t>25-03-2026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F1557F-EBE2-4D4E-9C27-C4B5C46D6D12}" type="slidenum">
              <a:rPr lang="en-IN" smtClean="0"/>
              <a:t>‹#›</a:t>
            </a:fld>
            <a:endParaRPr lang="en-IN"/>
          </a:p>
        </p:txBody>
      </p:sp>
    </p:spTree>
    <p:extLst>
      <p:ext uri="{BB962C8B-B14F-4D97-AF65-F5344CB8AC3E}">
        <p14:creationId xmlns:p14="http://schemas.microsoft.com/office/powerpoint/2010/main" val="111473760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7346C3-8687-48B9-9A79-DC06EF284A5E}" type="datetimeFigureOut">
              <a:rPr lang="en-IN" smtClean="0"/>
              <a:t>25-03-2026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F1557F-EBE2-4D4E-9C27-C4B5C46D6D12}" type="slidenum">
              <a:rPr lang="en-IN" smtClean="0"/>
              <a:t>‹#›</a:t>
            </a:fld>
            <a:endParaRPr lang="en-IN"/>
          </a:p>
        </p:txBody>
      </p:sp>
    </p:spTree>
    <p:extLst>
      <p:ext uri="{BB962C8B-B14F-4D97-AF65-F5344CB8AC3E}">
        <p14:creationId xmlns:p14="http://schemas.microsoft.com/office/powerpoint/2010/main" val="1972714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F47346C3-8687-48B9-9A79-DC06EF284A5E}" type="datetimeFigureOut">
              <a:rPr lang="en-IN" smtClean="0"/>
              <a:t>25-03-2026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F1557F-EBE2-4D4E-9C27-C4B5C46D6D12}" type="slidenum">
              <a:rPr lang="en-IN" smtClean="0"/>
              <a:t>‹#›</a:t>
            </a:fld>
            <a:endParaRPr lang="en-IN"/>
          </a:p>
        </p:txBody>
      </p:sp>
    </p:spTree>
    <p:extLst>
      <p:ext uri="{BB962C8B-B14F-4D97-AF65-F5344CB8AC3E}">
        <p14:creationId xmlns:p14="http://schemas.microsoft.com/office/powerpoint/2010/main" val="272766181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F47346C3-8687-48B9-9A79-DC06EF284A5E}" type="datetimeFigureOut">
              <a:rPr lang="en-IN" smtClean="0"/>
              <a:t>25-03-2026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C0F1557F-EBE2-4D4E-9C27-C4B5C46D6D12}" type="slidenum">
              <a:rPr lang="en-IN" smtClean="0"/>
              <a:t>‹#›</a:t>
            </a:fld>
            <a:endParaRPr lang="en-IN"/>
          </a:p>
        </p:txBody>
      </p:sp>
    </p:spTree>
    <p:extLst>
      <p:ext uri="{BB962C8B-B14F-4D97-AF65-F5344CB8AC3E}">
        <p14:creationId xmlns:p14="http://schemas.microsoft.com/office/powerpoint/2010/main" val="3634464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F47346C3-8687-48B9-9A79-DC06EF284A5E}" type="datetimeFigureOut">
              <a:rPr lang="en-IN" smtClean="0"/>
              <a:t>25-03-2026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F1557F-EBE2-4D4E-9C27-C4B5C46D6D12}"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9164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7346C3-8687-48B9-9A79-DC06EF284A5E}" type="datetimeFigureOut">
              <a:rPr lang="en-IN" smtClean="0"/>
              <a:t>25-03-2026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F1557F-EBE2-4D4E-9C27-C4B5C46D6D12}" type="slidenum">
              <a:rPr lang="en-IN" smtClean="0"/>
              <a:t>‹#›</a:t>
            </a:fld>
            <a:endParaRPr lang="en-IN"/>
          </a:p>
        </p:txBody>
      </p:sp>
    </p:spTree>
    <p:extLst>
      <p:ext uri="{BB962C8B-B14F-4D97-AF65-F5344CB8AC3E}">
        <p14:creationId xmlns:p14="http://schemas.microsoft.com/office/powerpoint/2010/main" val="4227710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7346C3-8687-48B9-9A79-DC06EF284A5E}" type="datetimeFigureOut">
              <a:rPr lang="en-IN" smtClean="0"/>
              <a:t>25-03-2026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0F1557F-EBE2-4D4E-9C27-C4B5C46D6D12}" type="slidenum">
              <a:rPr lang="en-IN" smtClean="0"/>
              <a:t>‹#›</a:t>
            </a:fld>
            <a:endParaRPr lang="en-IN"/>
          </a:p>
        </p:txBody>
      </p:sp>
    </p:spTree>
    <p:extLst>
      <p:ext uri="{BB962C8B-B14F-4D97-AF65-F5344CB8AC3E}">
        <p14:creationId xmlns:p14="http://schemas.microsoft.com/office/powerpoint/2010/main" val="1767195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F47346C3-8687-48B9-9A79-DC06EF284A5E}" type="datetimeFigureOut">
              <a:rPr lang="en-IN" smtClean="0"/>
              <a:t>25-03-2026</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C0F1557F-EBE2-4D4E-9C27-C4B5C46D6D12}" type="slidenum">
              <a:rPr lang="en-IN" smtClean="0"/>
              <a:t>‹#›</a:t>
            </a:fld>
            <a:endParaRPr lang="en-IN"/>
          </a:p>
        </p:txBody>
      </p:sp>
    </p:spTree>
    <p:extLst>
      <p:ext uri="{BB962C8B-B14F-4D97-AF65-F5344CB8AC3E}">
        <p14:creationId xmlns:p14="http://schemas.microsoft.com/office/powerpoint/2010/main" val="2845087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F47346C3-8687-48B9-9A79-DC06EF284A5E}" type="datetimeFigureOut">
              <a:rPr lang="en-IN" smtClean="0"/>
              <a:t>25-03-2026</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C0F1557F-EBE2-4D4E-9C27-C4B5C46D6D12}" type="slidenum">
              <a:rPr lang="en-IN" smtClean="0"/>
              <a:t>‹#›</a:t>
            </a:fld>
            <a:endParaRPr lang="en-IN"/>
          </a:p>
        </p:txBody>
      </p:sp>
    </p:spTree>
    <p:extLst>
      <p:ext uri="{BB962C8B-B14F-4D97-AF65-F5344CB8AC3E}">
        <p14:creationId xmlns:p14="http://schemas.microsoft.com/office/powerpoint/2010/main" val="2199671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7346C3-8687-48B9-9A79-DC06EF284A5E}"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F1557F-EBE2-4D4E-9C27-C4B5C46D6D12}" type="slidenum">
              <a:rPr lang="en-IN" smtClean="0"/>
              <a:t>‹#›</a:t>
            </a:fld>
            <a:endParaRPr lang="en-IN"/>
          </a:p>
        </p:txBody>
      </p:sp>
    </p:spTree>
    <p:extLst>
      <p:ext uri="{BB962C8B-B14F-4D97-AF65-F5344CB8AC3E}">
        <p14:creationId xmlns:p14="http://schemas.microsoft.com/office/powerpoint/2010/main" val="512901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7346C3-8687-48B9-9A79-DC06EF284A5E}"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F1557F-EBE2-4D4E-9C27-C4B5C46D6D12}" type="slidenum">
              <a:rPr lang="en-IN" smtClean="0"/>
              <a:t>‹#›</a:t>
            </a:fld>
            <a:endParaRPr lang="en-IN"/>
          </a:p>
        </p:txBody>
      </p:sp>
    </p:spTree>
    <p:extLst>
      <p:ext uri="{BB962C8B-B14F-4D97-AF65-F5344CB8AC3E}">
        <p14:creationId xmlns:p14="http://schemas.microsoft.com/office/powerpoint/2010/main" val="2531462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F47346C3-8687-48B9-9A79-DC06EF284A5E}" type="datetimeFigureOut">
              <a:rPr lang="en-IN" smtClean="0"/>
              <a:t>25-03-2026</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C0F1557F-EBE2-4D4E-9C27-C4B5C46D6D12}" type="slidenum">
              <a:rPr lang="en-IN" smtClean="0"/>
              <a:t>‹#›</a:t>
            </a:fld>
            <a:endParaRPr lang="en-IN"/>
          </a:p>
        </p:txBody>
      </p:sp>
    </p:spTree>
    <p:extLst>
      <p:ext uri="{BB962C8B-B14F-4D97-AF65-F5344CB8AC3E}">
        <p14:creationId xmlns:p14="http://schemas.microsoft.com/office/powerpoint/2010/main" val="8749343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75411-D560-D31B-DD39-6C1AC30AE6CB}"/>
              </a:ext>
            </a:extLst>
          </p:cNvPr>
          <p:cNvSpPr>
            <a:spLocks noGrp="1"/>
          </p:cNvSpPr>
          <p:nvPr>
            <p:ph type="ctrTitle"/>
          </p:nvPr>
        </p:nvSpPr>
        <p:spPr/>
        <p:txBody>
          <a:bodyPr/>
          <a:lstStyle/>
          <a:p>
            <a:r>
              <a:rPr lang="en-IN" dirty="0"/>
              <a:t>Project on predicting used car prices</a:t>
            </a:r>
          </a:p>
        </p:txBody>
      </p:sp>
      <p:sp>
        <p:nvSpPr>
          <p:cNvPr id="3" name="Subtitle 2">
            <a:extLst>
              <a:ext uri="{FF2B5EF4-FFF2-40B4-BE49-F238E27FC236}">
                <a16:creationId xmlns:a16="http://schemas.microsoft.com/office/drawing/2014/main" id="{FEADD901-CC64-9C18-5BD7-E0509622F3C9}"/>
              </a:ext>
            </a:extLst>
          </p:cNvPr>
          <p:cNvSpPr>
            <a:spLocks noGrp="1"/>
          </p:cNvSpPr>
          <p:nvPr>
            <p:ph type="subTitle" idx="1"/>
          </p:nvPr>
        </p:nvSpPr>
        <p:spPr/>
        <p:txBody>
          <a:bodyPr/>
          <a:lstStyle/>
          <a:p>
            <a:r>
              <a:rPr lang="en-IN" dirty="0">
                <a:solidFill>
                  <a:schemeClr val="bg1"/>
                </a:solidFill>
              </a:rPr>
              <a:t>Presented by Sanu Mathew</a:t>
            </a:r>
          </a:p>
        </p:txBody>
      </p:sp>
    </p:spTree>
    <p:extLst>
      <p:ext uri="{BB962C8B-B14F-4D97-AF65-F5344CB8AC3E}">
        <p14:creationId xmlns:p14="http://schemas.microsoft.com/office/powerpoint/2010/main" val="2909452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4FF6F-B8A7-5DBE-EB6E-D7796D45B3FA}"/>
              </a:ext>
            </a:extLst>
          </p:cNvPr>
          <p:cNvSpPr>
            <a:spLocks noGrp="1"/>
          </p:cNvSpPr>
          <p:nvPr>
            <p:ph type="title"/>
          </p:nvPr>
        </p:nvSpPr>
        <p:spPr>
          <a:xfrm>
            <a:off x="127819" y="98323"/>
            <a:ext cx="11759381" cy="678425"/>
          </a:xfrm>
        </p:spPr>
        <p:txBody>
          <a:bodyPr>
            <a:normAutofit fontScale="90000"/>
          </a:bodyPr>
          <a:lstStyle/>
          <a:p>
            <a:r>
              <a:rPr lang="en-IN" dirty="0"/>
              <a:t>Introduction</a:t>
            </a:r>
          </a:p>
        </p:txBody>
      </p:sp>
      <p:sp>
        <p:nvSpPr>
          <p:cNvPr id="3" name="Content Placeholder 2">
            <a:extLst>
              <a:ext uri="{FF2B5EF4-FFF2-40B4-BE49-F238E27FC236}">
                <a16:creationId xmlns:a16="http://schemas.microsoft.com/office/drawing/2014/main" id="{BD461453-0AE6-B87E-7030-D68FDF4F5CEF}"/>
              </a:ext>
            </a:extLst>
          </p:cNvPr>
          <p:cNvSpPr>
            <a:spLocks noGrp="1"/>
          </p:cNvSpPr>
          <p:nvPr>
            <p:ph idx="1"/>
          </p:nvPr>
        </p:nvSpPr>
        <p:spPr>
          <a:xfrm>
            <a:off x="127819" y="894735"/>
            <a:ext cx="11759381" cy="5963265"/>
          </a:xfrm>
        </p:spPr>
        <p:txBody>
          <a:bodyPr>
            <a:normAutofit lnSpcReduction="10000"/>
          </a:bodyPr>
          <a:lstStyle/>
          <a:p>
            <a:r>
              <a:rPr lang="en-US" dirty="0"/>
              <a:t>The used car market has grown rapidly over the past decade, driven by increasing consumer demand, digital marketplaces, and improved vehicle longevity. Unlike new cars, used vehicles exhibit significant price variation influenced by multiple factors such as vehicle age, mileage, brand reputation, fuel type, ownership history, and overall condition. This inherent complexity makes accurate price estimation a challenging yet valuable problem for both buyers and sellers.</a:t>
            </a:r>
          </a:p>
          <a:p>
            <a:r>
              <a:rPr lang="en-US" dirty="0"/>
              <a:t>Incorrect pricing can lead to substantial economic consequences. Overpricing reduces sales probability and increases inventory holding costs for dealers, while underpricing results in financial losses for sellers. Consequently, developing a reliable, data-driven pricing model is critical for enabling fair transactions, improving market efficiency, and supporting decision-making within automotive marketplaces.</a:t>
            </a:r>
          </a:p>
          <a:p>
            <a:r>
              <a:rPr lang="en-US" dirty="0"/>
              <a:t>This project focuses on building a machine learning-based regression model to predict used car prices using historical vehicle data. By analyzing relationships between vehicle attributes and market prices, the model aims to capture hidden patterns that traditional rule-based valuation methods may fail to identify. The study leverages statistical analysis, feature engineering, and multiple predictive algorithms to enhance price estimation accuracy.</a:t>
            </a:r>
          </a:p>
          <a:p>
            <a:r>
              <a:rPr lang="en-US" dirty="0"/>
              <a:t>Key objectives of the project include:</a:t>
            </a:r>
          </a:p>
          <a:p>
            <a:r>
              <a:rPr lang="en-US" dirty="0"/>
              <a:t>• Understanding the primary drivers of used car prices</a:t>
            </a:r>
            <a:br>
              <a:rPr lang="en-US" dirty="0"/>
            </a:br>
            <a:r>
              <a:rPr lang="en-US" dirty="0"/>
              <a:t>• Handling real-world data quality issues and inconsistencies</a:t>
            </a:r>
            <a:br>
              <a:rPr lang="en-US" dirty="0"/>
            </a:br>
            <a:r>
              <a:rPr lang="en-US" dirty="0"/>
              <a:t>• Engineering meaningful features reflecting vehicle usage and depreciation</a:t>
            </a:r>
            <a:br>
              <a:rPr lang="en-US" dirty="0"/>
            </a:br>
            <a:r>
              <a:rPr lang="en-US" dirty="0"/>
              <a:t>• Comparing multiple machine learning models for optimal performance</a:t>
            </a:r>
            <a:br>
              <a:rPr lang="en-US" dirty="0"/>
            </a:br>
            <a:r>
              <a:rPr lang="en-US" dirty="0"/>
              <a:t>• Evaluating prediction accuracy using standard regression metrics</a:t>
            </a:r>
          </a:p>
          <a:p>
            <a:r>
              <a:rPr lang="en-US" dirty="0"/>
              <a:t>Through this approach, the project demonstrates how machine learning techniques can transform raw automotive data into actionable pricing insights, offering practical benefits for dealerships, online platforms, and consumers alike.</a:t>
            </a:r>
            <a:endParaRPr lang="en-IN" dirty="0"/>
          </a:p>
        </p:txBody>
      </p:sp>
    </p:spTree>
    <p:extLst>
      <p:ext uri="{BB962C8B-B14F-4D97-AF65-F5344CB8AC3E}">
        <p14:creationId xmlns:p14="http://schemas.microsoft.com/office/powerpoint/2010/main" val="1556408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2395A-AAC4-6464-CED3-06D659C89493}"/>
              </a:ext>
            </a:extLst>
          </p:cNvPr>
          <p:cNvSpPr>
            <a:spLocks noGrp="1"/>
          </p:cNvSpPr>
          <p:nvPr>
            <p:ph type="title"/>
          </p:nvPr>
        </p:nvSpPr>
        <p:spPr>
          <a:xfrm>
            <a:off x="0" y="0"/>
            <a:ext cx="12123174" cy="796413"/>
          </a:xfrm>
        </p:spPr>
        <p:txBody>
          <a:bodyPr/>
          <a:lstStyle/>
          <a:p>
            <a:r>
              <a:rPr lang="en-IN" dirty="0"/>
              <a:t>Problem statement</a:t>
            </a:r>
          </a:p>
        </p:txBody>
      </p:sp>
      <p:sp>
        <p:nvSpPr>
          <p:cNvPr id="3" name="Content Placeholder 2">
            <a:extLst>
              <a:ext uri="{FF2B5EF4-FFF2-40B4-BE49-F238E27FC236}">
                <a16:creationId xmlns:a16="http://schemas.microsoft.com/office/drawing/2014/main" id="{31807D9E-96D8-141F-A28C-4E61C4A1A4DB}"/>
              </a:ext>
            </a:extLst>
          </p:cNvPr>
          <p:cNvSpPr>
            <a:spLocks noGrp="1"/>
          </p:cNvSpPr>
          <p:nvPr>
            <p:ph idx="1"/>
          </p:nvPr>
        </p:nvSpPr>
        <p:spPr>
          <a:xfrm>
            <a:off x="260555" y="1045218"/>
            <a:ext cx="11670890" cy="5522730"/>
          </a:xfrm>
        </p:spPr>
        <p:txBody>
          <a:bodyPr>
            <a:normAutofit fontScale="85000" lnSpcReduction="20000"/>
          </a:bodyPr>
          <a:lstStyle/>
          <a:p>
            <a:pPr marL="0" indent="0">
              <a:buNone/>
            </a:pPr>
            <a:r>
              <a:rPr lang="en-US" sz="1900" dirty="0"/>
              <a:t>The used car market is highly dynamic, with vehicle prices influenced by numerous interacting factors including age, mileage, brand perception, fuel type, ownership history, and condition indicators. Traditional pricing approaches often rely on heuristic rules, subjective judgment, or static depreciation tables, which fail to capture real-world market behavior and lead to inconsistent valuations.</a:t>
            </a:r>
          </a:p>
          <a:p>
            <a:pPr marL="0" indent="0">
              <a:buNone/>
            </a:pPr>
            <a:r>
              <a:rPr lang="en-US" sz="1900" dirty="0"/>
              <a:t>This pricing inefficiency creates tangible business risks. Dealers may experience prolonged inventory cycles due to overpricing, while sellers risk revenue loss from underpricing. Buyers also face uncertainty regarding fair market value. Given the scale and variability of listings in digital automotive platforms, there is a clear need for an automated, data-driven pricing mechanism that can generate accurate and consistent price estimates.</a:t>
            </a:r>
          </a:p>
          <a:p>
            <a:r>
              <a:rPr lang="en-US" sz="1900" dirty="0"/>
              <a:t>The core problem addressed in this project is:</a:t>
            </a:r>
          </a:p>
          <a:p>
            <a:r>
              <a:rPr lang="en-US" sz="1900" b="1" dirty="0"/>
              <a:t>How can machine learning techniques be used to predict used car prices accurately by leveraging vehicle attributes and market data?</a:t>
            </a:r>
          </a:p>
          <a:p>
            <a:endParaRPr lang="en-US" sz="1900" b="1" dirty="0"/>
          </a:p>
          <a:p>
            <a:r>
              <a:rPr lang="en-US" sz="1900" b="1" dirty="0"/>
              <a:t>Business Objective </a:t>
            </a:r>
          </a:p>
          <a:p>
            <a:r>
              <a:rPr lang="en-US" sz="1900" dirty="0"/>
              <a:t>The objective of this project is to design and implement a predictive pricing model that supports reliable used car valuation and improves decision-making across automotive marketplaces and dealerships.</a:t>
            </a:r>
          </a:p>
          <a:p>
            <a:r>
              <a:rPr lang="en-US" sz="1900" dirty="0"/>
              <a:t>From a business perspective, the model aims to:</a:t>
            </a:r>
          </a:p>
          <a:p>
            <a:r>
              <a:rPr lang="en-US" sz="1900" dirty="0"/>
              <a:t>• Enable consistent and data-backed vehicle price estimation</a:t>
            </a:r>
            <a:br>
              <a:rPr lang="en-US" sz="1900" dirty="0"/>
            </a:br>
            <a:r>
              <a:rPr lang="en-US" sz="1900" dirty="0"/>
              <a:t>• Reduce pricing errors and associated revenue leakage</a:t>
            </a:r>
            <a:br>
              <a:rPr lang="en-US" sz="1900" dirty="0"/>
            </a:br>
            <a:r>
              <a:rPr lang="en-US" sz="1900" dirty="0"/>
              <a:t>• Improve inventory turnover through realistic pricing</a:t>
            </a:r>
            <a:br>
              <a:rPr lang="en-US" sz="1900" dirty="0"/>
            </a:br>
            <a:r>
              <a:rPr lang="en-US" sz="1900" dirty="0"/>
              <a:t>• Assist buyers and sellers in fair value assessment</a:t>
            </a:r>
            <a:br>
              <a:rPr lang="en-US" sz="1900" dirty="0"/>
            </a:br>
            <a:r>
              <a:rPr lang="en-US" sz="1900" dirty="0"/>
              <a:t>• Support scalable valuation for large listing volumes</a:t>
            </a:r>
          </a:p>
          <a:p>
            <a:r>
              <a:rPr lang="en-US" sz="1900" dirty="0"/>
              <a:t>Ultimately, the solution seeks to replace subjective pricing practices with an analytical framework capable of adapting to market patterns.</a:t>
            </a:r>
          </a:p>
          <a:p>
            <a:endParaRPr lang="en-US" b="1" dirty="0"/>
          </a:p>
          <a:p>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199544919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BE80F-B38B-EF1C-68D8-29A7D09682FC}"/>
              </a:ext>
            </a:extLst>
          </p:cNvPr>
          <p:cNvSpPr>
            <a:spLocks noGrp="1"/>
          </p:cNvSpPr>
          <p:nvPr>
            <p:ph type="title"/>
          </p:nvPr>
        </p:nvSpPr>
        <p:spPr>
          <a:xfrm>
            <a:off x="157316" y="0"/>
            <a:ext cx="11798709" cy="717755"/>
          </a:xfrm>
        </p:spPr>
        <p:txBody>
          <a:bodyPr>
            <a:normAutofit fontScale="90000"/>
          </a:bodyPr>
          <a:lstStyle/>
          <a:p>
            <a:r>
              <a:rPr lang="en-IN" dirty="0"/>
              <a:t>METHODOLOGY</a:t>
            </a:r>
          </a:p>
        </p:txBody>
      </p:sp>
      <p:sp>
        <p:nvSpPr>
          <p:cNvPr id="3" name="Content Placeholder 2">
            <a:extLst>
              <a:ext uri="{FF2B5EF4-FFF2-40B4-BE49-F238E27FC236}">
                <a16:creationId xmlns:a16="http://schemas.microsoft.com/office/drawing/2014/main" id="{2A535BEC-B43E-3C9A-F85D-AB9343C207C4}"/>
              </a:ext>
            </a:extLst>
          </p:cNvPr>
          <p:cNvSpPr>
            <a:spLocks noGrp="1"/>
          </p:cNvSpPr>
          <p:nvPr>
            <p:ph idx="1"/>
          </p:nvPr>
        </p:nvSpPr>
        <p:spPr>
          <a:xfrm>
            <a:off x="157316" y="887902"/>
            <a:ext cx="11936361" cy="5970098"/>
          </a:xfrm>
        </p:spPr>
        <p:txBody>
          <a:bodyPr>
            <a:normAutofit fontScale="92500" lnSpcReduction="20000"/>
          </a:bodyPr>
          <a:lstStyle/>
          <a:p>
            <a:r>
              <a:rPr lang="en-US" dirty="0"/>
              <a:t>The project follows a structured, industry-aligned analytical workflow designed to transform raw automotive data into a deployable predictive model</a:t>
            </a:r>
          </a:p>
          <a:p>
            <a:r>
              <a:rPr lang="en-US" b="1" dirty="0"/>
              <a:t>1. Data Understanding &amp; Exploration</a:t>
            </a:r>
          </a:p>
          <a:p>
            <a:r>
              <a:rPr lang="en-US" dirty="0"/>
              <a:t>Initial analysis focused on understanding dataset characteristics, feature distributions, and relationships with the target variable (Price). Statistical summaries and visual diagnostics were used to detect skewness, anomalies, and </a:t>
            </a:r>
            <a:r>
              <a:rPr lang="en-US" dirty="0" err="1"/>
              <a:t>behavioural</a:t>
            </a:r>
            <a:r>
              <a:rPr lang="en-US" dirty="0"/>
              <a:t> patterns.</a:t>
            </a:r>
          </a:p>
          <a:p>
            <a:r>
              <a:rPr lang="en-IN" b="1" dirty="0"/>
              <a:t>2. Data Quality &amp; Preprocessing</a:t>
            </a:r>
          </a:p>
          <a:p>
            <a:r>
              <a:rPr lang="en-IN" dirty="0"/>
              <a:t>Real-world inconsistencies were addressed through systematic cleaning steps:</a:t>
            </a:r>
          </a:p>
          <a:p>
            <a:r>
              <a:rPr lang="en-IN" dirty="0"/>
              <a:t>• Standardizing categorical labels (e.g., Manual vs MANUAL)</a:t>
            </a:r>
            <a:br>
              <a:rPr lang="en-IN" dirty="0"/>
            </a:br>
            <a:r>
              <a:rPr lang="en-IN" dirty="0"/>
              <a:t>• Handling missing values using appropriate imputation strategies</a:t>
            </a:r>
            <a:br>
              <a:rPr lang="en-IN" dirty="0"/>
            </a:br>
            <a:r>
              <a:rPr lang="en-IN" dirty="0"/>
              <a:t>• Resolving category duplication and noise</a:t>
            </a:r>
            <a:br>
              <a:rPr lang="en-IN" dirty="0"/>
            </a:br>
            <a:r>
              <a:rPr lang="en-IN" dirty="0"/>
              <a:t>• Identifying and managing extreme price outliers</a:t>
            </a:r>
            <a:br>
              <a:rPr lang="en-IN" dirty="0"/>
            </a:br>
            <a:r>
              <a:rPr lang="en-IN" dirty="0"/>
              <a:t>• Transforming skewed variables (log transformations)</a:t>
            </a:r>
          </a:p>
          <a:p>
            <a:r>
              <a:rPr lang="en-IN" dirty="0"/>
              <a:t>These steps ensured model stability and improved learning behaviour.</a:t>
            </a:r>
          </a:p>
          <a:p>
            <a:r>
              <a:rPr lang="en-IN" b="1" dirty="0"/>
              <a:t>3. Feature Engineering</a:t>
            </a:r>
          </a:p>
          <a:p>
            <a:r>
              <a:rPr lang="en-IN" dirty="0"/>
              <a:t>Domain-relevant features were created to better represent vehicle usage and depreciation effects:</a:t>
            </a:r>
          </a:p>
          <a:p>
            <a:r>
              <a:rPr lang="en-IN" dirty="0"/>
              <a:t>• CarAge derived from </a:t>
            </a:r>
            <a:r>
              <a:rPr lang="en-IN" dirty="0" err="1"/>
              <a:t>ModelYear</a:t>
            </a:r>
            <a:br>
              <a:rPr lang="en-IN" dirty="0"/>
            </a:br>
            <a:r>
              <a:rPr lang="en-IN" dirty="0"/>
              <a:t>• </a:t>
            </a:r>
            <a:r>
              <a:rPr lang="en-IN" dirty="0" err="1"/>
              <a:t>UsageIntensity</a:t>
            </a:r>
            <a:r>
              <a:rPr lang="en-IN" dirty="0"/>
              <a:t> / </a:t>
            </a:r>
            <a:r>
              <a:rPr lang="en-IN" dirty="0" err="1"/>
              <a:t>KM_per_Year</a:t>
            </a:r>
            <a:r>
              <a:rPr lang="en-IN" dirty="0"/>
              <a:t> indicators</a:t>
            </a:r>
            <a:br>
              <a:rPr lang="en-IN" dirty="0"/>
            </a:br>
            <a:r>
              <a:rPr lang="en-IN" dirty="0"/>
              <a:t>• </a:t>
            </a:r>
            <a:r>
              <a:rPr lang="en-IN" dirty="0" err="1"/>
              <a:t>WearAndTear</a:t>
            </a:r>
            <a:r>
              <a:rPr lang="en-IN" dirty="0"/>
              <a:t> proxies</a:t>
            </a:r>
            <a:br>
              <a:rPr lang="en-IN" dirty="0"/>
            </a:br>
            <a:r>
              <a:rPr lang="en-IN" dirty="0"/>
              <a:t>• </a:t>
            </a:r>
            <a:r>
              <a:rPr lang="en-IN" dirty="0" err="1"/>
              <a:t>HighMileageFlag</a:t>
            </a:r>
            <a:r>
              <a:rPr lang="en-IN" dirty="0"/>
              <a:t> segmentation</a:t>
            </a:r>
            <a:br>
              <a:rPr lang="en-IN" dirty="0"/>
            </a:br>
            <a:r>
              <a:rPr lang="en-IN" dirty="0"/>
              <a:t>• Premium brand identification</a:t>
            </a:r>
          </a:p>
          <a:p>
            <a:r>
              <a:rPr lang="en-IN" dirty="0"/>
              <a:t>Feature engineering significantly enhanced predictive signal strength.</a:t>
            </a:r>
          </a:p>
          <a:p>
            <a:endParaRPr lang="en-IN" dirty="0"/>
          </a:p>
        </p:txBody>
      </p:sp>
    </p:spTree>
    <p:extLst>
      <p:ext uri="{BB962C8B-B14F-4D97-AF65-F5344CB8AC3E}">
        <p14:creationId xmlns:p14="http://schemas.microsoft.com/office/powerpoint/2010/main" val="3492452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1B6EDA-7A39-9325-98CC-F91745773D01}"/>
              </a:ext>
            </a:extLst>
          </p:cNvPr>
          <p:cNvSpPr>
            <a:spLocks noGrp="1"/>
          </p:cNvSpPr>
          <p:nvPr>
            <p:ph idx="1"/>
          </p:nvPr>
        </p:nvSpPr>
        <p:spPr>
          <a:xfrm>
            <a:off x="226143" y="101321"/>
            <a:ext cx="11710218" cy="6673105"/>
          </a:xfrm>
        </p:spPr>
        <p:txBody>
          <a:bodyPr/>
          <a:lstStyle/>
          <a:p>
            <a:r>
              <a:rPr lang="en-IN" b="1" dirty="0"/>
              <a:t>4. Model Development</a:t>
            </a:r>
          </a:p>
          <a:p>
            <a:r>
              <a:rPr lang="en-IN" dirty="0"/>
              <a:t>Multiple regression algorithms were evaluated to identify the best predictive approach:</a:t>
            </a:r>
          </a:p>
          <a:p>
            <a:r>
              <a:rPr lang="en-IN" dirty="0"/>
              <a:t>• Linear Regression &amp; Regularized Models</a:t>
            </a:r>
            <a:br>
              <a:rPr lang="en-IN" dirty="0"/>
            </a:br>
            <a:r>
              <a:rPr lang="en-IN" dirty="0"/>
              <a:t>• Support Vector Regression (SVR)</a:t>
            </a:r>
            <a:br>
              <a:rPr lang="en-IN" dirty="0"/>
            </a:br>
            <a:r>
              <a:rPr lang="en-IN" dirty="0"/>
              <a:t>• Tree-based Models</a:t>
            </a:r>
            <a:br>
              <a:rPr lang="en-IN" dirty="0"/>
            </a:br>
            <a:r>
              <a:rPr lang="en-IN" dirty="0"/>
              <a:t>• Ensemble Methods (Gradient Boosting, Random Forest)</a:t>
            </a:r>
            <a:br>
              <a:rPr lang="en-IN" dirty="0"/>
            </a:br>
            <a:r>
              <a:rPr lang="en-IN" dirty="0"/>
              <a:t>• </a:t>
            </a:r>
            <a:r>
              <a:rPr lang="en-IN" dirty="0" err="1"/>
              <a:t>XGBoost</a:t>
            </a:r>
            <a:endParaRPr lang="en-IN" dirty="0"/>
          </a:p>
          <a:p>
            <a:r>
              <a:rPr lang="en-IN" dirty="0"/>
              <a:t>Models were implemented using pipelines to ensure reproducibility and prevent data leakage.</a:t>
            </a:r>
          </a:p>
          <a:p>
            <a:r>
              <a:rPr lang="en-US" b="1" dirty="0"/>
              <a:t>5. Model Evaluation &amp; Selection</a:t>
            </a:r>
          </a:p>
          <a:p>
            <a:r>
              <a:rPr lang="en-US" dirty="0"/>
              <a:t>Performance was measured using industry-standard regression metrics:</a:t>
            </a:r>
          </a:p>
          <a:p>
            <a:r>
              <a:rPr lang="en-US" dirty="0"/>
              <a:t>• Mean Absolute Error (MAE)</a:t>
            </a:r>
            <a:br>
              <a:rPr lang="en-US" dirty="0"/>
            </a:br>
            <a:r>
              <a:rPr lang="en-US" dirty="0"/>
              <a:t>• Mean Squared Error (MSE)</a:t>
            </a:r>
            <a:br>
              <a:rPr lang="en-US" dirty="0"/>
            </a:br>
            <a:r>
              <a:rPr lang="en-US" dirty="0"/>
              <a:t>• R² Score</a:t>
            </a:r>
          </a:p>
          <a:p>
            <a:r>
              <a:rPr lang="en-US" dirty="0"/>
              <a:t>Cross-validation was applied to assess generalization capability and robustness.</a:t>
            </a:r>
          </a:p>
          <a:p>
            <a:r>
              <a:rPr lang="en-US" b="1" dirty="0"/>
              <a:t>6. Validation &amp; Diagnostics</a:t>
            </a:r>
          </a:p>
          <a:p>
            <a:r>
              <a:rPr lang="en-US" dirty="0"/>
              <a:t>Residual analysis and prediction diagnostics were conducted to verify model </a:t>
            </a:r>
            <a:r>
              <a:rPr lang="en-US" dirty="0" err="1"/>
              <a:t>behaviour</a:t>
            </a:r>
            <a:r>
              <a:rPr lang="en-US" dirty="0"/>
              <a:t>, bias patterns, and error distribution characteristics.</a:t>
            </a:r>
          </a:p>
          <a:p>
            <a:endParaRPr lang="en-IN" dirty="0"/>
          </a:p>
        </p:txBody>
      </p:sp>
    </p:spTree>
    <p:extLst>
      <p:ext uri="{BB962C8B-B14F-4D97-AF65-F5344CB8AC3E}">
        <p14:creationId xmlns:p14="http://schemas.microsoft.com/office/powerpoint/2010/main" val="2468969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16F5E-2D5C-5AA8-1294-26A192F51513}"/>
              </a:ext>
            </a:extLst>
          </p:cNvPr>
          <p:cNvSpPr>
            <a:spLocks noGrp="1"/>
          </p:cNvSpPr>
          <p:nvPr>
            <p:ph type="title"/>
          </p:nvPr>
        </p:nvSpPr>
        <p:spPr>
          <a:xfrm>
            <a:off x="0" y="-117987"/>
            <a:ext cx="11798709" cy="727587"/>
          </a:xfrm>
        </p:spPr>
        <p:txBody>
          <a:bodyPr>
            <a:normAutofit fontScale="90000"/>
          </a:bodyPr>
          <a:lstStyle/>
          <a:p>
            <a:r>
              <a:rPr lang="en-IN" dirty="0"/>
              <a:t>Dataset information</a:t>
            </a:r>
          </a:p>
        </p:txBody>
      </p:sp>
      <p:sp>
        <p:nvSpPr>
          <p:cNvPr id="3" name="Content Placeholder 2">
            <a:extLst>
              <a:ext uri="{FF2B5EF4-FFF2-40B4-BE49-F238E27FC236}">
                <a16:creationId xmlns:a16="http://schemas.microsoft.com/office/drawing/2014/main" id="{55B1FE33-E96D-8CB9-EF05-3C4608A1DABA}"/>
              </a:ext>
            </a:extLst>
          </p:cNvPr>
          <p:cNvSpPr>
            <a:spLocks noGrp="1"/>
          </p:cNvSpPr>
          <p:nvPr>
            <p:ph idx="1"/>
          </p:nvPr>
        </p:nvSpPr>
        <p:spPr>
          <a:xfrm>
            <a:off x="-108155" y="668594"/>
            <a:ext cx="12083845" cy="6096000"/>
          </a:xfrm>
        </p:spPr>
        <p:txBody>
          <a:bodyPr>
            <a:normAutofit fontScale="77500" lnSpcReduction="20000"/>
          </a:bodyPr>
          <a:lstStyle/>
          <a:p>
            <a:r>
              <a:rPr lang="en-US" sz="2200" dirty="0"/>
              <a:t>The dataset used in this project consists of structured used-car listing data collected from an online automotive marketplace. Each record represents an individual vehicle listing along with its associated attributes and price.</a:t>
            </a:r>
          </a:p>
          <a:p>
            <a:r>
              <a:rPr lang="en-US" sz="2200" b="1" dirty="0"/>
              <a:t>Dataset Size</a:t>
            </a:r>
          </a:p>
          <a:p>
            <a:r>
              <a:rPr lang="en-US" sz="2200" b="1" dirty="0"/>
              <a:t>Total Observations:</a:t>
            </a:r>
            <a:r>
              <a:rPr lang="en-US" sz="2200" dirty="0"/>
              <a:t> 1,064 vehicle listings</a:t>
            </a:r>
          </a:p>
          <a:p>
            <a:r>
              <a:rPr lang="en-US" sz="2200" b="1" dirty="0"/>
              <a:t>Total Features:</a:t>
            </a:r>
            <a:r>
              <a:rPr lang="en-US" sz="2200" dirty="0"/>
              <a:t> Multiple numerical and categorical variables</a:t>
            </a:r>
          </a:p>
          <a:p>
            <a:r>
              <a:rPr lang="en-US" sz="2200" b="1" dirty="0"/>
              <a:t>Target Variable:</a:t>
            </a:r>
            <a:r>
              <a:rPr lang="en-US" sz="2200" dirty="0"/>
              <a:t> Price (expressed in Lakhs)</a:t>
            </a:r>
          </a:p>
          <a:p>
            <a:r>
              <a:rPr lang="en-US" sz="2200" dirty="0"/>
              <a:t>The dataset size is sufficient for supervised regression modelling and allows meaningful pattern extraction across brands, vehicle types, and usage characteristics.</a:t>
            </a:r>
          </a:p>
          <a:p>
            <a:r>
              <a:rPr lang="en-IN" sz="2200" b="1" dirty="0"/>
              <a:t>Feature Categories</a:t>
            </a:r>
          </a:p>
          <a:p>
            <a:r>
              <a:rPr lang="en-IN" sz="2200" dirty="0"/>
              <a:t>The variables in the dataset can be broadly classified into </a:t>
            </a:r>
            <a:r>
              <a:rPr lang="en-IN" sz="2200" b="1" dirty="0"/>
              <a:t>numerical</a:t>
            </a:r>
            <a:r>
              <a:rPr lang="en-IN" sz="2200" dirty="0"/>
              <a:t>, </a:t>
            </a:r>
            <a:r>
              <a:rPr lang="en-IN" sz="2200" b="1" dirty="0"/>
              <a:t>categorical</a:t>
            </a:r>
            <a:r>
              <a:rPr lang="en-IN" sz="2200" dirty="0"/>
              <a:t>, and </a:t>
            </a:r>
            <a:r>
              <a:rPr lang="en-IN" sz="2200" b="1" dirty="0"/>
              <a:t>engineered</a:t>
            </a:r>
            <a:r>
              <a:rPr lang="en-IN" sz="2200" dirty="0"/>
              <a:t> features.</a:t>
            </a:r>
          </a:p>
          <a:p>
            <a:r>
              <a:rPr lang="en-IN" sz="2200" b="1" dirty="0"/>
              <a:t>1. Numerical Features</a:t>
            </a:r>
          </a:p>
          <a:p>
            <a:r>
              <a:rPr lang="en-IN" sz="2200" dirty="0"/>
              <a:t>These variables capture measurable vehicle characteristics:</a:t>
            </a:r>
          </a:p>
          <a:p>
            <a:r>
              <a:rPr lang="en-IN" sz="2200" dirty="0"/>
              <a:t>Kilometer → Total distance driven</a:t>
            </a:r>
          </a:p>
          <a:p>
            <a:r>
              <a:rPr lang="en-IN" sz="2200" dirty="0" err="1"/>
              <a:t>ModelYear</a:t>
            </a:r>
            <a:r>
              <a:rPr lang="en-IN" sz="2200" dirty="0"/>
              <a:t> → Manufacturing / registration year</a:t>
            </a:r>
          </a:p>
          <a:p>
            <a:r>
              <a:rPr lang="en-IN" sz="2200" dirty="0"/>
              <a:t>Warranty → Binary warranty indicator</a:t>
            </a:r>
          </a:p>
          <a:p>
            <a:r>
              <a:rPr lang="en-IN" sz="2200" dirty="0"/>
              <a:t>QualityScore → Vehicle condition proxy</a:t>
            </a:r>
          </a:p>
          <a:p>
            <a:r>
              <a:rPr lang="en-IN" sz="2200" dirty="0"/>
              <a:t>CarAge → Derived vehicle age</a:t>
            </a:r>
          </a:p>
          <a:p>
            <a:r>
              <a:rPr lang="en-IN" sz="2200" dirty="0" err="1"/>
              <a:t>KM_per_Year</a:t>
            </a:r>
            <a:r>
              <a:rPr lang="en-IN" sz="2200" dirty="0"/>
              <a:t> / </a:t>
            </a:r>
            <a:r>
              <a:rPr lang="en-IN" sz="2200" dirty="0" err="1"/>
              <a:t>UsageIntensity</a:t>
            </a:r>
            <a:r>
              <a:rPr lang="en-IN" sz="2200" dirty="0"/>
              <a:t> → Usage behaviour indicators</a:t>
            </a:r>
          </a:p>
          <a:p>
            <a:r>
              <a:rPr lang="en-IN" sz="2200" dirty="0"/>
              <a:t>These features directly influence depreciation and pricing dynamics.</a:t>
            </a:r>
          </a:p>
          <a:p>
            <a:endParaRPr lang="en-IN" dirty="0"/>
          </a:p>
        </p:txBody>
      </p:sp>
    </p:spTree>
    <p:extLst>
      <p:ext uri="{BB962C8B-B14F-4D97-AF65-F5344CB8AC3E}">
        <p14:creationId xmlns:p14="http://schemas.microsoft.com/office/powerpoint/2010/main" val="2584861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D820FD-946D-5520-50E6-E08B53647EC0}"/>
              </a:ext>
            </a:extLst>
          </p:cNvPr>
          <p:cNvSpPr>
            <a:spLocks noGrp="1"/>
          </p:cNvSpPr>
          <p:nvPr>
            <p:ph idx="1"/>
          </p:nvPr>
        </p:nvSpPr>
        <p:spPr>
          <a:xfrm>
            <a:off x="78659" y="68826"/>
            <a:ext cx="12015018" cy="6789174"/>
          </a:xfrm>
        </p:spPr>
        <p:txBody>
          <a:bodyPr>
            <a:normAutofit fontScale="92500" lnSpcReduction="20000"/>
          </a:bodyPr>
          <a:lstStyle/>
          <a:p>
            <a:r>
              <a:rPr lang="en-IN" b="1" dirty="0"/>
              <a:t>2. Categorical Features</a:t>
            </a:r>
          </a:p>
          <a:p>
            <a:r>
              <a:rPr lang="en-IN" dirty="0"/>
              <a:t>Categorical variables describe vehicle identity and market segmentation:</a:t>
            </a:r>
          </a:p>
          <a:p>
            <a:r>
              <a:rPr lang="en-IN" dirty="0"/>
              <a:t>Company → Manufacturer / brand</a:t>
            </a:r>
          </a:p>
          <a:p>
            <a:r>
              <a:rPr lang="en-IN" dirty="0"/>
              <a:t>Model → Vehicle model name</a:t>
            </a:r>
          </a:p>
          <a:p>
            <a:r>
              <a:rPr lang="en-IN" dirty="0" err="1"/>
              <a:t>FuelType</a:t>
            </a:r>
            <a:r>
              <a:rPr lang="en-IN" dirty="0"/>
              <a:t> → Petrol / Diesel / CNG / etc.</a:t>
            </a:r>
          </a:p>
          <a:p>
            <a:r>
              <a:rPr lang="en-IN" dirty="0" err="1"/>
              <a:t>BodyStyle</a:t>
            </a:r>
            <a:r>
              <a:rPr lang="en-IN" dirty="0"/>
              <a:t> → Hatchback / Sedan / SUV / etc.</a:t>
            </a:r>
          </a:p>
          <a:p>
            <a:r>
              <a:rPr lang="en-IN" dirty="0" err="1"/>
              <a:t>TransmissionType</a:t>
            </a:r>
            <a:r>
              <a:rPr lang="en-IN" dirty="0"/>
              <a:t> → Manual / Automatic</a:t>
            </a:r>
          </a:p>
          <a:p>
            <a:r>
              <a:rPr lang="en-IN" dirty="0"/>
              <a:t>Owner → Ownership history</a:t>
            </a:r>
          </a:p>
          <a:p>
            <a:r>
              <a:rPr lang="en-IN" dirty="0" err="1"/>
              <a:t>DealerState</a:t>
            </a:r>
            <a:r>
              <a:rPr lang="en-IN" dirty="0"/>
              <a:t> → Geographic location</a:t>
            </a:r>
          </a:p>
          <a:p>
            <a:r>
              <a:rPr lang="en-IN" dirty="0"/>
              <a:t>Colour → Vehicle colour</a:t>
            </a:r>
          </a:p>
          <a:p>
            <a:r>
              <a:rPr lang="en-IN" dirty="0"/>
              <a:t>These features capture brand positioning, consumer preference, and regional effects.</a:t>
            </a:r>
          </a:p>
          <a:p>
            <a:r>
              <a:rPr lang="en-IN" b="1" dirty="0"/>
              <a:t>3. Engineered Features</a:t>
            </a:r>
          </a:p>
          <a:p>
            <a:r>
              <a:rPr lang="en-IN" dirty="0"/>
              <a:t>Additional variables were derived to improve predictive power and represent domain behaviour:</a:t>
            </a:r>
          </a:p>
          <a:p>
            <a:r>
              <a:rPr lang="en-IN" dirty="0"/>
              <a:t>CarAge → Age-based depreciation effect</a:t>
            </a:r>
          </a:p>
          <a:p>
            <a:r>
              <a:rPr lang="en-IN" dirty="0" err="1"/>
              <a:t>UsageIntensity</a:t>
            </a:r>
            <a:r>
              <a:rPr lang="en-IN" dirty="0"/>
              <a:t> → Normalized mileage usage</a:t>
            </a:r>
          </a:p>
          <a:p>
            <a:r>
              <a:rPr lang="en-IN" dirty="0" err="1"/>
              <a:t>WearAndTear</a:t>
            </a:r>
            <a:r>
              <a:rPr lang="en-IN" dirty="0"/>
              <a:t> → Composite condition proxy</a:t>
            </a:r>
          </a:p>
          <a:p>
            <a:r>
              <a:rPr lang="en-IN" dirty="0" err="1"/>
              <a:t>HighMileageFlag</a:t>
            </a:r>
            <a:r>
              <a:rPr lang="en-IN" dirty="0"/>
              <a:t> → Segmentation variable</a:t>
            </a:r>
          </a:p>
          <a:p>
            <a:r>
              <a:rPr lang="en-IN" dirty="0" err="1"/>
              <a:t>IsPremiumBrand</a:t>
            </a:r>
            <a:r>
              <a:rPr lang="en-IN" dirty="0"/>
              <a:t> → Brand tier indicator</a:t>
            </a:r>
          </a:p>
          <a:p>
            <a:r>
              <a:rPr lang="en-IN" dirty="0" err="1"/>
              <a:t>WarrantyImpact</a:t>
            </a:r>
            <a:r>
              <a:rPr lang="en-IN" dirty="0"/>
              <a:t> → Warranty-related pricing signal</a:t>
            </a:r>
          </a:p>
          <a:p>
            <a:r>
              <a:rPr lang="en-IN" dirty="0"/>
              <a:t>Feature engineering enhanced model performance by incorporating practical automotive valuation logic.</a:t>
            </a:r>
          </a:p>
          <a:p>
            <a:endParaRPr lang="en-IN" dirty="0"/>
          </a:p>
        </p:txBody>
      </p:sp>
    </p:spTree>
    <p:extLst>
      <p:ext uri="{BB962C8B-B14F-4D97-AF65-F5344CB8AC3E}">
        <p14:creationId xmlns:p14="http://schemas.microsoft.com/office/powerpoint/2010/main" val="3981937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A33825-8091-78F9-12CB-3C4E83AB8CE3}"/>
              </a:ext>
            </a:extLst>
          </p:cNvPr>
          <p:cNvSpPr>
            <a:spLocks noGrp="1"/>
          </p:cNvSpPr>
          <p:nvPr>
            <p:ph idx="1"/>
          </p:nvPr>
        </p:nvSpPr>
        <p:spPr>
          <a:xfrm>
            <a:off x="68826" y="81657"/>
            <a:ext cx="12044516" cy="6776343"/>
          </a:xfrm>
        </p:spPr>
        <p:txBody>
          <a:bodyPr/>
          <a:lstStyle/>
          <a:p>
            <a:r>
              <a:rPr lang="en-US" b="1" dirty="0"/>
              <a:t>Data Characteristics</a:t>
            </a:r>
          </a:p>
          <a:p>
            <a:r>
              <a:rPr lang="en-US" dirty="0"/>
              <a:t>Several real-world data challenges were observed:</a:t>
            </a:r>
          </a:p>
          <a:p>
            <a:r>
              <a:rPr lang="en-US" b="1" dirty="0"/>
              <a:t>Right-skewed price distribution</a:t>
            </a:r>
            <a:r>
              <a:rPr lang="en-US" dirty="0"/>
              <a:t> (presence of premium vehicles)</a:t>
            </a:r>
          </a:p>
          <a:p>
            <a:r>
              <a:rPr lang="en-US" b="1" dirty="0"/>
              <a:t>Category duplication &amp; label inconsistency</a:t>
            </a:r>
            <a:endParaRPr lang="en-US" dirty="0"/>
          </a:p>
          <a:p>
            <a:r>
              <a:rPr lang="en-US" b="1" dirty="0"/>
              <a:t>Missing values</a:t>
            </a:r>
            <a:r>
              <a:rPr lang="en-US" dirty="0"/>
              <a:t>, especially in </a:t>
            </a:r>
            <a:r>
              <a:rPr lang="en-US" dirty="0" err="1"/>
              <a:t>TransmissionType</a:t>
            </a:r>
            <a:endParaRPr lang="en-US" dirty="0"/>
          </a:p>
          <a:p>
            <a:r>
              <a:rPr lang="en-US" b="1" dirty="0"/>
              <a:t>Outliers</a:t>
            </a:r>
            <a:r>
              <a:rPr lang="en-US" dirty="0"/>
              <a:t>, typical of luxury / high-end vehicles</a:t>
            </a:r>
          </a:p>
          <a:p>
            <a:r>
              <a:rPr lang="en-US" b="1" dirty="0"/>
              <a:t>Imbalanced category frequencies</a:t>
            </a:r>
            <a:endParaRPr lang="en-US" dirty="0"/>
          </a:p>
          <a:p>
            <a:r>
              <a:rPr lang="en-US" dirty="0"/>
              <a:t>These issues were systematically addressed during preprocessing to ensure modelling reliability.</a:t>
            </a:r>
          </a:p>
          <a:p>
            <a:r>
              <a:rPr lang="en-IN" b="1" dirty="0"/>
              <a:t>Target Variable</a:t>
            </a:r>
          </a:p>
          <a:p>
            <a:r>
              <a:rPr lang="en-IN" b="1" dirty="0"/>
              <a:t>Variable:</a:t>
            </a:r>
            <a:r>
              <a:rPr lang="en-IN" dirty="0"/>
              <a:t> Price</a:t>
            </a:r>
          </a:p>
          <a:p>
            <a:r>
              <a:rPr lang="en-IN" b="1" dirty="0"/>
              <a:t>Unit:</a:t>
            </a:r>
            <a:r>
              <a:rPr lang="en-IN" dirty="0"/>
              <a:t> Lakhs</a:t>
            </a:r>
          </a:p>
          <a:p>
            <a:r>
              <a:rPr lang="en-IN" b="1" dirty="0"/>
              <a:t>Distribution:</a:t>
            </a:r>
            <a:r>
              <a:rPr lang="en-IN" dirty="0"/>
              <a:t> Positively skewed</a:t>
            </a:r>
          </a:p>
          <a:p>
            <a:r>
              <a:rPr lang="en-IN" b="1" dirty="0"/>
              <a:t>Transformation Applied:</a:t>
            </a:r>
            <a:r>
              <a:rPr lang="en-IN" dirty="0"/>
              <a:t> log1p(Price) for model stability</a:t>
            </a:r>
          </a:p>
          <a:p>
            <a:r>
              <a:rPr lang="en-IN" dirty="0"/>
              <a:t>Log transformation reduced skewness and improved regression behaviour.</a:t>
            </a:r>
          </a:p>
          <a:p>
            <a:endParaRPr lang="en-IN" dirty="0"/>
          </a:p>
        </p:txBody>
      </p:sp>
    </p:spTree>
    <p:extLst>
      <p:ext uri="{BB962C8B-B14F-4D97-AF65-F5344CB8AC3E}">
        <p14:creationId xmlns:p14="http://schemas.microsoft.com/office/powerpoint/2010/main" val="3062345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EED35-9D5C-D2D6-CB92-53C142BCD05E}"/>
              </a:ext>
            </a:extLst>
          </p:cNvPr>
          <p:cNvSpPr>
            <a:spLocks noGrp="1"/>
          </p:cNvSpPr>
          <p:nvPr>
            <p:ph type="title"/>
          </p:nvPr>
        </p:nvSpPr>
        <p:spPr>
          <a:xfrm>
            <a:off x="1" y="109285"/>
            <a:ext cx="11985522" cy="903438"/>
          </a:xfrm>
        </p:spPr>
        <p:txBody>
          <a:bodyPr/>
          <a:lstStyle/>
          <a:p>
            <a:r>
              <a:rPr lang="en-IN" dirty="0"/>
              <a:t>Dataset description</a:t>
            </a:r>
          </a:p>
        </p:txBody>
      </p:sp>
      <p:graphicFrame>
        <p:nvGraphicFramePr>
          <p:cNvPr id="6" name="Content Placeholder 5">
            <a:extLst>
              <a:ext uri="{FF2B5EF4-FFF2-40B4-BE49-F238E27FC236}">
                <a16:creationId xmlns:a16="http://schemas.microsoft.com/office/drawing/2014/main" id="{63BEC40E-1CCD-4F22-8ADD-174749468200}"/>
              </a:ext>
            </a:extLst>
          </p:cNvPr>
          <p:cNvGraphicFramePr>
            <a:graphicFrameLocks noGrp="1"/>
          </p:cNvGraphicFramePr>
          <p:nvPr>
            <p:ph idx="1"/>
            <p:extLst>
              <p:ext uri="{D42A27DB-BD31-4B8C-83A1-F6EECF244321}">
                <p14:modId xmlns:p14="http://schemas.microsoft.com/office/powerpoint/2010/main" val="105713552"/>
              </p:ext>
            </p:extLst>
          </p:nvPr>
        </p:nvGraphicFramePr>
        <p:xfrm>
          <a:off x="108155" y="1097280"/>
          <a:ext cx="11110451" cy="3327237"/>
        </p:xfrm>
        <a:graphic>
          <a:graphicData uri="http://schemas.openxmlformats.org/drawingml/2006/table">
            <a:tbl>
              <a:tblPr firstRow="1" bandRow="1">
                <a:tableStyleId>{5C22544A-7EE6-4342-B048-85BDC9FD1C3A}</a:tableStyleId>
              </a:tblPr>
              <a:tblGrid>
                <a:gridCol w="1217314">
                  <a:extLst>
                    <a:ext uri="{9D8B030D-6E8A-4147-A177-3AD203B41FA5}">
                      <a16:colId xmlns:a16="http://schemas.microsoft.com/office/drawing/2014/main" val="3294658583"/>
                    </a:ext>
                  </a:extLst>
                </a:gridCol>
                <a:gridCol w="1879293">
                  <a:extLst>
                    <a:ext uri="{9D8B030D-6E8A-4147-A177-3AD203B41FA5}">
                      <a16:colId xmlns:a16="http://schemas.microsoft.com/office/drawing/2014/main" val="4141748350"/>
                    </a:ext>
                  </a:extLst>
                </a:gridCol>
                <a:gridCol w="2458618">
                  <a:extLst>
                    <a:ext uri="{9D8B030D-6E8A-4147-A177-3AD203B41FA5}">
                      <a16:colId xmlns:a16="http://schemas.microsoft.com/office/drawing/2014/main" val="1757040614"/>
                    </a:ext>
                  </a:extLst>
                </a:gridCol>
                <a:gridCol w="1851742">
                  <a:extLst>
                    <a:ext uri="{9D8B030D-6E8A-4147-A177-3AD203B41FA5}">
                      <a16:colId xmlns:a16="http://schemas.microsoft.com/office/drawing/2014/main" val="2375879909"/>
                    </a:ext>
                  </a:extLst>
                </a:gridCol>
                <a:gridCol w="1851742">
                  <a:extLst>
                    <a:ext uri="{9D8B030D-6E8A-4147-A177-3AD203B41FA5}">
                      <a16:colId xmlns:a16="http://schemas.microsoft.com/office/drawing/2014/main" val="1007474120"/>
                    </a:ext>
                  </a:extLst>
                </a:gridCol>
                <a:gridCol w="1851742">
                  <a:extLst>
                    <a:ext uri="{9D8B030D-6E8A-4147-A177-3AD203B41FA5}">
                      <a16:colId xmlns:a16="http://schemas.microsoft.com/office/drawing/2014/main" val="884943073"/>
                    </a:ext>
                  </a:extLst>
                </a:gridCol>
              </a:tblGrid>
              <a:tr h="369693">
                <a:tc>
                  <a:txBody>
                    <a:bodyPr/>
                    <a:lstStyle/>
                    <a:p>
                      <a:pPr algn="r">
                        <a:buNone/>
                      </a:pPr>
                      <a:endParaRPr lang="en-IN" b="1" dirty="0">
                        <a:effectLst/>
                      </a:endParaRPr>
                    </a:p>
                  </a:txBody>
                  <a:tcPr anchor="ctr"/>
                </a:tc>
                <a:tc>
                  <a:txBody>
                    <a:bodyPr/>
                    <a:lstStyle/>
                    <a:p>
                      <a:pPr algn="r">
                        <a:buNone/>
                      </a:pPr>
                      <a:r>
                        <a:rPr lang="en-IN" b="1" dirty="0">
                          <a:effectLst/>
                        </a:rPr>
                        <a:t>Id</a:t>
                      </a:r>
                    </a:p>
                  </a:txBody>
                  <a:tcPr anchor="ctr"/>
                </a:tc>
                <a:tc>
                  <a:txBody>
                    <a:bodyPr/>
                    <a:lstStyle/>
                    <a:p>
                      <a:pPr algn="r">
                        <a:buNone/>
                      </a:pPr>
                      <a:r>
                        <a:rPr lang="en-IN" b="1" dirty="0">
                          <a:effectLst/>
                        </a:rPr>
                        <a:t>Kilometer</a:t>
                      </a:r>
                    </a:p>
                  </a:txBody>
                  <a:tcPr anchor="ctr"/>
                </a:tc>
                <a:tc>
                  <a:txBody>
                    <a:bodyPr/>
                    <a:lstStyle/>
                    <a:p>
                      <a:pPr algn="r">
                        <a:buNone/>
                      </a:pPr>
                      <a:r>
                        <a:rPr lang="en-IN" b="1" dirty="0" err="1">
                          <a:effectLst/>
                        </a:rPr>
                        <a:t>ModelYear</a:t>
                      </a:r>
                      <a:endParaRPr lang="en-IN" b="1" dirty="0">
                        <a:effectLst/>
                      </a:endParaRPr>
                    </a:p>
                  </a:txBody>
                  <a:tcPr anchor="ctr"/>
                </a:tc>
                <a:tc>
                  <a:txBody>
                    <a:bodyPr/>
                    <a:lstStyle/>
                    <a:p>
                      <a:pPr algn="r">
                        <a:buNone/>
                      </a:pPr>
                      <a:r>
                        <a:rPr lang="en-IN" b="1" dirty="0">
                          <a:effectLst/>
                        </a:rPr>
                        <a:t>Warranty</a:t>
                      </a:r>
                    </a:p>
                  </a:txBody>
                  <a:tcPr anchor="ctr"/>
                </a:tc>
                <a:tc>
                  <a:txBody>
                    <a:bodyPr/>
                    <a:lstStyle/>
                    <a:p>
                      <a:pPr algn="r">
                        <a:buNone/>
                      </a:pPr>
                      <a:r>
                        <a:rPr lang="en-IN" b="1" dirty="0">
                          <a:effectLst/>
                        </a:rPr>
                        <a:t>QualityScore</a:t>
                      </a:r>
                    </a:p>
                  </a:txBody>
                  <a:tcPr anchor="ctr"/>
                </a:tc>
                <a:extLst>
                  <a:ext uri="{0D108BD9-81ED-4DB2-BD59-A6C34878D82A}">
                    <a16:rowId xmlns:a16="http://schemas.microsoft.com/office/drawing/2014/main" val="113712867"/>
                  </a:ext>
                </a:extLst>
              </a:tr>
              <a:tr h="369693">
                <a:tc>
                  <a:txBody>
                    <a:bodyPr/>
                    <a:lstStyle/>
                    <a:p>
                      <a:pPr fontAlgn="ctr">
                        <a:buNone/>
                      </a:pPr>
                      <a:r>
                        <a:rPr lang="en-IN" b="1">
                          <a:effectLst/>
                        </a:rPr>
                        <a:t>count</a:t>
                      </a:r>
                    </a:p>
                  </a:txBody>
                  <a:tcPr anchor="ctr"/>
                </a:tc>
                <a:tc>
                  <a:txBody>
                    <a:bodyPr/>
                    <a:lstStyle/>
                    <a:p>
                      <a:pPr algn="r">
                        <a:buNone/>
                      </a:pPr>
                      <a:r>
                        <a:rPr lang="en-IN">
                          <a:effectLst/>
                        </a:rPr>
                        <a:t>1064.000000</a:t>
                      </a:r>
                    </a:p>
                  </a:txBody>
                  <a:tcPr anchor="ctr"/>
                </a:tc>
                <a:tc>
                  <a:txBody>
                    <a:bodyPr/>
                    <a:lstStyle/>
                    <a:p>
                      <a:pPr algn="r">
                        <a:buNone/>
                      </a:pPr>
                      <a:r>
                        <a:rPr lang="en-IN">
                          <a:effectLst/>
                        </a:rPr>
                        <a:t>1064.000000</a:t>
                      </a:r>
                    </a:p>
                  </a:txBody>
                  <a:tcPr anchor="ctr"/>
                </a:tc>
                <a:tc>
                  <a:txBody>
                    <a:bodyPr/>
                    <a:lstStyle/>
                    <a:p>
                      <a:pPr algn="r">
                        <a:buNone/>
                      </a:pPr>
                      <a:r>
                        <a:rPr lang="en-IN">
                          <a:effectLst/>
                        </a:rPr>
                        <a:t>1064.000000</a:t>
                      </a:r>
                    </a:p>
                  </a:txBody>
                  <a:tcPr anchor="ctr"/>
                </a:tc>
                <a:tc>
                  <a:txBody>
                    <a:bodyPr/>
                    <a:lstStyle/>
                    <a:p>
                      <a:pPr algn="r">
                        <a:buNone/>
                      </a:pPr>
                      <a:r>
                        <a:rPr lang="en-IN">
                          <a:effectLst/>
                        </a:rPr>
                        <a:t>1064.000000</a:t>
                      </a:r>
                    </a:p>
                  </a:txBody>
                  <a:tcPr anchor="ctr"/>
                </a:tc>
                <a:tc>
                  <a:txBody>
                    <a:bodyPr/>
                    <a:lstStyle/>
                    <a:p>
                      <a:pPr algn="r">
                        <a:buNone/>
                      </a:pPr>
                      <a:r>
                        <a:rPr lang="en-IN">
                          <a:effectLst/>
                        </a:rPr>
                        <a:t>1064.000000</a:t>
                      </a:r>
                    </a:p>
                  </a:txBody>
                  <a:tcPr anchor="ctr"/>
                </a:tc>
                <a:extLst>
                  <a:ext uri="{0D108BD9-81ED-4DB2-BD59-A6C34878D82A}">
                    <a16:rowId xmlns:a16="http://schemas.microsoft.com/office/drawing/2014/main" val="2045266601"/>
                  </a:ext>
                </a:extLst>
              </a:tr>
              <a:tr h="369693">
                <a:tc>
                  <a:txBody>
                    <a:bodyPr/>
                    <a:lstStyle/>
                    <a:p>
                      <a:pPr fontAlgn="ctr">
                        <a:buNone/>
                      </a:pPr>
                      <a:r>
                        <a:rPr lang="en-IN" b="1">
                          <a:effectLst/>
                        </a:rPr>
                        <a:t>mean</a:t>
                      </a:r>
                    </a:p>
                  </a:txBody>
                  <a:tcPr anchor="ctr"/>
                </a:tc>
                <a:tc>
                  <a:txBody>
                    <a:bodyPr/>
                    <a:lstStyle/>
                    <a:p>
                      <a:pPr algn="r">
                        <a:buNone/>
                      </a:pPr>
                      <a:r>
                        <a:rPr lang="en-IN">
                          <a:effectLst/>
                        </a:rPr>
                        <a:t>568156.542293</a:t>
                      </a:r>
                    </a:p>
                  </a:txBody>
                  <a:tcPr anchor="ctr"/>
                </a:tc>
                <a:tc>
                  <a:txBody>
                    <a:bodyPr/>
                    <a:lstStyle/>
                    <a:p>
                      <a:pPr algn="r">
                        <a:buNone/>
                      </a:pPr>
                      <a:r>
                        <a:rPr lang="en-IN">
                          <a:effectLst/>
                        </a:rPr>
                        <a:t>52807.187970</a:t>
                      </a:r>
                    </a:p>
                  </a:txBody>
                  <a:tcPr anchor="ctr"/>
                </a:tc>
                <a:tc>
                  <a:txBody>
                    <a:bodyPr/>
                    <a:lstStyle/>
                    <a:p>
                      <a:pPr algn="r">
                        <a:buNone/>
                      </a:pPr>
                      <a:r>
                        <a:rPr lang="en-IN">
                          <a:effectLst/>
                        </a:rPr>
                        <a:t>2016.864662</a:t>
                      </a:r>
                    </a:p>
                  </a:txBody>
                  <a:tcPr anchor="ctr"/>
                </a:tc>
                <a:tc>
                  <a:txBody>
                    <a:bodyPr/>
                    <a:lstStyle/>
                    <a:p>
                      <a:pPr algn="r">
                        <a:buNone/>
                      </a:pPr>
                      <a:r>
                        <a:rPr lang="en-IN">
                          <a:effectLst/>
                        </a:rPr>
                        <a:t>0.738722</a:t>
                      </a:r>
                    </a:p>
                  </a:txBody>
                  <a:tcPr anchor="ctr"/>
                </a:tc>
                <a:tc>
                  <a:txBody>
                    <a:bodyPr/>
                    <a:lstStyle/>
                    <a:p>
                      <a:pPr algn="r">
                        <a:buNone/>
                      </a:pPr>
                      <a:r>
                        <a:rPr lang="en-IN">
                          <a:effectLst/>
                        </a:rPr>
                        <a:t>7.770207</a:t>
                      </a:r>
                    </a:p>
                  </a:txBody>
                  <a:tcPr anchor="ctr"/>
                </a:tc>
                <a:extLst>
                  <a:ext uri="{0D108BD9-81ED-4DB2-BD59-A6C34878D82A}">
                    <a16:rowId xmlns:a16="http://schemas.microsoft.com/office/drawing/2014/main" val="396653174"/>
                  </a:ext>
                </a:extLst>
              </a:tr>
              <a:tr h="369693">
                <a:tc>
                  <a:txBody>
                    <a:bodyPr/>
                    <a:lstStyle/>
                    <a:p>
                      <a:pPr fontAlgn="ctr">
                        <a:buNone/>
                      </a:pPr>
                      <a:r>
                        <a:rPr lang="en-IN" b="1">
                          <a:effectLst/>
                        </a:rPr>
                        <a:t>std</a:t>
                      </a:r>
                    </a:p>
                  </a:txBody>
                  <a:tcPr anchor="ctr"/>
                </a:tc>
                <a:tc>
                  <a:txBody>
                    <a:bodyPr/>
                    <a:lstStyle/>
                    <a:p>
                      <a:pPr algn="r">
                        <a:buNone/>
                      </a:pPr>
                      <a:r>
                        <a:rPr lang="en-IN">
                          <a:effectLst/>
                        </a:rPr>
                        <a:t>16438.139974</a:t>
                      </a:r>
                    </a:p>
                  </a:txBody>
                  <a:tcPr anchor="ctr"/>
                </a:tc>
                <a:tc>
                  <a:txBody>
                    <a:bodyPr/>
                    <a:lstStyle/>
                    <a:p>
                      <a:pPr algn="r">
                        <a:buNone/>
                      </a:pPr>
                      <a:r>
                        <a:rPr lang="en-IN">
                          <a:effectLst/>
                        </a:rPr>
                        <a:t>33840.296979</a:t>
                      </a:r>
                    </a:p>
                  </a:txBody>
                  <a:tcPr anchor="ctr"/>
                </a:tc>
                <a:tc>
                  <a:txBody>
                    <a:bodyPr/>
                    <a:lstStyle/>
                    <a:p>
                      <a:pPr algn="r">
                        <a:buNone/>
                      </a:pPr>
                      <a:r>
                        <a:rPr lang="en-IN">
                          <a:effectLst/>
                        </a:rPr>
                        <a:t>2.996786</a:t>
                      </a:r>
                    </a:p>
                  </a:txBody>
                  <a:tcPr anchor="ctr"/>
                </a:tc>
                <a:tc>
                  <a:txBody>
                    <a:bodyPr/>
                    <a:lstStyle/>
                    <a:p>
                      <a:pPr algn="r">
                        <a:buNone/>
                      </a:pPr>
                      <a:r>
                        <a:rPr lang="en-IN">
                          <a:effectLst/>
                        </a:rPr>
                        <a:t>0.439538</a:t>
                      </a:r>
                    </a:p>
                  </a:txBody>
                  <a:tcPr anchor="ctr"/>
                </a:tc>
                <a:tc>
                  <a:txBody>
                    <a:bodyPr/>
                    <a:lstStyle/>
                    <a:p>
                      <a:pPr algn="r">
                        <a:buNone/>
                      </a:pPr>
                      <a:r>
                        <a:rPr lang="en-IN">
                          <a:effectLst/>
                        </a:rPr>
                        <a:t>0.719717</a:t>
                      </a:r>
                    </a:p>
                  </a:txBody>
                  <a:tcPr anchor="ctr"/>
                </a:tc>
                <a:extLst>
                  <a:ext uri="{0D108BD9-81ED-4DB2-BD59-A6C34878D82A}">
                    <a16:rowId xmlns:a16="http://schemas.microsoft.com/office/drawing/2014/main" val="3172458031"/>
                  </a:ext>
                </a:extLst>
              </a:tr>
              <a:tr h="369693">
                <a:tc>
                  <a:txBody>
                    <a:bodyPr/>
                    <a:lstStyle/>
                    <a:p>
                      <a:pPr fontAlgn="ctr">
                        <a:buNone/>
                      </a:pPr>
                      <a:r>
                        <a:rPr lang="en-IN" b="1">
                          <a:effectLst/>
                        </a:rPr>
                        <a:t>min</a:t>
                      </a:r>
                    </a:p>
                  </a:txBody>
                  <a:tcPr anchor="ctr"/>
                </a:tc>
                <a:tc>
                  <a:txBody>
                    <a:bodyPr/>
                    <a:lstStyle/>
                    <a:p>
                      <a:pPr algn="r">
                        <a:buNone/>
                      </a:pPr>
                      <a:r>
                        <a:rPr lang="en-IN">
                          <a:effectLst/>
                        </a:rPr>
                        <a:t>525978.000000</a:t>
                      </a:r>
                    </a:p>
                  </a:txBody>
                  <a:tcPr anchor="ctr"/>
                </a:tc>
                <a:tc>
                  <a:txBody>
                    <a:bodyPr/>
                    <a:lstStyle/>
                    <a:p>
                      <a:pPr algn="r">
                        <a:buNone/>
                      </a:pPr>
                      <a:r>
                        <a:rPr lang="en-IN" dirty="0">
                          <a:effectLst/>
                        </a:rPr>
                        <a:t>101.000000</a:t>
                      </a:r>
                    </a:p>
                  </a:txBody>
                  <a:tcPr anchor="ctr"/>
                </a:tc>
                <a:tc>
                  <a:txBody>
                    <a:bodyPr/>
                    <a:lstStyle/>
                    <a:p>
                      <a:pPr algn="r">
                        <a:buNone/>
                      </a:pPr>
                      <a:r>
                        <a:rPr lang="en-IN">
                          <a:effectLst/>
                        </a:rPr>
                        <a:t>2003.000000</a:t>
                      </a:r>
                    </a:p>
                  </a:txBody>
                  <a:tcPr anchor="ctr"/>
                </a:tc>
                <a:tc>
                  <a:txBody>
                    <a:bodyPr/>
                    <a:lstStyle/>
                    <a:p>
                      <a:pPr algn="r">
                        <a:buNone/>
                      </a:pPr>
                      <a:r>
                        <a:rPr lang="en-IN">
                          <a:effectLst/>
                        </a:rPr>
                        <a:t>0.000000</a:t>
                      </a:r>
                    </a:p>
                  </a:txBody>
                  <a:tcPr anchor="ctr"/>
                </a:tc>
                <a:tc>
                  <a:txBody>
                    <a:bodyPr/>
                    <a:lstStyle/>
                    <a:p>
                      <a:pPr algn="r">
                        <a:buNone/>
                      </a:pPr>
                      <a:r>
                        <a:rPr lang="en-IN">
                          <a:effectLst/>
                        </a:rPr>
                        <a:t>0.000000</a:t>
                      </a:r>
                    </a:p>
                  </a:txBody>
                  <a:tcPr anchor="ctr"/>
                </a:tc>
                <a:extLst>
                  <a:ext uri="{0D108BD9-81ED-4DB2-BD59-A6C34878D82A}">
                    <a16:rowId xmlns:a16="http://schemas.microsoft.com/office/drawing/2014/main" val="927652735"/>
                  </a:ext>
                </a:extLst>
              </a:tr>
              <a:tr h="369693">
                <a:tc>
                  <a:txBody>
                    <a:bodyPr/>
                    <a:lstStyle/>
                    <a:p>
                      <a:pPr fontAlgn="ctr">
                        <a:buNone/>
                      </a:pPr>
                      <a:r>
                        <a:rPr lang="en-IN" b="1">
                          <a:effectLst/>
                        </a:rPr>
                        <a:t>25%</a:t>
                      </a:r>
                    </a:p>
                  </a:txBody>
                  <a:tcPr anchor="ctr"/>
                </a:tc>
                <a:tc>
                  <a:txBody>
                    <a:bodyPr/>
                    <a:lstStyle/>
                    <a:p>
                      <a:pPr algn="r">
                        <a:buNone/>
                      </a:pPr>
                      <a:r>
                        <a:rPr lang="en-IN">
                          <a:effectLst/>
                        </a:rPr>
                        <a:t>555321.500000</a:t>
                      </a:r>
                    </a:p>
                  </a:txBody>
                  <a:tcPr anchor="ctr"/>
                </a:tc>
                <a:tc>
                  <a:txBody>
                    <a:bodyPr/>
                    <a:lstStyle/>
                    <a:p>
                      <a:pPr algn="r">
                        <a:buNone/>
                      </a:pPr>
                      <a:r>
                        <a:rPr lang="en-IN">
                          <a:effectLst/>
                        </a:rPr>
                        <a:t>32113.500000</a:t>
                      </a:r>
                    </a:p>
                  </a:txBody>
                  <a:tcPr anchor="ctr"/>
                </a:tc>
                <a:tc>
                  <a:txBody>
                    <a:bodyPr/>
                    <a:lstStyle/>
                    <a:p>
                      <a:pPr algn="r">
                        <a:buNone/>
                      </a:pPr>
                      <a:r>
                        <a:rPr lang="en-IN">
                          <a:effectLst/>
                        </a:rPr>
                        <a:t>2015.000000</a:t>
                      </a:r>
                    </a:p>
                  </a:txBody>
                  <a:tcPr anchor="ctr"/>
                </a:tc>
                <a:tc>
                  <a:txBody>
                    <a:bodyPr/>
                    <a:lstStyle/>
                    <a:p>
                      <a:pPr algn="r">
                        <a:buNone/>
                      </a:pPr>
                      <a:r>
                        <a:rPr lang="en-IN">
                          <a:effectLst/>
                        </a:rPr>
                        <a:t>0.000000</a:t>
                      </a:r>
                    </a:p>
                  </a:txBody>
                  <a:tcPr anchor="ctr"/>
                </a:tc>
                <a:tc>
                  <a:txBody>
                    <a:bodyPr/>
                    <a:lstStyle/>
                    <a:p>
                      <a:pPr algn="r">
                        <a:buNone/>
                      </a:pPr>
                      <a:r>
                        <a:rPr lang="en-IN">
                          <a:effectLst/>
                        </a:rPr>
                        <a:t>7.500000</a:t>
                      </a:r>
                    </a:p>
                  </a:txBody>
                  <a:tcPr anchor="ctr"/>
                </a:tc>
                <a:extLst>
                  <a:ext uri="{0D108BD9-81ED-4DB2-BD59-A6C34878D82A}">
                    <a16:rowId xmlns:a16="http://schemas.microsoft.com/office/drawing/2014/main" val="2195453263"/>
                  </a:ext>
                </a:extLst>
              </a:tr>
              <a:tr h="369693">
                <a:tc>
                  <a:txBody>
                    <a:bodyPr/>
                    <a:lstStyle/>
                    <a:p>
                      <a:pPr fontAlgn="ctr">
                        <a:buNone/>
                      </a:pPr>
                      <a:r>
                        <a:rPr lang="en-IN" b="1">
                          <a:effectLst/>
                        </a:rPr>
                        <a:t>50%</a:t>
                      </a:r>
                    </a:p>
                  </a:txBody>
                  <a:tcPr anchor="ctr"/>
                </a:tc>
                <a:tc>
                  <a:txBody>
                    <a:bodyPr/>
                    <a:lstStyle/>
                    <a:p>
                      <a:pPr algn="r">
                        <a:buNone/>
                      </a:pPr>
                      <a:r>
                        <a:rPr lang="en-IN">
                          <a:effectLst/>
                        </a:rPr>
                        <a:t>572753.000000</a:t>
                      </a:r>
                    </a:p>
                  </a:txBody>
                  <a:tcPr anchor="ctr"/>
                </a:tc>
                <a:tc>
                  <a:txBody>
                    <a:bodyPr/>
                    <a:lstStyle/>
                    <a:p>
                      <a:pPr algn="r">
                        <a:buNone/>
                      </a:pPr>
                      <a:r>
                        <a:rPr lang="en-IN">
                          <a:effectLst/>
                        </a:rPr>
                        <a:t>49432.000000</a:t>
                      </a:r>
                    </a:p>
                  </a:txBody>
                  <a:tcPr anchor="ctr"/>
                </a:tc>
                <a:tc>
                  <a:txBody>
                    <a:bodyPr/>
                    <a:lstStyle/>
                    <a:p>
                      <a:pPr algn="r">
                        <a:buNone/>
                      </a:pPr>
                      <a:r>
                        <a:rPr lang="en-IN">
                          <a:effectLst/>
                        </a:rPr>
                        <a:t>2017.000000</a:t>
                      </a:r>
                    </a:p>
                  </a:txBody>
                  <a:tcPr anchor="ctr"/>
                </a:tc>
                <a:tc>
                  <a:txBody>
                    <a:bodyPr/>
                    <a:lstStyle/>
                    <a:p>
                      <a:pPr algn="r">
                        <a:buNone/>
                      </a:pPr>
                      <a:r>
                        <a:rPr lang="en-IN">
                          <a:effectLst/>
                        </a:rPr>
                        <a:t>1.000000</a:t>
                      </a:r>
                    </a:p>
                  </a:txBody>
                  <a:tcPr anchor="ctr"/>
                </a:tc>
                <a:tc>
                  <a:txBody>
                    <a:bodyPr/>
                    <a:lstStyle/>
                    <a:p>
                      <a:pPr algn="r">
                        <a:buNone/>
                      </a:pPr>
                      <a:r>
                        <a:rPr lang="en-IN">
                          <a:effectLst/>
                        </a:rPr>
                        <a:t>7.800000</a:t>
                      </a:r>
                    </a:p>
                  </a:txBody>
                  <a:tcPr anchor="ctr"/>
                </a:tc>
                <a:extLst>
                  <a:ext uri="{0D108BD9-81ED-4DB2-BD59-A6C34878D82A}">
                    <a16:rowId xmlns:a16="http://schemas.microsoft.com/office/drawing/2014/main" val="2033151675"/>
                  </a:ext>
                </a:extLst>
              </a:tr>
              <a:tr h="369693">
                <a:tc>
                  <a:txBody>
                    <a:bodyPr/>
                    <a:lstStyle/>
                    <a:p>
                      <a:pPr fontAlgn="ctr">
                        <a:buNone/>
                      </a:pPr>
                      <a:r>
                        <a:rPr lang="en-IN" b="1">
                          <a:effectLst/>
                        </a:rPr>
                        <a:t>75%</a:t>
                      </a:r>
                    </a:p>
                  </a:txBody>
                  <a:tcPr anchor="ctr"/>
                </a:tc>
                <a:tc>
                  <a:txBody>
                    <a:bodyPr/>
                    <a:lstStyle/>
                    <a:p>
                      <a:pPr algn="r">
                        <a:buNone/>
                      </a:pPr>
                      <a:r>
                        <a:rPr lang="en-IN">
                          <a:effectLst/>
                        </a:rPr>
                        <a:t>583072.750000</a:t>
                      </a:r>
                    </a:p>
                  </a:txBody>
                  <a:tcPr anchor="ctr"/>
                </a:tc>
                <a:tc>
                  <a:txBody>
                    <a:bodyPr/>
                    <a:lstStyle/>
                    <a:p>
                      <a:pPr algn="r">
                        <a:buNone/>
                      </a:pPr>
                      <a:r>
                        <a:rPr lang="en-IN">
                          <a:effectLst/>
                        </a:rPr>
                        <a:t>68828.500000</a:t>
                      </a:r>
                    </a:p>
                  </a:txBody>
                  <a:tcPr anchor="ctr"/>
                </a:tc>
                <a:tc>
                  <a:txBody>
                    <a:bodyPr/>
                    <a:lstStyle/>
                    <a:p>
                      <a:pPr algn="r">
                        <a:buNone/>
                      </a:pPr>
                      <a:r>
                        <a:rPr lang="en-IN">
                          <a:effectLst/>
                        </a:rPr>
                        <a:t>2019.000000</a:t>
                      </a:r>
                    </a:p>
                  </a:txBody>
                  <a:tcPr anchor="ctr"/>
                </a:tc>
                <a:tc>
                  <a:txBody>
                    <a:bodyPr/>
                    <a:lstStyle/>
                    <a:p>
                      <a:pPr algn="r">
                        <a:buNone/>
                      </a:pPr>
                      <a:r>
                        <a:rPr lang="en-IN">
                          <a:effectLst/>
                        </a:rPr>
                        <a:t>1.000000</a:t>
                      </a:r>
                    </a:p>
                  </a:txBody>
                  <a:tcPr anchor="ctr"/>
                </a:tc>
                <a:tc>
                  <a:txBody>
                    <a:bodyPr/>
                    <a:lstStyle/>
                    <a:p>
                      <a:pPr algn="r">
                        <a:buNone/>
                      </a:pPr>
                      <a:r>
                        <a:rPr lang="en-IN">
                          <a:effectLst/>
                        </a:rPr>
                        <a:t>8.100000</a:t>
                      </a:r>
                    </a:p>
                  </a:txBody>
                  <a:tcPr anchor="ctr"/>
                </a:tc>
                <a:extLst>
                  <a:ext uri="{0D108BD9-81ED-4DB2-BD59-A6C34878D82A}">
                    <a16:rowId xmlns:a16="http://schemas.microsoft.com/office/drawing/2014/main" val="1210882879"/>
                  </a:ext>
                </a:extLst>
              </a:tr>
              <a:tr h="369693">
                <a:tc>
                  <a:txBody>
                    <a:bodyPr/>
                    <a:lstStyle/>
                    <a:p>
                      <a:pPr fontAlgn="ctr">
                        <a:buNone/>
                      </a:pPr>
                      <a:r>
                        <a:rPr lang="en-IN" b="1">
                          <a:effectLst/>
                        </a:rPr>
                        <a:t>max</a:t>
                      </a:r>
                    </a:p>
                  </a:txBody>
                  <a:tcPr anchor="ctr"/>
                </a:tc>
                <a:tc>
                  <a:txBody>
                    <a:bodyPr/>
                    <a:lstStyle/>
                    <a:p>
                      <a:pPr algn="r">
                        <a:buNone/>
                      </a:pPr>
                      <a:r>
                        <a:rPr lang="en-IN">
                          <a:effectLst/>
                        </a:rPr>
                        <a:t>589122.000000</a:t>
                      </a:r>
                    </a:p>
                  </a:txBody>
                  <a:tcPr anchor="ctr"/>
                </a:tc>
                <a:tc>
                  <a:txBody>
                    <a:bodyPr/>
                    <a:lstStyle/>
                    <a:p>
                      <a:pPr algn="r">
                        <a:buNone/>
                      </a:pPr>
                      <a:r>
                        <a:rPr lang="en-IN">
                          <a:effectLst/>
                        </a:rPr>
                        <a:t>640000.000000</a:t>
                      </a:r>
                    </a:p>
                  </a:txBody>
                  <a:tcPr anchor="ctr"/>
                </a:tc>
                <a:tc>
                  <a:txBody>
                    <a:bodyPr/>
                    <a:lstStyle/>
                    <a:p>
                      <a:pPr algn="r">
                        <a:buNone/>
                      </a:pPr>
                      <a:r>
                        <a:rPr lang="en-IN">
                          <a:effectLst/>
                        </a:rPr>
                        <a:t>2023.000000</a:t>
                      </a:r>
                    </a:p>
                  </a:txBody>
                  <a:tcPr anchor="ctr"/>
                </a:tc>
                <a:tc>
                  <a:txBody>
                    <a:bodyPr/>
                    <a:lstStyle/>
                    <a:p>
                      <a:pPr algn="r">
                        <a:buNone/>
                      </a:pPr>
                      <a:r>
                        <a:rPr lang="en-IN">
                          <a:effectLst/>
                        </a:rPr>
                        <a:t>1.000000</a:t>
                      </a:r>
                    </a:p>
                  </a:txBody>
                  <a:tcPr anchor="ctr"/>
                </a:tc>
                <a:tc>
                  <a:txBody>
                    <a:bodyPr/>
                    <a:lstStyle/>
                    <a:p>
                      <a:pPr algn="r">
                        <a:buNone/>
                      </a:pPr>
                      <a:r>
                        <a:rPr lang="en-IN" dirty="0">
                          <a:effectLst/>
                        </a:rPr>
                        <a:t>9.400000</a:t>
                      </a:r>
                    </a:p>
                  </a:txBody>
                  <a:tcPr anchor="ctr"/>
                </a:tc>
                <a:extLst>
                  <a:ext uri="{0D108BD9-81ED-4DB2-BD59-A6C34878D82A}">
                    <a16:rowId xmlns:a16="http://schemas.microsoft.com/office/drawing/2014/main" val="4115897670"/>
                  </a:ext>
                </a:extLst>
              </a:tr>
            </a:tbl>
          </a:graphicData>
        </a:graphic>
      </p:graphicFrame>
      <p:sp>
        <p:nvSpPr>
          <p:cNvPr id="7" name="TextBox 6">
            <a:extLst>
              <a:ext uri="{FF2B5EF4-FFF2-40B4-BE49-F238E27FC236}">
                <a16:creationId xmlns:a16="http://schemas.microsoft.com/office/drawing/2014/main" id="{DB254F03-1D8F-5B80-C531-A8F76EB4821D}"/>
              </a:ext>
            </a:extLst>
          </p:cNvPr>
          <p:cNvSpPr txBox="1"/>
          <p:nvPr/>
        </p:nvSpPr>
        <p:spPr>
          <a:xfrm>
            <a:off x="373626" y="4509074"/>
            <a:ext cx="10382865" cy="3139321"/>
          </a:xfrm>
          <a:prstGeom prst="rect">
            <a:avLst/>
          </a:prstGeom>
          <a:noFill/>
        </p:spPr>
        <p:txBody>
          <a:bodyPr wrap="square" rtlCol="0">
            <a:spAutoFit/>
          </a:bodyPr>
          <a:lstStyle/>
          <a:p>
            <a:r>
              <a:rPr lang="en-IN" b="1" dirty="0"/>
              <a:t>Observations:</a:t>
            </a:r>
            <a:endParaRPr lang="en-IN" dirty="0"/>
          </a:p>
          <a:p>
            <a:endParaRPr lang="en-IN" dirty="0"/>
          </a:p>
          <a:p>
            <a:r>
              <a:rPr lang="en-IN" dirty="0"/>
              <a:t>1) 1064 records → good sample size for analysis / ML</a:t>
            </a:r>
          </a:p>
          <a:p>
            <a:endParaRPr lang="en-IN" dirty="0"/>
          </a:p>
          <a:p>
            <a:r>
              <a:rPr lang="en-IN" dirty="0"/>
              <a:t>2) Price Distribution - Mean: 8.36 Lakhs, Median: 6.75 Lakhs, Max: 85 Lakhs, Std Dev: 5.72 (very large) Strong right skew present Mean &gt; Median → expensive cars pulling average up High variance → harder regression problem Justifies log transform</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4104687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5C52CB-E31A-110F-A770-C0B3A8BFB298}"/>
              </a:ext>
            </a:extLst>
          </p:cNvPr>
          <p:cNvSpPr>
            <a:spLocks noGrp="1"/>
          </p:cNvSpPr>
          <p:nvPr>
            <p:ph idx="1"/>
          </p:nvPr>
        </p:nvSpPr>
        <p:spPr>
          <a:xfrm>
            <a:off x="152400" y="157316"/>
            <a:ext cx="11887200" cy="6700683"/>
          </a:xfrm>
        </p:spPr>
        <p:txBody>
          <a:bodyPr/>
          <a:lstStyle/>
          <a:p>
            <a:r>
              <a:rPr lang="en-IN" dirty="0"/>
              <a:t>3) </a:t>
            </a:r>
            <a:r>
              <a:rPr lang="en-IN" dirty="0" err="1"/>
              <a:t>Kilometer</a:t>
            </a:r>
            <a:r>
              <a:rPr lang="en-IN" dirty="0"/>
              <a:t> - Mean: 52,768 km, Median: 49,413 km (close), Max: 640,000 km (!!), Std Dev: 33,832 Still heavy-tailed even after capping Presence of extreme usage vehicles Potential non-linear price decay Supports tree models / non-linear learners Median ≈ Mean → Most cars reasonably driven Few extreme cases distort variance</a:t>
            </a:r>
          </a:p>
          <a:p>
            <a:r>
              <a:rPr lang="en-IN" dirty="0"/>
              <a:t>4) Warranty - Mean ≈ 0.74, Median = 1, Binary distribution (0 / 1) Majority vehicles under warranty </a:t>
            </a:r>
            <a:r>
              <a:rPr lang="en-IN" dirty="0" err="1"/>
              <a:t>Warranty</a:t>
            </a:r>
            <a:r>
              <a:rPr lang="en-IN" dirty="0"/>
              <a:t> strongly associated with higher prices Likely correlated with </a:t>
            </a:r>
            <a:r>
              <a:rPr lang="en-IN" dirty="0" err="1"/>
              <a:t>ModelYear</a:t>
            </a:r>
            <a:r>
              <a:rPr lang="en-IN" dirty="0"/>
              <a:t> Adds buyer confidence signal</a:t>
            </a:r>
          </a:p>
          <a:p>
            <a:r>
              <a:rPr lang="en-IN" dirty="0"/>
              <a:t>5) </a:t>
            </a:r>
            <a:r>
              <a:rPr lang="en-IN" dirty="0" err="1"/>
              <a:t>QualityScore</a:t>
            </a:r>
            <a:r>
              <a:rPr lang="en-IN" dirty="0"/>
              <a:t> - Mean ≈ 7.77, Median ≈ 7.80, Range = 0 → 9.4, Std Dev ≈ 0.72 Min = 0 is suspicious Most scores between 7.5 – 8.1 Zero likely data anomaly / missing encoding</a:t>
            </a:r>
          </a:p>
          <a:p>
            <a:endParaRPr lang="en-IN" dirty="0"/>
          </a:p>
        </p:txBody>
      </p:sp>
    </p:spTree>
    <p:extLst>
      <p:ext uri="{BB962C8B-B14F-4D97-AF65-F5344CB8AC3E}">
        <p14:creationId xmlns:p14="http://schemas.microsoft.com/office/powerpoint/2010/main" val="540468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F7891-10B8-1C39-1A60-400925EB6A52}"/>
              </a:ext>
            </a:extLst>
          </p:cNvPr>
          <p:cNvSpPr>
            <a:spLocks noGrp="1"/>
          </p:cNvSpPr>
          <p:nvPr>
            <p:ph type="title"/>
          </p:nvPr>
        </p:nvSpPr>
        <p:spPr>
          <a:xfrm>
            <a:off x="0" y="0"/>
            <a:ext cx="12015018" cy="835742"/>
          </a:xfrm>
        </p:spPr>
        <p:txBody>
          <a:bodyPr/>
          <a:lstStyle/>
          <a:p>
            <a:r>
              <a:rPr lang="en-IN" dirty="0"/>
              <a:t>Target distribution (price)</a:t>
            </a:r>
          </a:p>
        </p:txBody>
      </p:sp>
      <p:pic>
        <p:nvPicPr>
          <p:cNvPr id="5" name="Content Placeholder 4">
            <a:extLst>
              <a:ext uri="{FF2B5EF4-FFF2-40B4-BE49-F238E27FC236}">
                <a16:creationId xmlns:a16="http://schemas.microsoft.com/office/drawing/2014/main" id="{CD29FF2C-26B9-2159-0572-4E53BBE825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862781"/>
            <a:ext cx="6096000" cy="2566219"/>
          </a:xfrm>
          <a:prstGeom prst="rect">
            <a:avLst/>
          </a:prstGeom>
          <a:scene3d>
            <a:camera prst="orthographicFront"/>
            <a:lightRig rig="threePt" dir="t"/>
          </a:scene3d>
          <a:sp3d>
            <a:bevelT/>
          </a:sp3d>
        </p:spPr>
      </p:pic>
      <p:pic>
        <p:nvPicPr>
          <p:cNvPr id="7" name="Picture 6">
            <a:extLst>
              <a:ext uri="{FF2B5EF4-FFF2-40B4-BE49-F238E27FC236}">
                <a16:creationId xmlns:a16="http://schemas.microsoft.com/office/drawing/2014/main" id="{BECE7A86-8BD0-AED9-7004-4936106CC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1" y="862781"/>
            <a:ext cx="6096000" cy="2566218"/>
          </a:xfrm>
          <a:prstGeom prst="rect">
            <a:avLst/>
          </a:prstGeom>
          <a:scene3d>
            <a:camera prst="orthographicFront"/>
            <a:lightRig rig="threePt" dir="t"/>
          </a:scene3d>
          <a:sp3d>
            <a:bevelT/>
          </a:sp3d>
        </p:spPr>
      </p:pic>
      <p:sp>
        <p:nvSpPr>
          <p:cNvPr id="8" name="TextBox 7">
            <a:extLst>
              <a:ext uri="{FF2B5EF4-FFF2-40B4-BE49-F238E27FC236}">
                <a16:creationId xmlns:a16="http://schemas.microsoft.com/office/drawing/2014/main" id="{8117D924-EBE2-0E0F-95AF-FAAC1D555DB8}"/>
              </a:ext>
            </a:extLst>
          </p:cNvPr>
          <p:cNvSpPr txBox="1"/>
          <p:nvPr/>
        </p:nvSpPr>
        <p:spPr>
          <a:xfrm>
            <a:off x="88490" y="3456038"/>
            <a:ext cx="12103510" cy="3139321"/>
          </a:xfrm>
          <a:prstGeom prst="rect">
            <a:avLst/>
          </a:prstGeom>
          <a:noFill/>
        </p:spPr>
        <p:txBody>
          <a:bodyPr wrap="square" rtlCol="0">
            <a:spAutoFit/>
          </a:bodyPr>
          <a:lstStyle/>
          <a:p>
            <a:endParaRPr lang="en-US" b="1" dirty="0"/>
          </a:p>
          <a:p>
            <a:endParaRPr lang="en-US" b="1" dirty="0"/>
          </a:p>
          <a:p>
            <a:r>
              <a:rPr lang="en-US" b="1" dirty="0"/>
              <a:t>Observations:</a:t>
            </a:r>
            <a:endParaRPr lang="en-US" dirty="0"/>
          </a:p>
          <a:p>
            <a:r>
              <a:rPr lang="en-US" dirty="0"/>
              <a:t>The raw price distribution exhibits strong right skew with a pronounced long tail, indicating the presence of high-value vehicles that inflate variance and destabilize regression models.</a:t>
            </a:r>
          </a:p>
          <a:p>
            <a:r>
              <a:rPr lang="en-US" dirty="0"/>
              <a:t>The boxplot further confirms numerous upper-end outliers.</a:t>
            </a:r>
          </a:p>
          <a:p>
            <a:r>
              <a:rPr lang="en-US" dirty="0"/>
              <a:t>Applying a log(1+Price) transformation significantly improves distribution symmetry, compresses extreme values, and stabilizes variance.</a:t>
            </a:r>
          </a:p>
          <a:p>
            <a:r>
              <a:rPr lang="en-US" dirty="0"/>
              <a:t>This transformation reduces the disproportionate impact of luxury vehicles on model training and evaluation, thereby enhancing predictive performance and generalization.</a:t>
            </a:r>
          </a:p>
          <a:p>
            <a:endParaRPr lang="en-IN" dirty="0"/>
          </a:p>
        </p:txBody>
      </p:sp>
    </p:spTree>
    <p:extLst>
      <p:ext uri="{BB962C8B-B14F-4D97-AF65-F5344CB8AC3E}">
        <p14:creationId xmlns:p14="http://schemas.microsoft.com/office/powerpoint/2010/main" val="2635691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CF08-2CA0-BDAA-A8DB-73D9F5CB9204}"/>
              </a:ext>
            </a:extLst>
          </p:cNvPr>
          <p:cNvSpPr>
            <a:spLocks noGrp="1"/>
          </p:cNvSpPr>
          <p:nvPr>
            <p:ph type="title"/>
          </p:nvPr>
        </p:nvSpPr>
        <p:spPr>
          <a:xfrm>
            <a:off x="0" y="78658"/>
            <a:ext cx="12192000" cy="884903"/>
          </a:xfrm>
        </p:spPr>
        <p:txBody>
          <a:bodyPr>
            <a:normAutofit fontScale="90000"/>
          </a:bodyPr>
          <a:lstStyle/>
          <a:p>
            <a:r>
              <a:rPr lang="en-IN" dirty="0"/>
              <a:t>Numeric features: distribution and relationship with price</a:t>
            </a:r>
          </a:p>
        </p:txBody>
      </p:sp>
      <p:pic>
        <p:nvPicPr>
          <p:cNvPr id="5" name="Content Placeholder 4">
            <a:extLst>
              <a:ext uri="{FF2B5EF4-FFF2-40B4-BE49-F238E27FC236}">
                <a16:creationId xmlns:a16="http://schemas.microsoft.com/office/drawing/2014/main" id="{C7925F09-1A27-3CA8-B16B-6F935E0DA1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658" y="1042988"/>
            <a:ext cx="12113342" cy="5815012"/>
          </a:xfrm>
          <a:prstGeom prst="rect">
            <a:avLst/>
          </a:prstGeom>
          <a:scene3d>
            <a:camera prst="orthographicFront"/>
            <a:lightRig rig="threePt" dir="t"/>
          </a:scene3d>
          <a:sp3d>
            <a:bevelT/>
          </a:sp3d>
        </p:spPr>
      </p:pic>
    </p:spTree>
    <p:extLst>
      <p:ext uri="{BB962C8B-B14F-4D97-AF65-F5344CB8AC3E}">
        <p14:creationId xmlns:p14="http://schemas.microsoft.com/office/powerpoint/2010/main" val="2266666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4E45A37-0B3A-6F60-D560-F1C3814A1C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4355690"/>
          </a:xfrm>
          <a:prstGeom prst="rect">
            <a:avLst/>
          </a:prstGeom>
          <a:scene3d>
            <a:camera prst="orthographicFront"/>
            <a:lightRig rig="threePt" dir="t"/>
          </a:scene3d>
          <a:sp3d>
            <a:bevelT/>
          </a:sp3d>
        </p:spPr>
      </p:pic>
      <p:sp>
        <p:nvSpPr>
          <p:cNvPr id="6" name="TextBox 5">
            <a:extLst>
              <a:ext uri="{FF2B5EF4-FFF2-40B4-BE49-F238E27FC236}">
                <a16:creationId xmlns:a16="http://schemas.microsoft.com/office/drawing/2014/main" id="{085EAA80-109B-A8F9-4E88-8EBB12C2913B}"/>
              </a:ext>
            </a:extLst>
          </p:cNvPr>
          <p:cNvSpPr txBox="1"/>
          <p:nvPr/>
        </p:nvSpPr>
        <p:spPr>
          <a:xfrm>
            <a:off x="0" y="4355690"/>
            <a:ext cx="12192000" cy="2585323"/>
          </a:xfrm>
          <a:prstGeom prst="rect">
            <a:avLst/>
          </a:prstGeom>
          <a:noFill/>
        </p:spPr>
        <p:txBody>
          <a:bodyPr wrap="square" rtlCol="0">
            <a:spAutoFit/>
          </a:bodyPr>
          <a:lstStyle/>
          <a:p>
            <a:r>
              <a:rPr lang="en-US" b="1" dirty="0" err="1"/>
              <a:t>Observtions</a:t>
            </a:r>
            <a:r>
              <a:rPr lang="en-US" b="1" dirty="0"/>
              <a:t>:</a:t>
            </a:r>
            <a:endParaRPr lang="en-US" dirty="0"/>
          </a:p>
          <a:p>
            <a:r>
              <a:rPr lang="en-US" dirty="0"/>
              <a:t>The Kilometer feature exhibits strong right skew, indicating heterogeneous vehicle usage patterns with extreme high-mileage outliers.</a:t>
            </a:r>
          </a:p>
          <a:p>
            <a:r>
              <a:rPr lang="en-US" dirty="0" err="1"/>
              <a:t>ModelYear</a:t>
            </a:r>
            <a:r>
              <a:rPr lang="en-US" dirty="0"/>
              <a:t> shows a structured distribution concentrated around recent years, suggesting the dataset primarily contains modern vehicles.</a:t>
            </a:r>
          </a:p>
          <a:p>
            <a:r>
              <a:rPr lang="en-US" dirty="0"/>
              <a:t>Scatter plots reveal that mileage alone has limited predictive power due to high price dispersion, whereas </a:t>
            </a:r>
            <a:r>
              <a:rPr lang="en-US" dirty="0" err="1"/>
              <a:t>ModelYear</a:t>
            </a:r>
            <a:r>
              <a:rPr lang="en-US" dirty="0"/>
              <a:t> demonstrates a clear positive relationship with price, highlighting depreciation effects.</a:t>
            </a:r>
          </a:p>
          <a:p>
            <a:r>
              <a:rPr lang="en-US" dirty="0" err="1"/>
              <a:t>QualityScore</a:t>
            </a:r>
            <a:r>
              <a:rPr lang="en-US" dirty="0"/>
              <a:t> displays a positive association with price but contains anomalously low values requiring validation.</a:t>
            </a:r>
          </a:p>
          <a:p>
            <a:r>
              <a:rPr lang="en-US" dirty="0"/>
              <a:t>Log transformation significantly improves distribution symmetry and relationship stability.</a:t>
            </a:r>
          </a:p>
        </p:txBody>
      </p:sp>
    </p:spTree>
    <p:extLst>
      <p:ext uri="{BB962C8B-B14F-4D97-AF65-F5344CB8AC3E}">
        <p14:creationId xmlns:p14="http://schemas.microsoft.com/office/powerpoint/2010/main" val="3823309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FE478-F57E-23C6-15BE-E303E2EA3064}"/>
              </a:ext>
            </a:extLst>
          </p:cNvPr>
          <p:cNvSpPr>
            <a:spLocks noGrp="1"/>
          </p:cNvSpPr>
          <p:nvPr>
            <p:ph type="title"/>
          </p:nvPr>
        </p:nvSpPr>
        <p:spPr>
          <a:xfrm>
            <a:off x="0" y="1"/>
            <a:ext cx="12192000" cy="825910"/>
          </a:xfrm>
        </p:spPr>
        <p:txBody>
          <a:bodyPr>
            <a:normAutofit fontScale="90000"/>
          </a:bodyPr>
          <a:lstStyle/>
          <a:p>
            <a:r>
              <a:rPr lang="en-IN" dirty="0"/>
              <a:t>Correlation matrix (numeric)</a:t>
            </a:r>
            <a:br>
              <a:rPr lang="en-IN" dirty="0"/>
            </a:br>
            <a:endParaRPr lang="en-IN" dirty="0"/>
          </a:p>
        </p:txBody>
      </p:sp>
      <p:pic>
        <p:nvPicPr>
          <p:cNvPr id="5" name="Content Placeholder 4">
            <a:extLst>
              <a:ext uri="{FF2B5EF4-FFF2-40B4-BE49-F238E27FC236}">
                <a16:creationId xmlns:a16="http://schemas.microsoft.com/office/drawing/2014/main" id="{66972C3B-9FF4-F71A-7B80-5F957250C2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30844" y="825911"/>
            <a:ext cx="5019369" cy="6032090"/>
          </a:xfrm>
          <a:prstGeom prst="rect">
            <a:avLst/>
          </a:prstGeom>
          <a:scene3d>
            <a:camera prst="orthographicFront"/>
            <a:lightRig rig="threePt" dir="t"/>
          </a:scene3d>
          <a:sp3d>
            <a:bevelT/>
          </a:sp3d>
        </p:spPr>
      </p:pic>
      <p:sp>
        <p:nvSpPr>
          <p:cNvPr id="6" name="TextBox 5">
            <a:extLst>
              <a:ext uri="{FF2B5EF4-FFF2-40B4-BE49-F238E27FC236}">
                <a16:creationId xmlns:a16="http://schemas.microsoft.com/office/drawing/2014/main" id="{ECEAB98D-90FC-973F-2635-D7C56A8DF8AF}"/>
              </a:ext>
            </a:extLst>
          </p:cNvPr>
          <p:cNvSpPr txBox="1"/>
          <p:nvPr/>
        </p:nvSpPr>
        <p:spPr>
          <a:xfrm>
            <a:off x="83574" y="825911"/>
            <a:ext cx="7005484" cy="8402300"/>
          </a:xfrm>
          <a:prstGeom prst="rect">
            <a:avLst/>
          </a:prstGeom>
          <a:noFill/>
        </p:spPr>
        <p:txBody>
          <a:bodyPr wrap="square" rtlCol="0">
            <a:spAutoFit/>
          </a:bodyPr>
          <a:lstStyle/>
          <a:p>
            <a:r>
              <a:rPr lang="en-IN" b="1" dirty="0"/>
              <a:t>Observations:</a:t>
            </a:r>
            <a:endParaRPr lang="en-IN" dirty="0"/>
          </a:p>
          <a:p>
            <a:r>
              <a:rPr lang="en-IN" dirty="0"/>
              <a:t>Price vs </a:t>
            </a:r>
            <a:r>
              <a:rPr lang="en-IN" dirty="0" err="1"/>
              <a:t>logPrice</a:t>
            </a:r>
            <a:r>
              <a:rPr lang="en-IN" dirty="0"/>
              <a:t> → 0.92 (Very High)- Log transform preserved price information</a:t>
            </a:r>
          </a:p>
          <a:p>
            <a:endParaRPr lang="en-IN" dirty="0"/>
          </a:p>
          <a:p>
            <a:r>
              <a:rPr lang="en-IN" dirty="0" err="1"/>
              <a:t>ModelYear</a:t>
            </a:r>
            <a:r>
              <a:rPr lang="en-IN" dirty="0"/>
              <a:t> vs Price → 0.43 (Strong Positive) - Newer cars → Higher prices, Depreciation captured clearly &amp; Linear structure present</a:t>
            </a:r>
          </a:p>
          <a:p>
            <a:endParaRPr lang="en-IN" dirty="0"/>
          </a:p>
          <a:p>
            <a:r>
              <a:rPr lang="en-IN" dirty="0" err="1"/>
              <a:t>ModelYear</a:t>
            </a:r>
            <a:r>
              <a:rPr lang="en-IN" dirty="0"/>
              <a:t> vs </a:t>
            </a:r>
            <a:r>
              <a:rPr lang="en-IN" dirty="0" err="1"/>
              <a:t>logPrice</a:t>
            </a:r>
            <a:r>
              <a:rPr lang="en-IN" dirty="0"/>
              <a:t> → 0.57 (Even Stronger) Relationship becomes cleaner after log transform &amp; Variance stabilization improved linearity</a:t>
            </a:r>
          </a:p>
          <a:p>
            <a:endParaRPr lang="en-IN" dirty="0"/>
          </a:p>
          <a:p>
            <a:r>
              <a:rPr lang="en-IN" dirty="0"/>
              <a:t>Kilometer vs </a:t>
            </a:r>
            <a:r>
              <a:rPr lang="en-IN" dirty="0" err="1"/>
              <a:t>ModelYear</a:t>
            </a:r>
            <a:r>
              <a:rPr lang="en-IN" dirty="0"/>
              <a:t> → −0.48 (Strong Negative) Older cars → Higher mileage, indicates feature dependence.</a:t>
            </a:r>
          </a:p>
          <a:p>
            <a:endParaRPr lang="en-IN" dirty="0"/>
          </a:p>
          <a:p>
            <a:r>
              <a:rPr lang="en-IN" dirty="0"/>
              <a:t>Kilometer vs Warranty → −0.43 High mileage cars rarely under warranty, Warranty reflects newer/low-use vehicles</a:t>
            </a:r>
          </a:p>
          <a:p>
            <a:endParaRPr lang="en-IN" dirty="0"/>
          </a:p>
          <a:p>
            <a:r>
              <a:rPr lang="en-IN" dirty="0"/>
              <a:t>Kilometer vs QualityScore → −0.49 (Strong) High mileage → Lower quality ratings, Wear &amp; tear captured. Confirms QualityScore is meaningful.</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351395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4A7799-F7F4-3DEF-0DB8-6244C57BD932}"/>
              </a:ext>
            </a:extLst>
          </p:cNvPr>
          <p:cNvSpPr>
            <a:spLocks noGrp="1"/>
          </p:cNvSpPr>
          <p:nvPr>
            <p:ph idx="1"/>
          </p:nvPr>
        </p:nvSpPr>
        <p:spPr>
          <a:xfrm>
            <a:off x="98323" y="108156"/>
            <a:ext cx="12093677" cy="5631872"/>
          </a:xfrm>
        </p:spPr>
        <p:txBody>
          <a:bodyPr/>
          <a:lstStyle/>
          <a:p>
            <a:r>
              <a:rPr lang="en-IN" dirty="0"/>
              <a:t>QualityScore vs </a:t>
            </a:r>
            <a:r>
              <a:rPr lang="en-IN" dirty="0" err="1"/>
              <a:t>ModelYear</a:t>
            </a:r>
            <a:r>
              <a:rPr lang="en-IN" dirty="0"/>
              <a:t> → 0.64 (Very High) Newer cars → Higher quality ratings, Strong latent </a:t>
            </a:r>
            <a:r>
              <a:rPr lang="en-IN" dirty="0" err="1"/>
              <a:t>relationship,QualityScore</a:t>
            </a:r>
            <a:r>
              <a:rPr lang="en-IN" dirty="0"/>
              <a:t> heavily age-dependent</a:t>
            </a:r>
          </a:p>
          <a:p>
            <a:r>
              <a:rPr lang="en-IN" dirty="0"/>
              <a:t>Warranty vs </a:t>
            </a:r>
            <a:r>
              <a:rPr lang="en-IN" dirty="0" err="1"/>
              <a:t>ModelYear</a:t>
            </a:r>
            <a:r>
              <a:rPr lang="en-IN" dirty="0"/>
              <a:t> → 0.54 (Strong) Warranty strongly tied to vehicle age</a:t>
            </a:r>
          </a:p>
          <a:p>
            <a:r>
              <a:rPr lang="en-IN" dirty="0"/>
              <a:t>Kilometer Weak Direct Correlation With Price (−0.11) Strong indirect effects via QualityScore &amp; Warranty</a:t>
            </a:r>
          </a:p>
          <a:p>
            <a:endParaRPr lang="en-IN" dirty="0"/>
          </a:p>
          <a:p>
            <a:r>
              <a:rPr lang="en-US" dirty="0"/>
              <a:t>The correlation matrix reveals meaningful vehicle lifecycle relationships. </a:t>
            </a:r>
            <a:r>
              <a:rPr lang="en-US" dirty="0" err="1"/>
              <a:t>ModelYear</a:t>
            </a:r>
            <a:r>
              <a:rPr lang="en-US" dirty="0"/>
              <a:t> shows a positive association with Price, confirming depreciation effects. Kilometer exhibits expected negative correlations with </a:t>
            </a:r>
            <a:r>
              <a:rPr lang="en-US" dirty="0" err="1"/>
              <a:t>ModelYear</a:t>
            </a:r>
            <a:r>
              <a:rPr lang="en-US" dirty="0"/>
              <a:t>, Warranty, and </a:t>
            </a:r>
            <a:r>
              <a:rPr lang="en-US" dirty="0" err="1"/>
              <a:t>QualityScore</a:t>
            </a:r>
            <a:r>
              <a:rPr lang="en-US" dirty="0"/>
              <a:t>, reflecting usage and wear dynamics. </a:t>
            </a:r>
            <a:r>
              <a:rPr lang="en-US" dirty="0" err="1"/>
              <a:t>QualityScore</a:t>
            </a:r>
            <a:r>
              <a:rPr lang="en-US" dirty="0"/>
              <a:t> demonstrates a strong correlation with </a:t>
            </a:r>
            <a:r>
              <a:rPr lang="en-US" dirty="0" err="1"/>
              <a:t>ModelYear</a:t>
            </a:r>
            <a:r>
              <a:rPr lang="en-US" dirty="0"/>
              <a:t>, indicating potential multicollinearity. The strong relationship between Price and </a:t>
            </a:r>
            <a:r>
              <a:rPr lang="en-US" dirty="0" err="1"/>
              <a:t>logPrice</a:t>
            </a:r>
            <a:r>
              <a:rPr lang="en-US" dirty="0"/>
              <a:t> validates the appropriateness of logarithmic transformation. These structured dependencies explain the strong performance of linear and kernel-based models and justify the use of regularized regression techniques.</a:t>
            </a:r>
            <a:endParaRPr lang="en-IN" dirty="0"/>
          </a:p>
          <a:p>
            <a:endParaRPr lang="en-IN" dirty="0"/>
          </a:p>
        </p:txBody>
      </p:sp>
    </p:spTree>
    <p:extLst>
      <p:ext uri="{BB962C8B-B14F-4D97-AF65-F5344CB8AC3E}">
        <p14:creationId xmlns:p14="http://schemas.microsoft.com/office/powerpoint/2010/main" val="1562940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99362-BB90-A579-3194-2EC1378588F2}"/>
              </a:ext>
            </a:extLst>
          </p:cNvPr>
          <p:cNvSpPr>
            <a:spLocks noGrp="1"/>
          </p:cNvSpPr>
          <p:nvPr>
            <p:ph type="title"/>
          </p:nvPr>
        </p:nvSpPr>
        <p:spPr>
          <a:xfrm>
            <a:off x="0" y="69956"/>
            <a:ext cx="12192000" cy="857275"/>
          </a:xfrm>
        </p:spPr>
        <p:txBody>
          <a:bodyPr>
            <a:normAutofit fontScale="90000"/>
          </a:bodyPr>
          <a:lstStyle/>
          <a:p>
            <a:r>
              <a:rPr lang="en-US" dirty="0"/>
              <a:t>Categorical features: counts &amp; Price summary (mean/median)</a:t>
            </a:r>
            <a:br>
              <a:rPr lang="en-US" dirty="0"/>
            </a:br>
            <a:endParaRPr lang="en-IN" dirty="0"/>
          </a:p>
        </p:txBody>
      </p:sp>
      <p:sp>
        <p:nvSpPr>
          <p:cNvPr id="3" name="Content Placeholder 2">
            <a:extLst>
              <a:ext uri="{FF2B5EF4-FFF2-40B4-BE49-F238E27FC236}">
                <a16:creationId xmlns:a16="http://schemas.microsoft.com/office/drawing/2014/main" id="{A896E2F8-17EC-1DB7-D5DC-F664BB96DEDA}"/>
              </a:ext>
            </a:extLst>
          </p:cNvPr>
          <p:cNvSpPr>
            <a:spLocks noGrp="1"/>
          </p:cNvSpPr>
          <p:nvPr>
            <p:ph idx="1"/>
          </p:nvPr>
        </p:nvSpPr>
        <p:spPr>
          <a:xfrm>
            <a:off x="-1" y="927232"/>
            <a:ext cx="12064181" cy="5930768"/>
          </a:xfrm>
        </p:spPr>
        <p:txBody>
          <a:bodyPr/>
          <a:lstStyle/>
          <a:p>
            <a:r>
              <a:rPr lang="en-IN" b="1" dirty="0"/>
              <a:t>Observations:</a:t>
            </a:r>
            <a:endParaRPr lang="en-IN" dirty="0"/>
          </a:p>
          <a:p>
            <a:r>
              <a:rPr lang="en-IN" dirty="0"/>
              <a:t>Market Composition Insights</a:t>
            </a:r>
          </a:p>
          <a:p>
            <a:r>
              <a:rPr lang="en-IN" dirty="0"/>
              <a:t>Company Distribution- Dominated by MARUTI SUZUKI (252) HYUNDAI (199) HONDA (126)</a:t>
            </a:r>
          </a:p>
          <a:p>
            <a:r>
              <a:rPr lang="en-IN" dirty="0"/>
              <a:t>Dataset reflects Indian used-car market reality Economy &amp; mid-segment brands dominate Luxury brands mostly absent → price range constrained Price variation driven more by age / condition / segment than luxury effects.</a:t>
            </a:r>
          </a:p>
          <a:p>
            <a:r>
              <a:rPr lang="en-IN" dirty="0"/>
              <a:t>Model Distribution Most Frequent: SWIFT CITY BALENO CRETA</a:t>
            </a:r>
          </a:p>
          <a:p>
            <a:r>
              <a:rPr lang="en-IN" dirty="0"/>
              <a:t>Popular resale vehicles dominate dataset High-liquidity cars → Stable pricing patterns</a:t>
            </a:r>
          </a:p>
          <a:p>
            <a:r>
              <a:rPr lang="en-IN" dirty="0"/>
              <a:t>Fuel Type Economics </a:t>
            </a:r>
            <a:r>
              <a:rPr lang="en-IN" dirty="0" err="1"/>
              <a:t>FuelType</a:t>
            </a:r>
            <a:r>
              <a:rPr lang="en-IN" dirty="0"/>
              <a:t> vs Price PETROL → Mean ~7.07 DIESEL → Mean ~10.86</a:t>
            </a:r>
          </a:p>
          <a:p>
            <a:r>
              <a:rPr lang="en-IN" dirty="0"/>
              <a:t>Diesel cars significantly more expensive, possibly because of Higher original price Preferred for long-distance / utility vehicles Often SUVs &amp; larger engines</a:t>
            </a:r>
          </a:p>
          <a:p>
            <a:r>
              <a:rPr lang="en-IN" dirty="0" err="1"/>
              <a:t>FuelType</a:t>
            </a:r>
            <a:r>
              <a:rPr lang="en-IN" dirty="0"/>
              <a:t> = strong price driver</a:t>
            </a:r>
          </a:p>
          <a:p>
            <a:r>
              <a:rPr lang="en-IN" dirty="0"/>
              <a:t>HYBRID / LPG counts negligible → statistically meaningless.</a:t>
            </a:r>
          </a:p>
          <a:p>
            <a:r>
              <a:rPr lang="en-IN" dirty="0"/>
              <a:t>Body Style = Major Price Separator </a:t>
            </a:r>
            <a:r>
              <a:rPr lang="en-IN" dirty="0" err="1"/>
              <a:t>BodyStyle</a:t>
            </a:r>
            <a:r>
              <a:rPr lang="en-IN" dirty="0"/>
              <a:t> vs Price HATCHBACK → Mean ~5.2 SEDAN → Mean ~8.0 SUV → Mean ~12.2</a:t>
            </a:r>
          </a:p>
          <a:p>
            <a:r>
              <a:rPr lang="en-IN" dirty="0"/>
              <a:t>Strong structural segmentation Hatchbacks = budget segment SUVs = premium segment This is one of the strongest categorical predictors.</a:t>
            </a:r>
          </a:p>
          <a:p>
            <a:endParaRPr lang="en-IN" dirty="0"/>
          </a:p>
        </p:txBody>
      </p:sp>
    </p:spTree>
    <p:extLst>
      <p:ext uri="{BB962C8B-B14F-4D97-AF65-F5344CB8AC3E}">
        <p14:creationId xmlns:p14="http://schemas.microsoft.com/office/powerpoint/2010/main" val="4087373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A0070D-3749-F7BE-F7AB-E03E89FA8C27}"/>
              </a:ext>
            </a:extLst>
          </p:cNvPr>
          <p:cNvSpPr>
            <a:spLocks noGrp="1"/>
          </p:cNvSpPr>
          <p:nvPr>
            <p:ph idx="1"/>
          </p:nvPr>
        </p:nvSpPr>
        <p:spPr>
          <a:xfrm>
            <a:off x="0" y="0"/>
            <a:ext cx="12192000" cy="6858000"/>
          </a:xfrm>
        </p:spPr>
        <p:txBody>
          <a:bodyPr/>
          <a:lstStyle/>
          <a:p>
            <a:r>
              <a:rPr lang="en-IN" dirty="0" err="1"/>
              <a:t>TransmissionType</a:t>
            </a:r>
            <a:r>
              <a:rPr lang="en-IN" dirty="0"/>
              <a:t> = High-Value Signal Manual → Mean ~4.93 Automatic → Mean ~8.98</a:t>
            </a:r>
          </a:p>
          <a:p>
            <a:r>
              <a:rPr lang="en-IN" dirty="0"/>
              <a:t>Automatics priced much higher Reflects buyer preference &amp; original cost Strong pricing determinant</a:t>
            </a:r>
          </a:p>
          <a:p>
            <a:r>
              <a:rPr lang="en-IN" dirty="0"/>
              <a:t>Owner History Effect (Excellent Signal) 1st Owner → Mean ~8.64 2nd Owner → Mean ~6.76</a:t>
            </a:r>
          </a:p>
          <a:p>
            <a:r>
              <a:rPr lang="en-IN" dirty="0"/>
              <a:t>Ownership history impacts resale price Trust &amp; perceived condition effects Realistic &amp; expected</a:t>
            </a:r>
          </a:p>
          <a:p>
            <a:r>
              <a:rPr lang="en-IN" dirty="0"/>
              <a:t>Colour Effect (Weak but Interesting) Black → Mean ~12.4 (High) Black cars often premium variants / SUVs Colour acting as proxy variable Low reliability standalone feature.</a:t>
            </a:r>
          </a:p>
          <a:p>
            <a:r>
              <a:rPr lang="en-IN" dirty="0"/>
              <a:t>Dealer / Location Effects (Very Insightful) Delhi / Rajasthan / Mumbai → Higher means Geographic price variation present Regional demand &amp; supply Urban premium effects Dealer portfolio differences</a:t>
            </a:r>
          </a:p>
          <a:p>
            <a:r>
              <a:rPr lang="en-IN" dirty="0" err="1"/>
              <a:t>DealerName</a:t>
            </a:r>
            <a:r>
              <a:rPr lang="en-IN" dirty="0"/>
              <a:t> vs Price Large variance across dealers. Dangerous feature for </a:t>
            </a:r>
            <a:r>
              <a:rPr lang="en-IN" dirty="0" err="1"/>
              <a:t>generalization.Often</a:t>
            </a:r>
            <a:r>
              <a:rPr lang="en-IN" dirty="0"/>
              <a:t> causes overfitting</a:t>
            </a:r>
          </a:p>
          <a:p>
            <a:r>
              <a:rPr lang="en-IN" dirty="0" err="1"/>
              <a:t>CngKit</a:t>
            </a:r>
            <a:r>
              <a:rPr lang="en-IN" dirty="0"/>
              <a:t> = Statistically Weak Only 22 non-null values. Sparse feature, Low </a:t>
            </a:r>
            <a:r>
              <a:rPr lang="en-IN" dirty="0" err="1"/>
              <a:t>modeling</a:t>
            </a:r>
            <a:r>
              <a:rPr lang="en-IN" dirty="0"/>
              <a:t> value &amp; High noise risk Need to drop this column</a:t>
            </a:r>
          </a:p>
          <a:p>
            <a:r>
              <a:rPr lang="en-IN" dirty="0" err="1"/>
              <a:t>ManufactureDate</a:t>
            </a:r>
            <a:r>
              <a:rPr lang="en-IN" dirty="0"/>
              <a:t> vs Price No clean pattern visible. Redundant with </a:t>
            </a:r>
            <a:r>
              <a:rPr lang="en-IN" dirty="0" err="1"/>
              <a:t>ModelYear</a:t>
            </a:r>
            <a:r>
              <a:rPr lang="en-IN" dirty="0"/>
              <a:t> / CarAge Risk of multicollinearity</a:t>
            </a:r>
          </a:p>
          <a:p>
            <a:r>
              <a:rPr lang="en-IN" dirty="0"/>
              <a:t>Most Valuable Categorical Predictors </a:t>
            </a:r>
            <a:r>
              <a:rPr lang="en-IN" dirty="0" err="1"/>
              <a:t>BodyStyle</a:t>
            </a:r>
            <a:r>
              <a:rPr lang="en-IN" dirty="0"/>
              <a:t> </a:t>
            </a:r>
            <a:r>
              <a:rPr lang="en-IN" dirty="0" err="1"/>
              <a:t>FuelType</a:t>
            </a:r>
            <a:r>
              <a:rPr lang="en-IN" dirty="0"/>
              <a:t> </a:t>
            </a:r>
            <a:r>
              <a:rPr lang="en-IN" dirty="0" err="1"/>
              <a:t>TransmissionType</a:t>
            </a:r>
            <a:r>
              <a:rPr lang="en-IN" dirty="0"/>
              <a:t> (after cleaning) Owner Moderate: Company Model Variant</a:t>
            </a:r>
          </a:p>
          <a:p>
            <a:r>
              <a:rPr lang="en-IN" dirty="0"/>
              <a:t>Low Value / Risky </a:t>
            </a:r>
            <a:r>
              <a:rPr lang="en-IN" dirty="0" err="1"/>
              <a:t>DealerName</a:t>
            </a:r>
            <a:r>
              <a:rPr lang="en-IN" dirty="0"/>
              <a:t> City/ </a:t>
            </a:r>
            <a:r>
              <a:rPr lang="en-IN" dirty="0" err="1"/>
              <a:t>DealerState</a:t>
            </a:r>
            <a:r>
              <a:rPr lang="en-IN" dirty="0"/>
              <a:t> </a:t>
            </a:r>
            <a:r>
              <a:rPr lang="en-IN" dirty="0" err="1"/>
              <a:t>Color</a:t>
            </a:r>
            <a:r>
              <a:rPr lang="en-IN" dirty="0"/>
              <a:t>(weak) </a:t>
            </a:r>
            <a:r>
              <a:rPr lang="en-IN" dirty="0" err="1"/>
              <a:t>ManufactureDate</a:t>
            </a:r>
            <a:r>
              <a:rPr lang="en-IN" dirty="0"/>
              <a:t>(redundant) </a:t>
            </a:r>
            <a:r>
              <a:rPr lang="en-IN" dirty="0" err="1"/>
              <a:t>CngKit</a:t>
            </a:r>
            <a:r>
              <a:rPr lang="en-IN" dirty="0"/>
              <a:t>(sparse)</a:t>
            </a:r>
          </a:p>
          <a:p>
            <a:endParaRPr lang="en-IN" dirty="0"/>
          </a:p>
        </p:txBody>
      </p:sp>
    </p:spTree>
    <p:extLst>
      <p:ext uri="{BB962C8B-B14F-4D97-AF65-F5344CB8AC3E}">
        <p14:creationId xmlns:p14="http://schemas.microsoft.com/office/powerpoint/2010/main" val="513157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C5192-A5AC-BDC4-8135-13D49A5C53AA}"/>
              </a:ext>
            </a:extLst>
          </p:cNvPr>
          <p:cNvSpPr>
            <a:spLocks noGrp="1"/>
          </p:cNvSpPr>
          <p:nvPr>
            <p:ph type="title"/>
          </p:nvPr>
        </p:nvSpPr>
        <p:spPr/>
        <p:txBody>
          <a:bodyPr>
            <a:normAutofit fontScale="90000"/>
          </a:bodyPr>
          <a:lstStyle/>
          <a:p>
            <a:r>
              <a:rPr lang="en-US" dirty="0"/>
              <a:t>Major Data Quality Problems Detected</a:t>
            </a:r>
            <a:br>
              <a:rPr lang="en-US" dirty="0"/>
            </a:br>
            <a:endParaRPr lang="en-IN" dirty="0"/>
          </a:p>
        </p:txBody>
      </p:sp>
      <p:sp>
        <p:nvSpPr>
          <p:cNvPr id="3" name="Content Placeholder 2">
            <a:extLst>
              <a:ext uri="{FF2B5EF4-FFF2-40B4-BE49-F238E27FC236}">
                <a16:creationId xmlns:a16="http://schemas.microsoft.com/office/drawing/2014/main" id="{59DA61E0-B9D6-247D-315D-59C6FF5C72E5}"/>
              </a:ext>
            </a:extLst>
          </p:cNvPr>
          <p:cNvSpPr>
            <a:spLocks noGrp="1"/>
          </p:cNvSpPr>
          <p:nvPr>
            <p:ph idx="1"/>
          </p:nvPr>
        </p:nvSpPr>
        <p:spPr/>
        <p:txBody>
          <a:bodyPr/>
          <a:lstStyle/>
          <a:p>
            <a:r>
              <a:rPr lang="en-IN" dirty="0"/>
              <a:t>This dataset has classic real-world issues: Category duplication (SEDAN vs Sedan) Label inconsistency (Manual / MANUAL / M) Massive missing </a:t>
            </a:r>
            <a:r>
              <a:rPr lang="en-IN" dirty="0" err="1"/>
              <a:t>TransmissionType</a:t>
            </a:r>
            <a:r>
              <a:rPr lang="en-IN" dirty="0"/>
              <a:t> Rare categories with unstable statistics </a:t>
            </a:r>
          </a:p>
          <a:p>
            <a:r>
              <a:rPr lang="en-US" dirty="0"/>
              <a:t>1 — Basic Category Normalization (Fix duplication &amp; casing)</a:t>
            </a:r>
          </a:p>
          <a:p>
            <a:r>
              <a:rPr lang="fr-FR" dirty="0"/>
              <a:t>2 - Fix Label </a:t>
            </a:r>
            <a:r>
              <a:rPr lang="fr-FR" dirty="0" err="1"/>
              <a:t>Inconsistencies</a:t>
            </a:r>
            <a:r>
              <a:rPr lang="fr-FR" dirty="0"/>
              <a:t> (</a:t>
            </a:r>
            <a:r>
              <a:rPr lang="fr-FR" dirty="0" err="1"/>
              <a:t>TransmissionType</a:t>
            </a:r>
            <a:r>
              <a:rPr lang="fr-FR" dirty="0"/>
              <a:t>)</a:t>
            </a:r>
          </a:p>
          <a:p>
            <a:r>
              <a:rPr lang="en-IN" dirty="0"/>
              <a:t>3 — Handle Massive Missing </a:t>
            </a:r>
            <a:r>
              <a:rPr lang="en-IN" dirty="0" err="1"/>
              <a:t>TransmissionType</a:t>
            </a:r>
            <a:endParaRPr lang="en-IN" dirty="0"/>
          </a:p>
          <a:p>
            <a:endParaRPr lang="en-IN" dirty="0"/>
          </a:p>
          <a:p>
            <a:endParaRPr lang="en-IN" dirty="0"/>
          </a:p>
        </p:txBody>
      </p:sp>
    </p:spTree>
    <p:extLst>
      <p:ext uri="{BB962C8B-B14F-4D97-AF65-F5344CB8AC3E}">
        <p14:creationId xmlns:p14="http://schemas.microsoft.com/office/powerpoint/2010/main" val="1543313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E1A26-D1E3-6014-4B86-2D263D2300A0}"/>
              </a:ext>
            </a:extLst>
          </p:cNvPr>
          <p:cNvSpPr>
            <a:spLocks noGrp="1"/>
          </p:cNvSpPr>
          <p:nvPr>
            <p:ph type="title"/>
          </p:nvPr>
        </p:nvSpPr>
        <p:spPr>
          <a:xfrm>
            <a:off x="-68826" y="0"/>
            <a:ext cx="12260826" cy="707923"/>
          </a:xfrm>
        </p:spPr>
        <p:txBody>
          <a:bodyPr>
            <a:normAutofit fontScale="90000"/>
          </a:bodyPr>
          <a:lstStyle/>
          <a:p>
            <a:r>
              <a:rPr lang="en-US" dirty="0"/>
              <a:t>Boxplots / </a:t>
            </a:r>
            <a:r>
              <a:rPr lang="en-US" dirty="0" err="1"/>
              <a:t>violinplots</a:t>
            </a:r>
            <a:r>
              <a:rPr lang="en-US" dirty="0"/>
              <a:t> for important categories</a:t>
            </a:r>
            <a:br>
              <a:rPr lang="en-US" dirty="0"/>
            </a:br>
            <a:endParaRPr lang="en-IN" dirty="0"/>
          </a:p>
        </p:txBody>
      </p:sp>
      <p:pic>
        <p:nvPicPr>
          <p:cNvPr id="5" name="Content Placeholder 4">
            <a:extLst>
              <a:ext uri="{FF2B5EF4-FFF2-40B4-BE49-F238E27FC236}">
                <a16:creationId xmlns:a16="http://schemas.microsoft.com/office/drawing/2014/main" id="{5B33F89C-DFB9-8B00-E5CB-133072C59C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07923"/>
            <a:ext cx="6272981" cy="3101975"/>
          </a:xfrm>
          <a:prstGeom prst="rect">
            <a:avLst/>
          </a:prstGeom>
          <a:scene3d>
            <a:camera prst="orthographicFront"/>
            <a:lightRig rig="threePt" dir="t"/>
          </a:scene3d>
          <a:sp3d>
            <a:bevelT/>
          </a:sp3d>
        </p:spPr>
      </p:pic>
      <p:pic>
        <p:nvPicPr>
          <p:cNvPr id="7" name="Picture 6">
            <a:extLst>
              <a:ext uri="{FF2B5EF4-FFF2-40B4-BE49-F238E27FC236}">
                <a16:creationId xmlns:a16="http://schemas.microsoft.com/office/drawing/2014/main" id="{A1B47745-76C9-0CCA-80E2-B110F206E4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2982" y="707923"/>
            <a:ext cx="5919018" cy="3101975"/>
          </a:xfrm>
          <a:prstGeom prst="rect">
            <a:avLst/>
          </a:prstGeom>
          <a:scene3d>
            <a:camera prst="orthographicFront"/>
            <a:lightRig rig="threePt" dir="t"/>
          </a:scene3d>
          <a:sp3d>
            <a:bevelT/>
          </a:sp3d>
        </p:spPr>
      </p:pic>
      <p:pic>
        <p:nvPicPr>
          <p:cNvPr id="9" name="Picture 8">
            <a:extLst>
              <a:ext uri="{FF2B5EF4-FFF2-40B4-BE49-F238E27FC236}">
                <a16:creationId xmlns:a16="http://schemas.microsoft.com/office/drawing/2014/main" id="{A478B836-462E-7084-A547-11A3143B29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609" y="3824544"/>
            <a:ext cx="6239372" cy="3033456"/>
          </a:xfrm>
          <a:prstGeom prst="rect">
            <a:avLst/>
          </a:prstGeom>
          <a:scene3d>
            <a:camera prst="orthographicFront"/>
            <a:lightRig rig="threePt" dir="t"/>
          </a:scene3d>
          <a:sp3d>
            <a:bevelT/>
          </a:sp3d>
        </p:spPr>
      </p:pic>
      <p:pic>
        <p:nvPicPr>
          <p:cNvPr id="11" name="Picture 10">
            <a:extLst>
              <a:ext uri="{FF2B5EF4-FFF2-40B4-BE49-F238E27FC236}">
                <a16:creationId xmlns:a16="http://schemas.microsoft.com/office/drawing/2014/main" id="{D7769F5C-0C94-1667-062C-C6CCD69813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2981" y="3824545"/>
            <a:ext cx="5885410" cy="3033456"/>
          </a:xfrm>
          <a:prstGeom prst="rect">
            <a:avLst/>
          </a:prstGeom>
          <a:scene3d>
            <a:camera prst="orthographicFront"/>
            <a:lightRig rig="threePt" dir="t"/>
          </a:scene3d>
          <a:sp3d>
            <a:bevelT/>
          </a:sp3d>
        </p:spPr>
      </p:pic>
    </p:spTree>
    <p:extLst>
      <p:ext uri="{BB962C8B-B14F-4D97-AF65-F5344CB8AC3E}">
        <p14:creationId xmlns:p14="http://schemas.microsoft.com/office/powerpoint/2010/main" val="339976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C6C7CEE-B88D-AB7F-9E71-40C83273E9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1870"/>
            <a:ext cx="6272981" cy="3211768"/>
          </a:xfrm>
          <a:prstGeom prst="rect">
            <a:avLst/>
          </a:prstGeom>
          <a:scene3d>
            <a:camera prst="orthographicFront"/>
            <a:lightRig rig="threePt" dir="t"/>
          </a:scene3d>
          <a:sp3d>
            <a:bevelT/>
          </a:sp3d>
        </p:spPr>
      </p:pic>
      <p:pic>
        <p:nvPicPr>
          <p:cNvPr id="9" name="Picture 8">
            <a:extLst>
              <a:ext uri="{FF2B5EF4-FFF2-40B4-BE49-F238E27FC236}">
                <a16:creationId xmlns:a16="http://schemas.microsoft.com/office/drawing/2014/main" id="{E27FA124-4FFE-5814-79E4-EBCB10B39B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2981" y="-1"/>
            <a:ext cx="5919019" cy="3303639"/>
          </a:xfrm>
          <a:prstGeom prst="rect">
            <a:avLst/>
          </a:prstGeom>
          <a:scene3d>
            <a:camera prst="orthographicFront"/>
            <a:lightRig rig="threePt" dir="t"/>
          </a:scene3d>
          <a:sp3d>
            <a:bevelT/>
          </a:sp3d>
        </p:spPr>
      </p:pic>
      <p:sp>
        <p:nvSpPr>
          <p:cNvPr id="10" name="TextBox 9">
            <a:extLst>
              <a:ext uri="{FF2B5EF4-FFF2-40B4-BE49-F238E27FC236}">
                <a16:creationId xmlns:a16="http://schemas.microsoft.com/office/drawing/2014/main" id="{DCD910D6-179C-22BA-7A9C-3190865E436C}"/>
              </a:ext>
            </a:extLst>
          </p:cNvPr>
          <p:cNvSpPr txBox="1"/>
          <p:nvPr/>
        </p:nvSpPr>
        <p:spPr>
          <a:xfrm>
            <a:off x="0" y="3303638"/>
            <a:ext cx="12192000" cy="2308324"/>
          </a:xfrm>
          <a:prstGeom prst="rect">
            <a:avLst/>
          </a:prstGeom>
          <a:noFill/>
        </p:spPr>
        <p:txBody>
          <a:bodyPr wrap="square" rtlCol="0">
            <a:spAutoFit/>
          </a:bodyPr>
          <a:lstStyle/>
          <a:p>
            <a:endParaRPr lang="en-IN" b="1" dirty="0"/>
          </a:p>
          <a:p>
            <a:r>
              <a:rPr lang="en-IN" b="1" dirty="0"/>
              <a:t>Observations:</a:t>
            </a:r>
            <a:endParaRPr lang="en-IN" dirty="0"/>
          </a:p>
          <a:p>
            <a:r>
              <a:rPr lang="en-IN" dirty="0"/>
              <a:t>Price by Company — Strong Segmentation Visible</a:t>
            </a:r>
          </a:p>
          <a:p>
            <a:r>
              <a:rPr lang="en-IN" dirty="0"/>
              <a:t>Premium brands (MERCEDES BENZ, BMW, VOLVO, TOYOTA) show higher median prices Mass-market brands (MARUTI SUZUKI, HYUNDAI, HONDA, TATA) cluster lower Large spread within some brands (TOYOTA, MAHINDRA)</a:t>
            </a:r>
          </a:p>
          <a:p>
            <a:r>
              <a:rPr lang="en-IN" dirty="0"/>
              <a:t>Brand acts as a proxy for vehicle segment</a:t>
            </a:r>
          </a:p>
          <a:p>
            <a:r>
              <a:rPr lang="en-IN" dirty="0"/>
              <a:t>Company is useful, but variance within brand suggests other features dominate price</a:t>
            </a:r>
          </a:p>
          <a:p>
            <a:endParaRPr lang="en-IN" dirty="0"/>
          </a:p>
        </p:txBody>
      </p:sp>
    </p:spTree>
    <p:extLst>
      <p:ext uri="{BB962C8B-B14F-4D97-AF65-F5344CB8AC3E}">
        <p14:creationId xmlns:p14="http://schemas.microsoft.com/office/powerpoint/2010/main" val="3182064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332E61-1A99-693E-F544-D1D4D7716190}"/>
              </a:ext>
            </a:extLst>
          </p:cNvPr>
          <p:cNvSpPr>
            <a:spLocks noGrp="1"/>
          </p:cNvSpPr>
          <p:nvPr>
            <p:ph idx="1"/>
          </p:nvPr>
        </p:nvSpPr>
        <p:spPr>
          <a:xfrm>
            <a:off x="98323" y="137652"/>
            <a:ext cx="12005187" cy="5602375"/>
          </a:xfrm>
        </p:spPr>
        <p:txBody>
          <a:bodyPr>
            <a:normAutofit/>
          </a:bodyPr>
          <a:lstStyle/>
          <a:p>
            <a:r>
              <a:rPr lang="en-US" dirty="0"/>
              <a:t>Price by </a:t>
            </a:r>
            <a:r>
              <a:rPr lang="en-US" dirty="0" err="1"/>
              <a:t>FuelType</a:t>
            </a:r>
            <a:r>
              <a:rPr lang="en-US" dirty="0"/>
              <a:t> — Clear Economic Pattern</a:t>
            </a:r>
          </a:p>
          <a:p>
            <a:r>
              <a:rPr lang="en-US" dirty="0"/>
              <a:t>DIESEL cars priced noticeably higher than PETROL CNG &amp; LPG mostly low-price cluster Extreme outlier present (very high price)</a:t>
            </a:r>
          </a:p>
          <a:p>
            <a:r>
              <a:rPr lang="en-US" dirty="0" err="1"/>
              <a:t>FuelType</a:t>
            </a:r>
            <a:r>
              <a:rPr lang="en-US" dirty="0"/>
              <a:t> strongly linked to vehicle class &amp; usage profile </a:t>
            </a:r>
            <a:r>
              <a:rPr lang="en-US" dirty="0" err="1"/>
              <a:t>FuelType</a:t>
            </a:r>
            <a:r>
              <a:rPr lang="en-US" dirty="0"/>
              <a:t> = high-importance categorical predictor</a:t>
            </a:r>
          </a:p>
          <a:p>
            <a:r>
              <a:rPr lang="en-US" dirty="0"/>
              <a:t>Price by </a:t>
            </a:r>
            <a:r>
              <a:rPr lang="en-US" dirty="0" err="1"/>
              <a:t>TransmissionType</a:t>
            </a:r>
            <a:r>
              <a:rPr lang="en-US" dirty="0"/>
              <a:t> — Data Quality Issue Detected</a:t>
            </a:r>
          </a:p>
          <a:p>
            <a:r>
              <a:rPr lang="en-US" dirty="0"/>
              <a:t>AUTOMATIC vs Automatic treated as different Manual vs MANUAL vs M separated</a:t>
            </a:r>
          </a:p>
          <a:p>
            <a:r>
              <a:rPr lang="en-US" dirty="0"/>
              <a:t>Price by </a:t>
            </a:r>
            <a:r>
              <a:rPr lang="en-US" dirty="0" err="1"/>
              <a:t>BodyStyle</a:t>
            </a:r>
            <a:r>
              <a:rPr lang="en-US" dirty="0"/>
              <a:t> — One of the Strongest Drivers</a:t>
            </a:r>
          </a:p>
          <a:p>
            <a:r>
              <a:rPr lang="en-US" dirty="0"/>
              <a:t>SUVs &amp; MPVs dominate upper price range Hatchbacks clearly lowest cluster Sedans intermediate Duplicate categories visible (SEDAN vs Sedan, SUV repeated) </a:t>
            </a:r>
            <a:r>
              <a:rPr lang="en-US" dirty="0" err="1"/>
              <a:t>BodyStyle</a:t>
            </a:r>
            <a:r>
              <a:rPr lang="en-US" dirty="0"/>
              <a:t> = structural price determinant</a:t>
            </a:r>
          </a:p>
          <a:p>
            <a:r>
              <a:rPr lang="en-US" dirty="0"/>
              <a:t>Price by Owner — Clear Resale Psychology</a:t>
            </a:r>
          </a:p>
          <a:p>
            <a:r>
              <a:rPr lang="en-US" dirty="0"/>
              <a:t>1st Owner cars priced higher 2nd Owner lower median 3rd / 4th Owner sparse &amp; unstable Ownership history influences buyer trust &amp; perceived condition</a:t>
            </a:r>
          </a:p>
          <a:p>
            <a:r>
              <a:rPr lang="en-US" dirty="0"/>
              <a:t>Initial model instability was largely driven by real-world data quality issues — inconsistent categorical labels and rare category noise. After systematic normalization and rare-category handling, feature relationships became statistically coherent, improving generalization</a:t>
            </a:r>
          </a:p>
          <a:p>
            <a:endParaRPr lang="en-IN" dirty="0"/>
          </a:p>
        </p:txBody>
      </p:sp>
    </p:spTree>
    <p:extLst>
      <p:ext uri="{BB962C8B-B14F-4D97-AF65-F5344CB8AC3E}">
        <p14:creationId xmlns:p14="http://schemas.microsoft.com/office/powerpoint/2010/main" val="622718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58C44-1B90-60E3-DCB5-259655315508}"/>
              </a:ext>
            </a:extLst>
          </p:cNvPr>
          <p:cNvSpPr>
            <a:spLocks noGrp="1"/>
          </p:cNvSpPr>
          <p:nvPr>
            <p:ph type="title"/>
          </p:nvPr>
        </p:nvSpPr>
        <p:spPr>
          <a:xfrm>
            <a:off x="127819" y="0"/>
            <a:ext cx="12064180" cy="589935"/>
          </a:xfrm>
        </p:spPr>
        <p:txBody>
          <a:bodyPr>
            <a:normAutofit fontScale="90000"/>
          </a:bodyPr>
          <a:lstStyle/>
          <a:p>
            <a:br>
              <a:rPr lang="en-US" dirty="0"/>
            </a:br>
            <a:r>
              <a:rPr lang="en-US" dirty="0"/>
              <a:t>Price vs Kilometer &amp; Car-Age with trendlines</a:t>
            </a:r>
            <a:br>
              <a:rPr lang="en-US" dirty="0"/>
            </a:br>
            <a:endParaRPr lang="en-IN" dirty="0"/>
          </a:p>
        </p:txBody>
      </p:sp>
      <p:pic>
        <p:nvPicPr>
          <p:cNvPr id="5" name="Content Placeholder 4">
            <a:extLst>
              <a:ext uri="{FF2B5EF4-FFF2-40B4-BE49-F238E27FC236}">
                <a16:creationId xmlns:a16="http://schemas.microsoft.com/office/drawing/2014/main" id="{BA0119B0-E520-9C51-E8DD-6DF3DCC073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817" y="589936"/>
            <a:ext cx="6223818" cy="2635046"/>
          </a:xfrm>
          <a:prstGeom prst="rect">
            <a:avLst/>
          </a:prstGeom>
          <a:scene3d>
            <a:camera prst="orthographicFront"/>
            <a:lightRig rig="threePt" dir="t"/>
          </a:scene3d>
          <a:sp3d>
            <a:bevelT/>
          </a:sp3d>
        </p:spPr>
      </p:pic>
      <p:pic>
        <p:nvPicPr>
          <p:cNvPr id="7" name="Picture 6">
            <a:extLst>
              <a:ext uri="{FF2B5EF4-FFF2-40B4-BE49-F238E27FC236}">
                <a16:creationId xmlns:a16="http://schemas.microsoft.com/office/drawing/2014/main" id="{6AB2EB3C-D0DE-BCF6-FC85-45C11A7903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3820" y="589935"/>
            <a:ext cx="5968180" cy="2635047"/>
          </a:xfrm>
          <a:prstGeom prst="rect">
            <a:avLst/>
          </a:prstGeom>
          <a:scene3d>
            <a:camera prst="orthographicFront"/>
            <a:lightRig rig="threePt" dir="t"/>
          </a:scene3d>
          <a:sp3d>
            <a:bevelT/>
          </a:sp3d>
        </p:spPr>
      </p:pic>
      <p:sp>
        <p:nvSpPr>
          <p:cNvPr id="8" name="TextBox 7">
            <a:extLst>
              <a:ext uri="{FF2B5EF4-FFF2-40B4-BE49-F238E27FC236}">
                <a16:creationId xmlns:a16="http://schemas.microsoft.com/office/drawing/2014/main" id="{C1519D85-826D-5B44-BB8F-1216AC848FBE}"/>
              </a:ext>
            </a:extLst>
          </p:cNvPr>
          <p:cNvSpPr txBox="1"/>
          <p:nvPr/>
        </p:nvSpPr>
        <p:spPr>
          <a:xfrm flipH="1">
            <a:off x="54076" y="3224982"/>
            <a:ext cx="12137922" cy="3970318"/>
          </a:xfrm>
          <a:prstGeom prst="rect">
            <a:avLst/>
          </a:prstGeom>
          <a:noFill/>
        </p:spPr>
        <p:txBody>
          <a:bodyPr wrap="square" rtlCol="0">
            <a:spAutoFit/>
          </a:bodyPr>
          <a:lstStyle/>
          <a:p>
            <a:r>
              <a:rPr lang="en-US" b="1" dirty="0"/>
              <a:t>Observations:</a:t>
            </a:r>
            <a:endParaRPr lang="en-US" dirty="0"/>
          </a:p>
          <a:p>
            <a:r>
              <a:rPr lang="en-US" dirty="0"/>
              <a:t>Kilometer vs Price with LOWESS Shape of Relationship → Non-linear &amp; Weak Initial downward slope → price drops as mileage increases Curve flattens quickly → effect diminishes Very high mileage → slight instability due to few samples Mileage has diminishing impact on price Low mileage → strong buyer sensitivity Moderate mileage → already “used”, impact stabilizes Very high mileage → dominated by other factors (age, brand, condition)</a:t>
            </a:r>
          </a:p>
          <a:p>
            <a:r>
              <a:rPr lang="en-US" dirty="0"/>
              <a:t>Relationship NOT linear LOWESS shows hidden structure missed by Pearson correlation</a:t>
            </a:r>
          </a:p>
          <a:p>
            <a:r>
              <a:rPr lang="en-US" dirty="0" err="1"/>
              <a:t>CarAge</a:t>
            </a:r>
            <a:r>
              <a:rPr lang="en-US" dirty="0"/>
              <a:t> vs Price with LOWESS Shape → Strong, Smooth Downward Trend Clear monotonic decline No flattening → continuous depreciation Very stable pattern across age range </a:t>
            </a:r>
            <a:r>
              <a:rPr lang="en-US" dirty="0" err="1"/>
              <a:t>CarAge</a:t>
            </a:r>
            <a:r>
              <a:rPr lang="en-US" dirty="0"/>
              <a:t> is one of the strongest price drivers as it captures Depreciation </a:t>
            </a:r>
            <a:r>
              <a:rPr lang="en-US" dirty="0" err="1"/>
              <a:t>mechanics,Technology</a:t>
            </a:r>
            <a:r>
              <a:rPr lang="en-US" dirty="0"/>
              <a:t> obsolescence, Warranty decay and Buyer perception of reliability</a:t>
            </a:r>
          </a:p>
          <a:p>
            <a:r>
              <a:rPr lang="en-US" dirty="0"/>
              <a:t>The LOWESS analysis reveals contrasting effects of vehicle usage and age on resale prices. Kilometer exhibits a diminishing non-linear relationship with Price, indicating reduced marginal impact at higher mileage levels. In contrast, </a:t>
            </a:r>
            <a:r>
              <a:rPr lang="en-US" dirty="0" err="1"/>
              <a:t>CarAge</a:t>
            </a:r>
            <a:r>
              <a:rPr lang="en-US" dirty="0"/>
              <a:t> demonstrates a strong, stable monotonic decline with Price, confirming that age-driven depreciation is a dominant valuation factor. This explains the superior performance of linear models and highlights the importance of temporal features in used-car price prediction</a:t>
            </a:r>
          </a:p>
          <a:p>
            <a:endParaRPr lang="en-US" dirty="0"/>
          </a:p>
        </p:txBody>
      </p:sp>
    </p:spTree>
    <p:extLst>
      <p:ext uri="{BB962C8B-B14F-4D97-AF65-F5344CB8AC3E}">
        <p14:creationId xmlns:p14="http://schemas.microsoft.com/office/powerpoint/2010/main" val="2839649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6DAA5-DE8C-AC5A-8978-45E9ED33BDF8}"/>
              </a:ext>
            </a:extLst>
          </p:cNvPr>
          <p:cNvSpPr>
            <a:spLocks noGrp="1"/>
          </p:cNvSpPr>
          <p:nvPr>
            <p:ph type="title"/>
          </p:nvPr>
        </p:nvSpPr>
        <p:spPr>
          <a:xfrm>
            <a:off x="147484" y="69956"/>
            <a:ext cx="12044516" cy="1048017"/>
          </a:xfrm>
        </p:spPr>
        <p:txBody>
          <a:bodyPr>
            <a:normAutofit fontScale="90000"/>
          </a:bodyPr>
          <a:lstStyle/>
          <a:p>
            <a:br>
              <a:rPr lang="en-US" dirty="0"/>
            </a:br>
            <a:r>
              <a:rPr lang="en-US" dirty="0"/>
              <a:t>Categorical encoding effect: Price means for categories (bar plot)</a:t>
            </a:r>
            <a:br>
              <a:rPr lang="en-US" dirty="0"/>
            </a:br>
            <a:endParaRPr lang="en-IN" dirty="0"/>
          </a:p>
        </p:txBody>
      </p:sp>
      <p:pic>
        <p:nvPicPr>
          <p:cNvPr id="5" name="Content Placeholder 4">
            <a:extLst>
              <a:ext uri="{FF2B5EF4-FFF2-40B4-BE49-F238E27FC236}">
                <a16:creationId xmlns:a16="http://schemas.microsoft.com/office/drawing/2014/main" id="{DDCA9D82-2D80-9476-5425-A34902138D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484" y="1117973"/>
            <a:ext cx="12044516" cy="3101975"/>
          </a:xfrm>
          <a:prstGeom prst="rect">
            <a:avLst/>
          </a:prstGeom>
          <a:scene3d>
            <a:camera prst="orthographicFront"/>
            <a:lightRig rig="threePt" dir="t"/>
          </a:scene3d>
          <a:sp3d>
            <a:bevelT/>
          </a:sp3d>
        </p:spPr>
      </p:pic>
      <p:sp>
        <p:nvSpPr>
          <p:cNvPr id="6" name="TextBox 5">
            <a:extLst>
              <a:ext uri="{FF2B5EF4-FFF2-40B4-BE49-F238E27FC236}">
                <a16:creationId xmlns:a16="http://schemas.microsoft.com/office/drawing/2014/main" id="{910266E2-3273-AA11-7B5E-F56686413EFA}"/>
              </a:ext>
            </a:extLst>
          </p:cNvPr>
          <p:cNvSpPr txBox="1"/>
          <p:nvPr/>
        </p:nvSpPr>
        <p:spPr>
          <a:xfrm>
            <a:off x="103238" y="4219948"/>
            <a:ext cx="12088762" cy="2585323"/>
          </a:xfrm>
          <a:prstGeom prst="rect">
            <a:avLst/>
          </a:prstGeom>
          <a:noFill/>
        </p:spPr>
        <p:txBody>
          <a:bodyPr wrap="square" rtlCol="0">
            <a:spAutoFit/>
          </a:bodyPr>
          <a:lstStyle/>
          <a:p>
            <a:r>
              <a:rPr lang="en-IN" b="1" dirty="0"/>
              <a:t>Observations:</a:t>
            </a:r>
            <a:endParaRPr lang="en-IN" dirty="0"/>
          </a:p>
          <a:p>
            <a:r>
              <a:rPr lang="en-IN" dirty="0"/>
              <a:t>Strong Brand-Based Price Segmentation KIA, JEEP, TOYOTA → Highest average prices (~15 Lakhs) SKODA, MAHINDRA → Mid-to-high segment MARUTI SUZUKI, RENAULT → Lowest averages</a:t>
            </a:r>
          </a:p>
          <a:p>
            <a:r>
              <a:rPr lang="en-IN" dirty="0"/>
              <a:t>Used-car prices strongly cluster by manufacturer positioning Original vehicle segment (premium vs budget) Brand perception &amp; resale strength Product mix (SUV-heavy vs hatchback-heavy)</a:t>
            </a:r>
          </a:p>
          <a:p>
            <a:r>
              <a:rPr lang="en-US" dirty="0"/>
              <a:t>Average Price ≠ Luxury Brand Only (Important) TOYOTA ranks very high Not traditionally a “luxury brand” High average price driven by vehicle mix, not brand prestige alone</a:t>
            </a:r>
          </a:p>
          <a:p>
            <a:br>
              <a:rPr lang="en-US" dirty="0"/>
            </a:br>
            <a:endParaRPr lang="en-IN" dirty="0"/>
          </a:p>
        </p:txBody>
      </p:sp>
    </p:spTree>
    <p:extLst>
      <p:ext uri="{BB962C8B-B14F-4D97-AF65-F5344CB8AC3E}">
        <p14:creationId xmlns:p14="http://schemas.microsoft.com/office/powerpoint/2010/main" val="3501493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E5D355-E9EC-E8B1-4A20-92B514265DF1}"/>
              </a:ext>
            </a:extLst>
          </p:cNvPr>
          <p:cNvSpPr>
            <a:spLocks noGrp="1"/>
          </p:cNvSpPr>
          <p:nvPr>
            <p:ph idx="1"/>
          </p:nvPr>
        </p:nvSpPr>
        <p:spPr>
          <a:xfrm>
            <a:off x="0" y="0"/>
            <a:ext cx="12192000" cy="6858000"/>
          </a:xfrm>
        </p:spPr>
        <p:txBody>
          <a:bodyPr/>
          <a:lstStyle/>
          <a:p>
            <a:r>
              <a:rPr lang="en-US" dirty="0"/>
              <a:t>Hidden Statistical Caveat Average prices can be misleading without dispersion context. Brands with few expensive outliers → inflated mean Wide price ranges within brands Better metric will be Median and Boxplots</a:t>
            </a:r>
          </a:p>
          <a:p>
            <a:r>
              <a:rPr lang="en-US" dirty="0"/>
              <a:t>Depreciation &amp; Retention Behavior Higher average price brands often indicate: Better resale retention Slower depreciation curves</a:t>
            </a:r>
          </a:p>
          <a:p>
            <a:r>
              <a:rPr lang="en-US" dirty="0"/>
              <a:t>Lower average brands: Faster depreciation Budget segment saturation</a:t>
            </a:r>
          </a:p>
          <a:p>
            <a:r>
              <a:rPr lang="en-US" dirty="0"/>
              <a:t>Modeling Interpretation This chart implies: Company feature is meaningful But NOT sufficient alone</a:t>
            </a:r>
          </a:p>
          <a:p>
            <a:r>
              <a:rPr lang="en-US" dirty="0"/>
              <a:t>Because:</a:t>
            </a:r>
          </a:p>
          <a:p>
            <a:r>
              <a:rPr lang="en-US" dirty="0"/>
              <a:t>Significant overlap across brands Price influenced by </a:t>
            </a:r>
            <a:r>
              <a:rPr lang="en-US" dirty="0" err="1"/>
              <a:t>BodyStyle</a:t>
            </a:r>
            <a:r>
              <a:rPr lang="en-US" dirty="0"/>
              <a:t>, Age, </a:t>
            </a:r>
            <a:r>
              <a:rPr lang="en-US" dirty="0" err="1"/>
              <a:t>QualityScore</a:t>
            </a:r>
            <a:endParaRPr lang="en-US" dirty="0"/>
          </a:p>
          <a:p>
            <a:r>
              <a:rPr lang="en-US" dirty="0"/>
              <a:t>The average price analysis reveals clear manufacturer-level price stratification. Brands such as KIA, JEEP, and TOYOTA occupy the higher price spectrum, largely reflecting vehicle segment composition rather than brand prestige alone. Budget-focused manufacturers such as MARUTI SUZUKI and RENAULT exhibit lower average resale values. However, average price variations must be interpreted cautiously due to potential skewness and within-brand price dispersion.</a:t>
            </a:r>
          </a:p>
          <a:p>
            <a:endParaRPr lang="en-IN" dirty="0"/>
          </a:p>
        </p:txBody>
      </p:sp>
    </p:spTree>
    <p:extLst>
      <p:ext uri="{BB962C8B-B14F-4D97-AF65-F5344CB8AC3E}">
        <p14:creationId xmlns:p14="http://schemas.microsoft.com/office/powerpoint/2010/main" val="168858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23B89-7266-ABE5-8BB3-9F1811D7C958}"/>
              </a:ext>
            </a:extLst>
          </p:cNvPr>
          <p:cNvSpPr>
            <a:spLocks noGrp="1"/>
          </p:cNvSpPr>
          <p:nvPr>
            <p:ph type="title"/>
          </p:nvPr>
        </p:nvSpPr>
        <p:spPr>
          <a:xfrm>
            <a:off x="68826" y="99454"/>
            <a:ext cx="11985521" cy="923101"/>
          </a:xfrm>
        </p:spPr>
        <p:txBody>
          <a:bodyPr>
            <a:normAutofit fontScale="90000"/>
          </a:bodyPr>
          <a:lstStyle/>
          <a:p>
            <a:r>
              <a:rPr lang="en-IN" dirty="0"/>
              <a:t>Missing value visualization</a:t>
            </a:r>
            <a:br>
              <a:rPr lang="en-IN" dirty="0"/>
            </a:br>
            <a:endParaRPr lang="en-IN" dirty="0"/>
          </a:p>
        </p:txBody>
      </p:sp>
      <p:pic>
        <p:nvPicPr>
          <p:cNvPr id="5" name="Content Placeholder 4">
            <a:extLst>
              <a:ext uri="{FF2B5EF4-FFF2-40B4-BE49-F238E27FC236}">
                <a16:creationId xmlns:a16="http://schemas.microsoft.com/office/drawing/2014/main" id="{C2B39B5C-A15D-6763-B87B-4A66FFB4B8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38683" y="1022555"/>
            <a:ext cx="6115664" cy="4847303"/>
          </a:xfrm>
          <a:prstGeom prst="rect">
            <a:avLst/>
          </a:prstGeom>
          <a:scene3d>
            <a:camera prst="orthographicFront"/>
            <a:lightRig rig="threePt" dir="t"/>
          </a:scene3d>
          <a:sp3d>
            <a:bevelT/>
          </a:sp3d>
        </p:spPr>
      </p:pic>
      <p:sp>
        <p:nvSpPr>
          <p:cNvPr id="6" name="TextBox 5">
            <a:extLst>
              <a:ext uri="{FF2B5EF4-FFF2-40B4-BE49-F238E27FC236}">
                <a16:creationId xmlns:a16="http://schemas.microsoft.com/office/drawing/2014/main" id="{8C05C781-F990-6A87-EF4D-826696AA8CD1}"/>
              </a:ext>
            </a:extLst>
          </p:cNvPr>
          <p:cNvSpPr txBox="1"/>
          <p:nvPr/>
        </p:nvSpPr>
        <p:spPr>
          <a:xfrm>
            <a:off x="78657" y="1022555"/>
            <a:ext cx="5860026" cy="5632311"/>
          </a:xfrm>
          <a:prstGeom prst="rect">
            <a:avLst/>
          </a:prstGeom>
          <a:noFill/>
        </p:spPr>
        <p:txBody>
          <a:bodyPr wrap="square" rtlCol="0">
            <a:spAutoFit/>
          </a:bodyPr>
          <a:lstStyle/>
          <a:p>
            <a:r>
              <a:rPr lang="en-US" b="1" dirty="0"/>
              <a:t>Observations:</a:t>
            </a:r>
            <a:endParaRPr lang="en-US" dirty="0"/>
          </a:p>
          <a:p>
            <a:r>
              <a:rPr lang="en-US" dirty="0"/>
              <a:t>1️) Missingness is Highly Concentrated Most columns are solid (no gaps), but: </a:t>
            </a:r>
            <a:r>
              <a:rPr lang="en-US" dirty="0" err="1"/>
              <a:t>TransmissionType</a:t>
            </a:r>
            <a:r>
              <a:rPr lang="en-US" dirty="0"/>
              <a:t> → heavy missingness </a:t>
            </a:r>
            <a:r>
              <a:rPr lang="en-US" dirty="0" err="1"/>
              <a:t>CngKit</a:t>
            </a:r>
            <a:r>
              <a:rPr lang="en-US" dirty="0"/>
              <a:t> → almost entirely missing Other features → nearly complete Missing data is column-specific, not row-wise failure.</a:t>
            </a:r>
          </a:p>
          <a:p>
            <a:r>
              <a:rPr lang="en-US" dirty="0" err="1"/>
              <a:t>TransmissionType</a:t>
            </a:r>
            <a:r>
              <a:rPr lang="en-US" dirty="0"/>
              <a:t> Missingness Pattern Clearly visible vertical streaks. Majority of rows lack transmission info Likely real-world scraping / listing issue Missing values contain information</a:t>
            </a:r>
          </a:p>
          <a:p>
            <a:r>
              <a:rPr lang="en-US" dirty="0"/>
              <a:t>The missing values analysis reveals that data gaps are feature-specific rather than record-specific. </a:t>
            </a:r>
            <a:r>
              <a:rPr lang="en-US" dirty="0" err="1"/>
              <a:t>TransmissionType</a:t>
            </a:r>
            <a:r>
              <a:rPr lang="en-US" dirty="0"/>
              <a:t> exhibits substantial missingness, likely due to inconsistent seller disclosures, while </a:t>
            </a:r>
            <a:r>
              <a:rPr lang="en-US" dirty="0" err="1"/>
              <a:t>CngKit</a:t>
            </a:r>
            <a:r>
              <a:rPr lang="en-US" dirty="0"/>
              <a:t> is largely absent, indicating low feature utility. Since missingness is concentrated and not random across rows, selective imputation strategies were adopted. </a:t>
            </a:r>
            <a:r>
              <a:rPr lang="en-US" dirty="0" err="1"/>
              <a:t>TransmissionType</a:t>
            </a:r>
            <a:r>
              <a:rPr lang="en-US" dirty="0"/>
              <a:t> was encoded using an informative "UNKNOWN" category to preserve latent signal, whereas </a:t>
            </a:r>
            <a:r>
              <a:rPr lang="en-US" dirty="0" err="1"/>
              <a:t>CngKit</a:t>
            </a:r>
            <a:r>
              <a:rPr lang="en-US" dirty="0"/>
              <a:t> was removed to avoid noise amplification.</a:t>
            </a:r>
          </a:p>
        </p:txBody>
      </p:sp>
    </p:spTree>
    <p:extLst>
      <p:ext uri="{BB962C8B-B14F-4D97-AF65-F5344CB8AC3E}">
        <p14:creationId xmlns:p14="http://schemas.microsoft.com/office/powerpoint/2010/main" val="1145759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1D21A-5684-B21A-66B9-B5151670CCCB}"/>
              </a:ext>
            </a:extLst>
          </p:cNvPr>
          <p:cNvSpPr>
            <a:spLocks noGrp="1"/>
          </p:cNvSpPr>
          <p:nvPr>
            <p:ph type="title"/>
          </p:nvPr>
        </p:nvSpPr>
        <p:spPr>
          <a:xfrm>
            <a:off x="0" y="0"/>
            <a:ext cx="12192000" cy="1188720"/>
          </a:xfrm>
        </p:spPr>
        <p:txBody>
          <a:bodyPr>
            <a:normAutofit/>
          </a:bodyPr>
          <a:lstStyle/>
          <a:p>
            <a:r>
              <a:rPr lang="en-US" dirty="0"/>
              <a:t>Outlier detection (IQR &amp; Top outliers)</a:t>
            </a:r>
            <a:br>
              <a:rPr lang="en-US" dirty="0"/>
            </a:br>
            <a:endParaRPr lang="en-IN" dirty="0"/>
          </a:p>
        </p:txBody>
      </p:sp>
      <p:sp>
        <p:nvSpPr>
          <p:cNvPr id="6" name="Content Placeholder 5">
            <a:extLst>
              <a:ext uri="{FF2B5EF4-FFF2-40B4-BE49-F238E27FC236}">
                <a16:creationId xmlns:a16="http://schemas.microsoft.com/office/drawing/2014/main" id="{027D750F-A538-036E-391E-6A3438B479C2}"/>
              </a:ext>
            </a:extLst>
          </p:cNvPr>
          <p:cNvSpPr>
            <a:spLocks noGrp="1"/>
          </p:cNvSpPr>
          <p:nvPr>
            <p:ph idx="1"/>
          </p:nvPr>
        </p:nvSpPr>
        <p:spPr>
          <a:xfrm>
            <a:off x="88489" y="1188720"/>
            <a:ext cx="12103511" cy="5669280"/>
          </a:xfrm>
        </p:spPr>
        <p:txBody>
          <a:bodyPr>
            <a:normAutofit/>
          </a:bodyPr>
          <a:lstStyle/>
          <a:p>
            <a:r>
              <a:rPr lang="en-US" dirty="0"/>
              <a:t>Number of Price outliers (IQR): 84</a:t>
            </a:r>
          </a:p>
          <a:p>
            <a:endParaRPr lang="en-US" dirty="0"/>
          </a:p>
          <a:p>
            <a:r>
              <a:rPr lang="en-IN" b="1" dirty="0"/>
              <a:t>Observations:</a:t>
            </a:r>
            <a:endParaRPr lang="en-IN" dirty="0"/>
          </a:p>
          <a:p>
            <a:r>
              <a:rPr lang="en-IN" dirty="0"/>
              <a:t>Outliers Are Mostly Legitimate High-Value Vehicles TOYOTA FORTUNER FORD ENDEAVOUR MERCEDES BENZ models BMW X1 SKODA SUPERB MAHINDRA XUV700 These are not statistical errors — they are premium vehicles.</a:t>
            </a:r>
          </a:p>
          <a:p>
            <a:r>
              <a:rPr lang="en-IN" dirty="0"/>
              <a:t>The IQR-based outlier detection identified high-price vehicles predominantly belonging to premium SUV and luxury segments. These observations represent genuine market </a:t>
            </a:r>
            <a:r>
              <a:rPr lang="en-IN" dirty="0" err="1"/>
              <a:t>behavior</a:t>
            </a:r>
            <a:r>
              <a:rPr lang="en-IN" dirty="0"/>
              <a:t> rather than statistical </a:t>
            </a:r>
            <a:r>
              <a:rPr lang="en-IN" dirty="0" err="1"/>
              <a:t>noise.Retaining</a:t>
            </a:r>
            <a:r>
              <a:rPr lang="en-IN" dirty="0"/>
              <a:t> valid high-value vehicles is essential to prevent model bias and ensure accurate learning across price segments.</a:t>
            </a:r>
          </a:p>
          <a:p>
            <a:endParaRPr lang="en-IN" dirty="0"/>
          </a:p>
        </p:txBody>
      </p:sp>
    </p:spTree>
    <p:extLst>
      <p:ext uri="{BB962C8B-B14F-4D97-AF65-F5344CB8AC3E}">
        <p14:creationId xmlns:p14="http://schemas.microsoft.com/office/powerpoint/2010/main" val="1719183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55CF4-FA78-328B-20E1-F7DAA72B6580}"/>
              </a:ext>
            </a:extLst>
          </p:cNvPr>
          <p:cNvSpPr>
            <a:spLocks noGrp="1"/>
          </p:cNvSpPr>
          <p:nvPr>
            <p:ph type="title"/>
          </p:nvPr>
        </p:nvSpPr>
        <p:spPr>
          <a:xfrm>
            <a:off x="0" y="1"/>
            <a:ext cx="12192000" cy="698090"/>
          </a:xfrm>
        </p:spPr>
        <p:txBody>
          <a:bodyPr>
            <a:normAutofit fontScale="90000"/>
          </a:bodyPr>
          <a:lstStyle/>
          <a:p>
            <a:r>
              <a:rPr lang="en-US" dirty="0"/>
              <a:t>Target transform check: Does modeling </a:t>
            </a:r>
            <a:r>
              <a:rPr lang="en-US" dirty="0" err="1"/>
              <a:t>logPrice</a:t>
            </a:r>
            <a:r>
              <a:rPr lang="en-US" dirty="0"/>
              <a:t> help?</a:t>
            </a:r>
            <a:br>
              <a:rPr lang="en-US" dirty="0"/>
            </a:br>
            <a:endParaRPr lang="en-IN" dirty="0"/>
          </a:p>
        </p:txBody>
      </p:sp>
      <p:graphicFrame>
        <p:nvGraphicFramePr>
          <p:cNvPr id="4" name="Content Placeholder 3">
            <a:extLst>
              <a:ext uri="{FF2B5EF4-FFF2-40B4-BE49-F238E27FC236}">
                <a16:creationId xmlns:a16="http://schemas.microsoft.com/office/drawing/2014/main" id="{0781A77B-0F8C-4B7B-023B-E7936B3E2158}"/>
              </a:ext>
            </a:extLst>
          </p:cNvPr>
          <p:cNvGraphicFramePr>
            <a:graphicFrameLocks noGrp="1"/>
          </p:cNvGraphicFramePr>
          <p:nvPr>
            <p:ph idx="1"/>
            <p:extLst>
              <p:ext uri="{D42A27DB-BD31-4B8C-83A1-F6EECF244321}">
                <p14:modId xmlns:p14="http://schemas.microsoft.com/office/powerpoint/2010/main" val="1054713525"/>
              </p:ext>
            </p:extLst>
          </p:nvPr>
        </p:nvGraphicFramePr>
        <p:xfrm>
          <a:off x="-1" y="698091"/>
          <a:ext cx="12192000" cy="37084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230242317"/>
                    </a:ext>
                  </a:extLst>
                </a:gridCol>
                <a:gridCol w="4064000">
                  <a:extLst>
                    <a:ext uri="{9D8B030D-6E8A-4147-A177-3AD203B41FA5}">
                      <a16:colId xmlns:a16="http://schemas.microsoft.com/office/drawing/2014/main" val="3022468774"/>
                    </a:ext>
                  </a:extLst>
                </a:gridCol>
                <a:gridCol w="4064000">
                  <a:extLst>
                    <a:ext uri="{9D8B030D-6E8A-4147-A177-3AD203B41FA5}">
                      <a16:colId xmlns:a16="http://schemas.microsoft.com/office/drawing/2014/main" val="325141766"/>
                    </a:ext>
                  </a:extLst>
                </a:gridCol>
              </a:tblGrid>
              <a:tr h="370840">
                <a:tc>
                  <a:txBody>
                    <a:bodyPr/>
                    <a:lstStyle/>
                    <a:p>
                      <a:pPr algn="r">
                        <a:buNone/>
                      </a:pPr>
                      <a:endParaRPr lang="en-IN" b="1" dirty="0">
                        <a:effectLst/>
                      </a:endParaRPr>
                    </a:p>
                  </a:txBody>
                  <a:tcPr anchor="ctr"/>
                </a:tc>
                <a:tc>
                  <a:txBody>
                    <a:bodyPr/>
                    <a:lstStyle/>
                    <a:p>
                      <a:pPr algn="r">
                        <a:buNone/>
                      </a:pPr>
                      <a:r>
                        <a:rPr lang="en-IN" b="1" dirty="0" err="1">
                          <a:effectLst/>
                        </a:rPr>
                        <a:t>abs_corr_with_price</a:t>
                      </a:r>
                      <a:endParaRPr lang="en-IN" b="1" dirty="0">
                        <a:effectLst/>
                      </a:endParaRPr>
                    </a:p>
                  </a:txBody>
                  <a:tcPr anchor="ctr"/>
                </a:tc>
                <a:tc>
                  <a:txBody>
                    <a:bodyPr/>
                    <a:lstStyle/>
                    <a:p>
                      <a:pPr algn="r">
                        <a:buNone/>
                      </a:pPr>
                      <a:r>
                        <a:rPr lang="en-IN" b="1" dirty="0" err="1">
                          <a:effectLst/>
                        </a:rPr>
                        <a:t>abs_corr_with_logPrice</a:t>
                      </a:r>
                      <a:endParaRPr lang="en-IN" b="1" dirty="0">
                        <a:effectLst/>
                      </a:endParaRPr>
                    </a:p>
                  </a:txBody>
                  <a:tcPr anchor="ctr"/>
                </a:tc>
                <a:extLst>
                  <a:ext uri="{0D108BD9-81ED-4DB2-BD59-A6C34878D82A}">
                    <a16:rowId xmlns:a16="http://schemas.microsoft.com/office/drawing/2014/main" val="219353026"/>
                  </a:ext>
                </a:extLst>
              </a:tr>
              <a:tr h="370840">
                <a:tc>
                  <a:txBody>
                    <a:bodyPr/>
                    <a:lstStyle/>
                    <a:p>
                      <a:pPr fontAlgn="ctr">
                        <a:buNone/>
                      </a:pPr>
                      <a:r>
                        <a:rPr lang="en-IN" b="1">
                          <a:effectLst/>
                        </a:rPr>
                        <a:t>logPrice</a:t>
                      </a:r>
                    </a:p>
                  </a:txBody>
                  <a:tcPr anchor="ctr"/>
                </a:tc>
                <a:tc>
                  <a:txBody>
                    <a:bodyPr/>
                    <a:lstStyle/>
                    <a:p>
                      <a:pPr algn="r">
                        <a:buNone/>
                      </a:pPr>
                      <a:r>
                        <a:rPr lang="en-IN">
                          <a:effectLst/>
                        </a:rPr>
                        <a:t>0.915149</a:t>
                      </a:r>
                    </a:p>
                  </a:txBody>
                  <a:tcPr anchor="ctr"/>
                </a:tc>
                <a:tc>
                  <a:txBody>
                    <a:bodyPr/>
                    <a:lstStyle/>
                    <a:p>
                      <a:pPr algn="r">
                        <a:buNone/>
                      </a:pPr>
                      <a:r>
                        <a:rPr lang="en-IN">
                          <a:effectLst/>
                        </a:rPr>
                        <a:t>1.000000</a:t>
                      </a:r>
                    </a:p>
                  </a:txBody>
                  <a:tcPr anchor="ctr"/>
                </a:tc>
                <a:extLst>
                  <a:ext uri="{0D108BD9-81ED-4DB2-BD59-A6C34878D82A}">
                    <a16:rowId xmlns:a16="http://schemas.microsoft.com/office/drawing/2014/main" val="3337178846"/>
                  </a:ext>
                </a:extLst>
              </a:tr>
              <a:tr h="370840">
                <a:tc>
                  <a:txBody>
                    <a:bodyPr/>
                    <a:lstStyle/>
                    <a:p>
                      <a:pPr fontAlgn="ctr">
                        <a:buNone/>
                      </a:pPr>
                      <a:r>
                        <a:rPr lang="en-IN" b="1">
                          <a:effectLst/>
                        </a:rPr>
                        <a:t>Price</a:t>
                      </a:r>
                    </a:p>
                  </a:txBody>
                  <a:tcPr anchor="ctr"/>
                </a:tc>
                <a:tc>
                  <a:txBody>
                    <a:bodyPr/>
                    <a:lstStyle/>
                    <a:p>
                      <a:pPr algn="r">
                        <a:buNone/>
                      </a:pPr>
                      <a:r>
                        <a:rPr lang="en-IN">
                          <a:effectLst/>
                        </a:rPr>
                        <a:t>1.000000</a:t>
                      </a:r>
                    </a:p>
                  </a:txBody>
                  <a:tcPr anchor="ctr"/>
                </a:tc>
                <a:tc>
                  <a:txBody>
                    <a:bodyPr/>
                    <a:lstStyle/>
                    <a:p>
                      <a:pPr algn="r">
                        <a:buNone/>
                      </a:pPr>
                      <a:r>
                        <a:rPr lang="en-IN">
                          <a:effectLst/>
                        </a:rPr>
                        <a:t>0.915149</a:t>
                      </a:r>
                    </a:p>
                  </a:txBody>
                  <a:tcPr anchor="ctr"/>
                </a:tc>
                <a:extLst>
                  <a:ext uri="{0D108BD9-81ED-4DB2-BD59-A6C34878D82A}">
                    <a16:rowId xmlns:a16="http://schemas.microsoft.com/office/drawing/2014/main" val="3363643213"/>
                  </a:ext>
                </a:extLst>
              </a:tr>
              <a:tr h="370840">
                <a:tc>
                  <a:txBody>
                    <a:bodyPr/>
                    <a:lstStyle/>
                    <a:p>
                      <a:pPr fontAlgn="ctr">
                        <a:buNone/>
                      </a:pPr>
                      <a:r>
                        <a:rPr lang="en-IN" b="1">
                          <a:effectLst/>
                        </a:rPr>
                        <a:t>CarAge</a:t>
                      </a:r>
                    </a:p>
                  </a:txBody>
                  <a:tcPr anchor="ctr"/>
                </a:tc>
                <a:tc>
                  <a:txBody>
                    <a:bodyPr/>
                    <a:lstStyle/>
                    <a:p>
                      <a:pPr algn="r">
                        <a:buNone/>
                      </a:pPr>
                      <a:r>
                        <a:rPr lang="en-IN">
                          <a:effectLst/>
                        </a:rPr>
                        <a:t>0.428888</a:t>
                      </a:r>
                    </a:p>
                  </a:txBody>
                  <a:tcPr anchor="ctr"/>
                </a:tc>
                <a:tc>
                  <a:txBody>
                    <a:bodyPr/>
                    <a:lstStyle/>
                    <a:p>
                      <a:pPr algn="r">
                        <a:buNone/>
                      </a:pPr>
                      <a:r>
                        <a:rPr lang="en-IN">
                          <a:effectLst/>
                        </a:rPr>
                        <a:t>0.572711</a:t>
                      </a:r>
                    </a:p>
                  </a:txBody>
                  <a:tcPr anchor="ctr"/>
                </a:tc>
                <a:extLst>
                  <a:ext uri="{0D108BD9-81ED-4DB2-BD59-A6C34878D82A}">
                    <a16:rowId xmlns:a16="http://schemas.microsoft.com/office/drawing/2014/main" val="1641344233"/>
                  </a:ext>
                </a:extLst>
              </a:tr>
              <a:tr h="370840">
                <a:tc>
                  <a:txBody>
                    <a:bodyPr/>
                    <a:lstStyle/>
                    <a:p>
                      <a:pPr fontAlgn="ctr">
                        <a:buNone/>
                      </a:pPr>
                      <a:r>
                        <a:rPr lang="en-IN" b="1">
                          <a:effectLst/>
                        </a:rPr>
                        <a:t>ModelYear</a:t>
                      </a:r>
                    </a:p>
                  </a:txBody>
                  <a:tcPr anchor="ctr"/>
                </a:tc>
                <a:tc>
                  <a:txBody>
                    <a:bodyPr/>
                    <a:lstStyle/>
                    <a:p>
                      <a:pPr algn="r">
                        <a:buNone/>
                      </a:pPr>
                      <a:r>
                        <a:rPr lang="en-IN" dirty="0">
                          <a:effectLst/>
                        </a:rPr>
                        <a:t>0.428888</a:t>
                      </a:r>
                    </a:p>
                  </a:txBody>
                  <a:tcPr anchor="ctr"/>
                </a:tc>
                <a:tc>
                  <a:txBody>
                    <a:bodyPr/>
                    <a:lstStyle/>
                    <a:p>
                      <a:pPr algn="r">
                        <a:buNone/>
                      </a:pPr>
                      <a:r>
                        <a:rPr lang="en-IN">
                          <a:effectLst/>
                        </a:rPr>
                        <a:t>0.572711</a:t>
                      </a:r>
                    </a:p>
                  </a:txBody>
                  <a:tcPr anchor="ctr"/>
                </a:tc>
                <a:extLst>
                  <a:ext uri="{0D108BD9-81ED-4DB2-BD59-A6C34878D82A}">
                    <a16:rowId xmlns:a16="http://schemas.microsoft.com/office/drawing/2014/main" val="4255886229"/>
                  </a:ext>
                </a:extLst>
              </a:tr>
              <a:tr h="370840">
                <a:tc>
                  <a:txBody>
                    <a:bodyPr/>
                    <a:lstStyle/>
                    <a:p>
                      <a:pPr fontAlgn="ctr">
                        <a:buNone/>
                      </a:pPr>
                      <a:r>
                        <a:rPr lang="en-IN" b="1">
                          <a:effectLst/>
                        </a:rPr>
                        <a:t>Warranty</a:t>
                      </a:r>
                    </a:p>
                  </a:txBody>
                  <a:tcPr anchor="ctr"/>
                </a:tc>
                <a:tc>
                  <a:txBody>
                    <a:bodyPr/>
                    <a:lstStyle/>
                    <a:p>
                      <a:pPr algn="r">
                        <a:buNone/>
                      </a:pPr>
                      <a:r>
                        <a:rPr lang="en-IN">
                          <a:effectLst/>
                        </a:rPr>
                        <a:t>0.121333</a:t>
                      </a:r>
                    </a:p>
                  </a:txBody>
                  <a:tcPr anchor="ctr"/>
                </a:tc>
                <a:tc>
                  <a:txBody>
                    <a:bodyPr/>
                    <a:lstStyle/>
                    <a:p>
                      <a:pPr algn="r">
                        <a:buNone/>
                      </a:pPr>
                      <a:r>
                        <a:rPr lang="en-IN">
                          <a:effectLst/>
                        </a:rPr>
                        <a:t>0.236855</a:t>
                      </a:r>
                    </a:p>
                  </a:txBody>
                  <a:tcPr anchor="ctr"/>
                </a:tc>
                <a:extLst>
                  <a:ext uri="{0D108BD9-81ED-4DB2-BD59-A6C34878D82A}">
                    <a16:rowId xmlns:a16="http://schemas.microsoft.com/office/drawing/2014/main" val="1668555437"/>
                  </a:ext>
                </a:extLst>
              </a:tr>
              <a:tr h="370840">
                <a:tc>
                  <a:txBody>
                    <a:bodyPr/>
                    <a:lstStyle/>
                    <a:p>
                      <a:pPr fontAlgn="ctr">
                        <a:buNone/>
                      </a:pPr>
                      <a:r>
                        <a:rPr lang="en-IN" b="1">
                          <a:effectLst/>
                        </a:rPr>
                        <a:t>QualityScore</a:t>
                      </a:r>
                    </a:p>
                  </a:txBody>
                  <a:tcPr anchor="ctr"/>
                </a:tc>
                <a:tc>
                  <a:txBody>
                    <a:bodyPr/>
                    <a:lstStyle/>
                    <a:p>
                      <a:pPr algn="r">
                        <a:buNone/>
                      </a:pPr>
                      <a:r>
                        <a:rPr lang="en-IN" dirty="0">
                          <a:effectLst/>
                        </a:rPr>
                        <a:t>0.160448</a:t>
                      </a:r>
                    </a:p>
                  </a:txBody>
                  <a:tcPr anchor="ctr"/>
                </a:tc>
                <a:tc>
                  <a:txBody>
                    <a:bodyPr/>
                    <a:lstStyle/>
                    <a:p>
                      <a:pPr algn="r">
                        <a:buNone/>
                      </a:pPr>
                      <a:r>
                        <a:rPr lang="en-IN">
                          <a:effectLst/>
                        </a:rPr>
                        <a:t>0.223103</a:t>
                      </a:r>
                    </a:p>
                  </a:txBody>
                  <a:tcPr anchor="ctr"/>
                </a:tc>
                <a:extLst>
                  <a:ext uri="{0D108BD9-81ED-4DB2-BD59-A6C34878D82A}">
                    <a16:rowId xmlns:a16="http://schemas.microsoft.com/office/drawing/2014/main" val="355201192"/>
                  </a:ext>
                </a:extLst>
              </a:tr>
              <a:tr h="370840">
                <a:tc>
                  <a:txBody>
                    <a:bodyPr/>
                    <a:lstStyle/>
                    <a:p>
                      <a:pPr fontAlgn="ctr">
                        <a:buNone/>
                      </a:pPr>
                      <a:r>
                        <a:rPr lang="en-IN" b="1">
                          <a:effectLst/>
                        </a:rPr>
                        <a:t>Kilometer</a:t>
                      </a:r>
                    </a:p>
                  </a:txBody>
                  <a:tcPr anchor="ctr"/>
                </a:tc>
                <a:tc>
                  <a:txBody>
                    <a:bodyPr/>
                    <a:lstStyle/>
                    <a:p>
                      <a:pPr algn="r">
                        <a:buNone/>
                      </a:pPr>
                      <a:r>
                        <a:rPr lang="en-IN">
                          <a:effectLst/>
                        </a:rPr>
                        <a:t>0.114085</a:t>
                      </a:r>
                    </a:p>
                  </a:txBody>
                  <a:tcPr anchor="ctr"/>
                </a:tc>
                <a:tc>
                  <a:txBody>
                    <a:bodyPr/>
                    <a:lstStyle/>
                    <a:p>
                      <a:pPr algn="r">
                        <a:buNone/>
                      </a:pPr>
                      <a:r>
                        <a:rPr lang="en-IN">
                          <a:effectLst/>
                        </a:rPr>
                        <a:t>0.156315</a:t>
                      </a:r>
                    </a:p>
                  </a:txBody>
                  <a:tcPr anchor="ctr"/>
                </a:tc>
                <a:extLst>
                  <a:ext uri="{0D108BD9-81ED-4DB2-BD59-A6C34878D82A}">
                    <a16:rowId xmlns:a16="http://schemas.microsoft.com/office/drawing/2014/main" val="484813518"/>
                  </a:ext>
                </a:extLst>
              </a:tr>
              <a:tr h="370840">
                <a:tc>
                  <a:txBody>
                    <a:bodyPr/>
                    <a:lstStyle/>
                    <a:p>
                      <a:pPr fontAlgn="ctr">
                        <a:buNone/>
                      </a:pPr>
                      <a:r>
                        <a:rPr lang="en-IN" b="1">
                          <a:effectLst/>
                        </a:rPr>
                        <a:t>Id</a:t>
                      </a:r>
                    </a:p>
                  </a:txBody>
                  <a:tcPr anchor="ctr"/>
                </a:tc>
                <a:tc>
                  <a:txBody>
                    <a:bodyPr/>
                    <a:lstStyle/>
                    <a:p>
                      <a:pPr algn="r">
                        <a:buNone/>
                      </a:pPr>
                      <a:r>
                        <a:rPr lang="en-IN">
                          <a:effectLst/>
                        </a:rPr>
                        <a:t>0.079274</a:t>
                      </a:r>
                    </a:p>
                  </a:txBody>
                  <a:tcPr anchor="ctr"/>
                </a:tc>
                <a:tc>
                  <a:txBody>
                    <a:bodyPr/>
                    <a:lstStyle/>
                    <a:p>
                      <a:pPr algn="r">
                        <a:buNone/>
                      </a:pPr>
                      <a:r>
                        <a:rPr lang="en-IN">
                          <a:effectLst/>
                        </a:rPr>
                        <a:t>0.125536</a:t>
                      </a:r>
                    </a:p>
                  </a:txBody>
                  <a:tcPr anchor="ctr"/>
                </a:tc>
                <a:extLst>
                  <a:ext uri="{0D108BD9-81ED-4DB2-BD59-A6C34878D82A}">
                    <a16:rowId xmlns:a16="http://schemas.microsoft.com/office/drawing/2014/main" val="1404481396"/>
                  </a:ext>
                </a:extLst>
              </a:tr>
              <a:tr h="370840">
                <a:tc>
                  <a:txBody>
                    <a:bodyPr/>
                    <a:lstStyle/>
                    <a:p>
                      <a:pPr fontAlgn="ctr">
                        <a:buNone/>
                      </a:pPr>
                      <a:r>
                        <a:rPr lang="en-IN" b="1">
                          <a:effectLst/>
                        </a:rPr>
                        <a:t>KM_per_Year</a:t>
                      </a:r>
                    </a:p>
                  </a:txBody>
                  <a:tcPr anchor="ctr"/>
                </a:tc>
                <a:tc>
                  <a:txBody>
                    <a:bodyPr/>
                    <a:lstStyle/>
                    <a:p>
                      <a:pPr algn="r">
                        <a:buNone/>
                      </a:pPr>
                      <a:r>
                        <a:rPr lang="en-IN">
                          <a:effectLst/>
                        </a:rPr>
                        <a:t>0.072366</a:t>
                      </a:r>
                    </a:p>
                  </a:txBody>
                  <a:tcPr anchor="ctr"/>
                </a:tc>
                <a:tc>
                  <a:txBody>
                    <a:bodyPr/>
                    <a:lstStyle/>
                    <a:p>
                      <a:pPr algn="r">
                        <a:buNone/>
                      </a:pPr>
                      <a:r>
                        <a:rPr lang="en-IN" dirty="0">
                          <a:effectLst/>
                        </a:rPr>
                        <a:t>0.091197</a:t>
                      </a:r>
                    </a:p>
                  </a:txBody>
                  <a:tcPr anchor="ctr"/>
                </a:tc>
                <a:extLst>
                  <a:ext uri="{0D108BD9-81ED-4DB2-BD59-A6C34878D82A}">
                    <a16:rowId xmlns:a16="http://schemas.microsoft.com/office/drawing/2014/main" val="2990946877"/>
                  </a:ext>
                </a:extLst>
              </a:tr>
            </a:tbl>
          </a:graphicData>
        </a:graphic>
      </p:graphicFrame>
      <p:sp>
        <p:nvSpPr>
          <p:cNvPr id="5" name="TextBox 4">
            <a:extLst>
              <a:ext uri="{FF2B5EF4-FFF2-40B4-BE49-F238E27FC236}">
                <a16:creationId xmlns:a16="http://schemas.microsoft.com/office/drawing/2014/main" id="{46A56A77-B0AB-19B6-1D66-0CD4AA4EA4F1}"/>
              </a:ext>
            </a:extLst>
          </p:cNvPr>
          <p:cNvSpPr txBox="1"/>
          <p:nvPr/>
        </p:nvSpPr>
        <p:spPr>
          <a:xfrm>
            <a:off x="-2" y="4640826"/>
            <a:ext cx="12192001" cy="2031325"/>
          </a:xfrm>
          <a:prstGeom prst="rect">
            <a:avLst/>
          </a:prstGeom>
          <a:noFill/>
        </p:spPr>
        <p:txBody>
          <a:bodyPr wrap="square" rtlCol="0">
            <a:spAutoFit/>
          </a:bodyPr>
          <a:lstStyle/>
          <a:p>
            <a:r>
              <a:rPr lang="en-IN" b="1" dirty="0"/>
              <a:t>Observations:</a:t>
            </a:r>
            <a:endParaRPr lang="en-IN" dirty="0"/>
          </a:p>
          <a:p>
            <a:r>
              <a:rPr lang="en-IN" dirty="0"/>
              <a:t>CarAge &amp; </a:t>
            </a:r>
            <a:r>
              <a:rPr lang="en-IN" dirty="0" err="1"/>
              <a:t>ModelYear</a:t>
            </a:r>
            <a:r>
              <a:rPr lang="en-IN" dirty="0"/>
              <a:t> → Dominant Drivers ~0.43 correlation with raw Price ~0.57 correlation with </a:t>
            </a:r>
            <a:r>
              <a:rPr lang="en-IN" dirty="0" err="1"/>
              <a:t>logPrice</a:t>
            </a:r>
            <a:endParaRPr lang="en-IN" dirty="0"/>
          </a:p>
          <a:p>
            <a:r>
              <a:rPr lang="en-IN" dirty="0"/>
              <a:t>Log transform strengthened the relationship Price variance stabilizes, Depreciation becomes smoother &amp; Noise from high-price tail reduced</a:t>
            </a:r>
          </a:p>
          <a:p>
            <a:r>
              <a:rPr lang="en-IN" dirty="0"/>
              <a:t>CarAge vs </a:t>
            </a:r>
            <a:r>
              <a:rPr lang="en-IN" dirty="0" err="1"/>
              <a:t>ModelYear</a:t>
            </a:r>
            <a:r>
              <a:rPr lang="en-IN" dirty="0"/>
              <a:t> → Perfect Redundancy Identical correlations, They contain the same information</a:t>
            </a:r>
          </a:p>
          <a:p>
            <a:r>
              <a:rPr lang="en-IN" dirty="0"/>
              <a:t>Warranty → Weak but Meaningful 0.12 (Price) → 0.24 (</a:t>
            </a:r>
            <a:r>
              <a:rPr lang="en-IN" dirty="0" err="1"/>
              <a:t>logPrice</a:t>
            </a:r>
            <a:r>
              <a:rPr lang="en-IN" dirty="0"/>
              <a:t>) Warranty is indirect age signal, Newer cars → under warranty → higher prices. But effect smaller than CarAge</a:t>
            </a:r>
          </a:p>
        </p:txBody>
      </p:sp>
    </p:spTree>
    <p:extLst>
      <p:ext uri="{BB962C8B-B14F-4D97-AF65-F5344CB8AC3E}">
        <p14:creationId xmlns:p14="http://schemas.microsoft.com/office/powerpoint/2010/main" val="4227072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F75904-664A-E2D0-3087-BE1B5B6538C6}"/>
              </a:ext>
            </a:extLst>
          </p:cNvPr>
          <p:cNvSpPr>
            <a:spLocks noGrp="1"/>
          </p:cNvSpPr>
          <p:nvPr>
            <p:ph idx="1"/>
          </p:nvPr>
        </p:nvSpPr>
        <p:spPr>
          <a:xfrm>
            <a:off x="0" y="0"/>
            <a:ext cx="12192000" cy="6858000"/>
          </a:xfrm>
        </p:spPr>
        <p:txBody>
          <a:bodyPr/>
          <a:lstStyle/>
          <a:p>
            <a:endParaRPr lang="en-US" dirty="0"/>
          </a:p>
          <a:p>
            <a:endParaRPr lang="en-US" dirty="0"/>
          </a:p>
          <a:p>
            <a:r>
              <a:rPr lang="en-US" dirty="0" err="1"/>
              <a:t>QualityScore</a:t>
            </a:r>
            <a:r>
              <a:rPr lang="en-US" dirty="0"/>
              <a:t> → Moderate Behavioral Signal Correlation improves after log transform</a:t>
            </a:r>
          </a:p>
          <a:p>
            <a:r>
              <a:rPr lang="en-US" dirty="0"/>
              <a:t>Kilometer → Weak Direct Correlation Low correlation does NOT mean useless</a:t>
            </a:r>
          </a:p>
          <a:p>
            <a:r>
              <a:rPr lang="en-US" dirty="0"/>
              <a:t>Id → Noise Feature Very low </a:t>
            </a:r>
            <a:r>
              <a:rPr lang="en-US" dirty="0" err="1"/>
              <a:t>correlation,No</a:t>
            </a:r>
            <a:r>
              <a:rPr lang="en-US" dirty="0"/>
              <a:t> economic meaning, to be dropped</a:t>
            </a:r>
          </a:p>
          <a:p>
            <a:r>
              <a:rPr lang="en-US" dirty="0"/>
              <a:t>Why </a:t>
            </a:r>
            <a:r>
              <a:rPr lang="en-US" dirty="0" err="1"/>
              <a:t>logPrice</a:t>
            </a:r>
            <a:r>
              <a:rPr lang="en-US" dirty="0"/>
              <a:t> Improves Everything Almost all correlations increase Raw Price distribution was skewed, Log transform revealed true structure</a:t>
            </a:r>
          </a:p>
          <a:p>
            <a:r>
              <a:rPr lang="en-US" dirty="0"/>
              <a:t>Correlation analysis indicates that </a:t>
            </a:r>
            <a:r>
              <a:rPr lang="en-US" dirty="0" err="1"/>
              <a:t>CarAge</a:t>
            </a:r>
            <a:r>
              <a:rPr lang="en-US" dirty="0"/>
              <a:t> (and equivalently </a:t>
            </a:r>
            <a:r>
              <a:rPr lang="en-US" dirty="0" err="1"/>
              <a:t>ModelYear</a:t>
            </a:r>
            <a:r>
              <a:rPr lang="en-US" dirty="0"/>
              <a:t>) is the most influential numeric predictor, with its relationship strengthened significantly under logarithmic transformation. Warranty and </a:t>
            </a:r>
            <a:r>
              <a:rPr lang="en-US" dirty="0" err="1"/>
              <a:t>QualityScore</a:t>
            </a:r>
            <a:r>
              <a:rPr lang="en-US" dirty="0"/>
              <a:t> demonstrate moderate associations, suggesting secondary predictive roles. Kilometer exhibits weak linear correlation but non-linear dependency observed in smoothing analysis. </a:t>
            </a:r>
            <a:r>
              <a:rPr lang="en-US" dirty="0" err="1"/>
              <a:t>ModelYear</a:t>
            </a:r>
            <a:r>
              <a:rPr lang="en-US" dirty="0"/>
              <a:t> and </a:t>
            </a:r>
            <a:r>
              <a:rPr lang="en-US" dirty="0" err="1"/>
              <a:t>CarAge</a:t>
            </a:r>
            <a:r>
              <a:rPr lang="en-US" dirty="0"/>
              <a:t> were found to be redundant, warranting the retention of a single temporal feature to avoid multicollinearity.</a:t>
            </a:r>
          </a:p>
          <a:p>
            <a:endParaRPr lang="en-IN" dirty="0"/>
          </a:p>
        </p:txBody>
      </p:sp>
    </p:spTree>
    <p:extLst>
      <p:ext uri="{BB962C8B-B14F-4D97-AF65-F5344CB8AC3E}">
        <p14:creationId xmlns:p14="http://schemas.microsoft.com/office/powerpoint/2010/main" val="3270889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852DC-C200-102A-D345-60E6A41C1F63}"/>
              </a:ext>
            </a:extLst>
          </p:cNvPr>
          <p:cNvSpPr>
            <a:spLocks noGrp="1"/>
          </p:cNvSpPr>
          <p:nvPr>
            <p:ph type="title"/>
          </p:nvPr>
        </p:nvSpPr>
        <p:spPr>
          <a:xfrm>
            <a:off x="1" y="0"/>
            <a:ext cx="12192000" cy="935986"/>
          </a:xfrm>
        </p:spPr>
        <p:txBody>
          <a:bodyPr>
            <a:normAutofit fontScale="90000"/>
          </a:bodyPr>
          <a:lstStyle/>
          <a:p>
            <a:r>
              <a:rPr lang="en-IN" dirty="0"/>
              <a:t>Multi-collinearity check</a:t>
            </a:r>
            <a:br>
              <a:rPr lang="en-IN" dirty="0"/>
            </a:br>
            <a:endParaRPr lang="en-IN" dirty="0"/>
          </a:p>
        </p:txBody>
      </p:sp>
      <p:graphicFrame>
        <p:nvGraphicFramePr>
          <p:cNvPr id="4" name="Content Placeholder 3">
            <a:extLst>
              <a:ext uri="{FF2B5EF4-FFF2-40B4-BE49-F238E27FC236}">
                <a16:creationId xmlns:a16="http://schemas.microsoft.com/office/drawing/2014/main" id="{0E69DAA6-2BC3-CBE7-D2BD-64C12BD428B9}"/>
              </a:ext>
            </a:extLst>
          </p:cNvPr>
          <p:cNvGraphicFramePr>
            <a:graphicFrameLocks noGrp="1"/>
          </p:cNvGraphicFramePr>
          <p:nvPr>
            <p:ph idx="1"/>
            <p:extLst>
              <p:ext uri="{D42A27DB-BD31-4B8C-83A1-F6EECF244321}">
                <p14:modId xmlns:p14="http://schemas.microsoft.com/office/powerpoint/2010/main" val="4117101223"/>
              </p:ext>
            </p:extLst>
          </p:nvPr>
        </p:nvGraphicFramePr>
        <p:xfrm>
          <a:off x="-1" y="935986"/>
          <a:ext cx="12192000" cy="29260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303680150"/>
                    </a:ext>
                  </a:extLst>
                </a:gridCol>
                <a:gridCol w="4064000">
                  <a:extLst>
                    <a:ext uri="{9D8B030D-6E8A-4147-A177-3AD203B41FA5}">
                      <a16:colId xmlns:a16="http://schemas.microsoft.com/office/drawing/2014/main" val="3990838461"/>
                    </a:ext>
                  </a:extLst>
                </a:gridCol>
                <a:gridCol w="4064000">
                  <a:extLst>
                    <a:ext uri="{9D8B030D-6E8A-4147-A177-3AD203B41FA5}">
                      <a16:colId xmlns:a16="http://schemas.microsoft.com/office/drawing/2014/main" val="4267888489"/>
                    </a:ext>
                  </a:extLst>
                </a:gridCol>
              </a:tblGrid>
              <a:tr h="350034">
                <a:tc>
                  <a:txBody>
                    <a:bodyPr/>
                    <a:lstStyle/>
                    <a:p>
                      <a:pPr algn="r">
                        <a:buNone/>
                      </a:pPr>
                      <a:endParaRPr lang="en-IN" b="1" dirty="0">
                        <a:effectLst/>
                      </a:endParaRPr>
                    </a:p>
                  </a:txBody>
                  <a:tcPr anchor="ctr"/>
                </a:tc>
                <a:tc>
                  <a:txBody>
                    <a:bodyPr/>
                    <a:lstStyle/>
                    <a:p>
                      <a:pPr algn="r">
                        <a:buNone/>
                      </a:pPr>
                      <a:r>
                        <a:rPr lang="en-IN" b="1" dirty="0">
                          <a:effectLst/>
                        </a:rPr>
                        <a:t>feature</a:t>
                      </a:r>
                    </a:p>
                  </a:txBody>
                  <a:tcPr anchor="ctr"/>
                </a:tc>
                <a:tc>
                  <a:txBody>
                    <a:bodyPr/>
                    <a:lstStyle/>
                    <a:p>
                      <a:pPr algn="r">
                        <a:buNone/>
                      </a:pPr>
                      <a:r>
                        <a:rPr lang="en-IN" b="1" dirty="0">
                          <a:effectLst/>
                        </a:rPr>
                        <a:t>VIF</a:t>
                      </a:r>
                    </a:p>
                  </a:txBody>
                  <a:tcPr anchor="ctr"/>
                </a:tc>
                <a:extLst>
                  <a:ext uri="{0D108BD9-81ED-4DB2-BD59-A6C34878D82A}">
                    <a16:rowId xmlns:a16="http://schemas.microsoft.com/office/drawing/2014/main" val="2262022539"/>
                  </a:ext>
                </a:extLst>
              </a:tr>
              <a:tr h="350034">
                <a:tc>
                  <a:txBody>
                    <a:bodyPr/>
                    <a:lstStyle/>
                    <a:p>
                      <a:pPr fontAlgn="ctr">
                        <a:buNone/>
                      </a:pPr>
                      <a:r>
                        <a:rPr lang="en-IN" b="1" dirty="0">
                          <a:effectLst/>
                        </a:rPr>
                        <a:t>2</a:t>
                      </a:r>
                    </a:p>
                  </a:txBody>
                  <a:tcPr anchor="ctr"/>
                </a:tc>
                <a:tc>
                  <a:txBody>
                    <a:bodyPr/>
                    <a:lstStyle/>
                    <a:p>
                      <a:pPr algn="r">
                        <a:buNone/>
                      </a:pPr>
                      <a:r>
                        <a:rPr lang="en-IN">
                          <a:effectLst/>
                        </a:rPr>
                        <a:t>ModelYear</a:t>
                      </a:r>
                    </a:p>
                  </a:txBody>
                  <a:tcPr anchor="ctr"/>
                </a:tc>
                <a:tc>
                  <a:txBody>
                    <a:bodyPr/>
                    <a:lstStyle/>
                    <a:p>
                      <a:pPr algn="r">
                        <a:buNone/>
                      </a:pPr>
                      <a:r>
                        <a:rPr lang="en-IN">
                          <a:effectLst/>
                        </a:rPr>
                        <a:t>1608.095161</a:t>
                      </a:r>
                    </a:p>
                  </a:txBody>
                  <a:tcPr anchor="ctr"/>
                </a:tc>
                <a:extLst>
                  <a:ext uri="{0D108BD9-81ED-4DB2-BD59-A6C34878D82A}">
                    <a16:rowId xmlns:a16="http://schemas.microsoft.com/office/drawing/2014/main" val="2973325013"/>
                  </a:ext>
                </a:extLst>
              </a:tr>
              <a:tr h="350034">
                <a:tc>
                  <a:txBody>
                    <a:bodyPr/>
                    <a:lstStyle/>
                    <a:p>
                      <a:pPr fontAlgn="ctr">
                        <a:buNone/>
                      </a:pPr>
                      <a:r>
                        <a:rPr lang="en-IN" b="1">
                          <a:effectLst/>
                        </a:rPr>
                        <a:t>5</a:t>
                      </a:r>
                    </a:p>
                  </a:txBody>
                  <a:tcPr anchor="ctr"/>
                </a:tc>
                <a:tc>
                  <a:txBody>
                    <a:bodyPr/>
                    <a:lstStyle/>
                    <a:p>
                      <a:pPr algn="r">
                        <a:buNone/>
                      </a:pPr>
                      <a:r>
                        <a:rPr lang="en-IN">
                          <a:effectLst/>
                        </a:rPr>
                        <a:t>CarAge</a:t>
                      </a:r>
                    </a:p>
                  </a:txBody>
                  <a:tcPr anchor="ctr"/>
                </a:tc>
                <a:tc>
                  <a:txBody>
                    <a:bodyPr/>
                    <a:lstStyle/>
                    <a:p>
                      <a:pPr algn="r">
                        <a:buNone/>
                      </a:pPr>
                      <a:r>
                        <a:rPr lang="en-IN">
                          <a:effectLst/>
                        </a:rPr>
                        <a:t>44.505695</a:t>
                      </a:r>
                    </a:p>
                  </a:txBody>
                  <a:tcPr anchor="ctr"/>
                </a:tc>
                <a:extLst>
                  <a:ext uri="{0D108BD9-81ED-4DB2-BD59-A6C34878D82A}">
                    <a16:rowId xmlns:a16="http://schemas.microsoft.com/office/drawing/2014/main" val="26564621"/>
                  </a:ext>
                </a:extLst>
              </a:tr>
              <a:tr h="350034">
                <a:tc>
                  <a:txBody>
                    <a:bodyPr/>
                    <a:lstStyle/>
                    <a:p>
                      <a:pPr fontAlgn="ctr">
                        <a:buNone/>
                      </a:pPr>
                      <a:r>
                        <a:rPr lang="en-IN" b="1">
                          <a:effectLst/>
                        </a:rPr>
                        <a:t>1</a:t>
                      </a:r>
                    </a:p>
                  </a:txBody>
                  <a:tcPr anchor="ctr"/>
                </a:tc>
                <a:tc>
                  <a:txBody>
                    <a:bodyPr/>
                    <a:lstStyle/>
                    <a:p>
                      <a:pPr algn="r">
                        <a:buNone/>
                      </a:pPr>
                      <a:r>
                        <a:rPr lang="en-IN">
                          <a:effectLst/>
                        </a:rPr>
                        <a:t>Kilometer</a:t>
                      </a:r>
                    </a:p>
                  </a:txBody>
                  <a:tcPr anchor="ctr"/>
                </a:tc>
                <a:tc>
                  <a:txBody>
                    <a:bodyPr/>
                    <a:lstStyle/>
                    <a:p>
                      <a:pPr algn="r">
                        <a:buNone/>
                      </a:pPr>
                      <a:r>
                        <a:rPr lang="en-IN">
                          <a:effectLst/>
                        </a:rPr>
                        <a:t>14.217272</a:t>
                      </a:r>
                    </a:p>
                  </a:txBody>
                  <a:tcPr anchor="ctr"/>
                </a:tc>
                <a:extLst>
                  <a:ext uri="{0D108BD9-81ED-4DB2-BD59-A6C34878D82A}">
                    <a16:rowId xmlns:a16="http://schemas.microsoft.com/office/drawing/2014/main" val="3555226843"/>
                  </a:ext>
                </a:extLst>
              </a:tr>
              <a:tr h="350034">
                <a:tc>
                  <a:txBody>
                    <a:bodyPr/>
                    <a:lstStyle/>
                    <a:p>
                      <a:pPr fontAlgn="ctr">
                        <a:buNone/>
                      </a:pPr>
                      <a:r>
                        <a:rPr lang="en-IN" b="1">
                          <a:effectLst/>
                        </a:rPr>
                        <a:t>6</a:t>
                      </a:r>
                    </a:p>
                  </a:txBody>
                  <a:tcPr anchor="ctr"/>
                </a:tc>
                <a:tc>
                  <a:txBody>
                    <a:bodyPr/>
                    <a:lstStyle/>
                    <a:p>
                      <a:pPr algn="r">
                        <a:buNone/>
                      </a:pPr>
                      <a:r>
                        <a:rPr lang="en-IN">
                          <a:effectLst/>
                        </a:rPr>
                        <a:t>KM_per_Year</a:t>
                      </a:r>
                    </a:p>
                  </a:txBody>
                  <a:tcPr anchor="ctr"/>
                </a:tc>
                <a:tc>
                  <a:txBody>
                    <a:bodyPr/>
                    <a:lstStyle/>
                    <a:p>
                      <a:pPr algn="r">
                        <a:buNone/>
                      </a:pPr>
                      <a:r>
                        <a:rPr lang="en-IN">
                          <a:effectLst/>
                        </a:rPr>
                        <a:t>11.126295</a:t>
                      </a:r>
                    </a:p>
                  </a:txBody>
                  <a:tcPr anchor="ctr"/>
                </a:tc>
                <a:extLst>
                  <a:ext uri="{0D108BD9-81ED-4DB2-BD59-A6C34878D82A}">
                    <a16:rowId xmlns:a16="http://schemas.microsoft.com/office/drawing/2014/main" val="4182433957"/>
                  </a:ext>
                </a:extLst>
              </a:tr>
              <a:tr h="350034">
                <a:tc>
                  <a:txBody>
                    <a:bodyPr/>
                    <a:lstStyle/>
                    <a:p>
                      <a:pPr fontAlgn="ctr">
                        <a:buNone/>
                      </a:pPr>
                      <a:r>
                        <a:rPr lang="en-IN" b="1">
                          <a:effectLst/>
                        </a:rPr>
                        <a:t>4</a:t>
                      </a:r>
                    </a:p>
                  </a:txBody>
                  <a:tcPr anchor="ctr"/>
                </a:tc>
                <a:tc>
                  <a:txBody>
                    <a:bodyPr/>
                    <a:lstStyle/>
                    <a:p>
                      <a:pPr algn="r">
                        <a:buNone/>
                      </a:pPr>
                      <a:r>
                        <a:rPr lang="en-IN">
                          <a:effectLst/>
                        </a:rPr>
                        <a:t>QualityScore</a:t>
                      </a:r>
                    </a:p>
                  </a:txBody>
                  <a:tcPr anchor="ctr"/>
                </a:tc>
                <a:tc>
                  <a:txBody>
                    <a:bodyPr/>
                    <a:lstStyle/>
                    <a:p>
                      <a:pPr algn="r">
                        <a:buNone/>
                      </a:pPr>
                      <a:r>
                        <a:rPr lang="en-IN">
                          <a:effectLst/>
                        </a:rPr>
                        <a:t>1.911581</a:t>
                      </a:r>
                    </a:p>
                  </a:txBody>
                  <a:tcPr anchor="ctr"/>
                </a:tc>
                <a:extLst>
                  <a:ext uri="{0D108BD9-81ED-4DB2-BD59-A6C34878D82A}">
                    <a16:rowId xmlns:a16="http://schemas.microsoft.com/office/drawing/2014/main" val="1683258597"/>
                  </a:ext>
                </a:extLst>
              </a:tr>
              <a:tr h="350034">
                <a:tc>
                  <a:txBody>
                    <a:bodyPr/>
                    <a:lstStyle/>
                    <a:p>
                      <a:pPr fontAlgn="ctr">
                        <a:buNone/>
                      </a:pPr>
                      <a:r>
                        <a:rPr lang="en-IN" b="1">
                          <a:effectLst/>
                        </a:rPr>
                        <a:t>3</a:t>
                      </a:r>
                    </a:p>
                  </a:txBody>
                  <a:tcPr anchor="ctr"/>
                </a:tc>
                <a:tc>
                  <a:txBody>
                    <a:bodyPr/>
                    <a:lstStyle/>
                    <a:p>
                      <a:pPr algn="r">
                        <a:buNone/>
                      </a:pPr>
                      <a:r>
                        <a:rPr lang="en-IN">
                          <a:effectLst/>
                        </a:rPr>
                        <a:t>Warranty</a:t>
                      </a:r>
                    </a:p>
                  </a:txBody>
                  <a:tcPr anchor="ctr"/>
                </a:tc>
                <a:tc>
                  <a:txBody>
                    <a:bodyPr/>
                    <a:lstStyle/>
                    <a:p>
                      <a:pPr algn="r">
                        <a:buNone/>
                      </a:pPr>
                      <a:r>
                        <a:rPr lang="en-IN">
                          <a:effectLst/>
                        </a:rPr>
                        <a:t>1.529760</a:t>
                      </a:r>
                    </a:p>
                  </a:txBody>
                  <a:tcPr anchor="ctr"/>
                </a:tc>
                <a:extLst>
                  <a:ext uri="{0D108BD9-81ED-4DB2-BD59-A6C34878D82A}">
                    <a16:rowId xmlns:a16="http://schemas.microsoft.com/office/drawing/2014/main" val="4186390403"/>
                  </a:ext>
                </a:extLst>
              </a:tr>
              <a:tr h="350034">
                <a:tc>
                  <a:txBody>
                    <a:bodyPr/>
                    <a:lstStyle/>
                    <a:p>
                      <a:pPr fontAlgn="ctr">
                        <a:buNone/>
                      </a:pPr>
                      <a:r>
                        <a:rPr lang="en-IN" b="1">
                          <a:effectLst/>
                        </a:rPr>
                        <a:t>0</a:t>
                      </a:r>
                    </a:p>
                  </a:txBody>
                  <a:tcPr anchor="ctr"/>
                </a:tc>
                <a:tc>
                  <a:txBody>
                    <a:bodyPr/>
                    <a:lstStyle/>
                    <a:p>
                      <a:pPr algn="r">
                        <a:buNone/>
                      </a:pPr>
                      <a:r>
                        <a:rPr lang="en-IN">
                          <a:effectLst/>
                        </a:rPr>
                        <a:t>Id</a:t>
                      </a:r>
                    </a:p>
                  </a:txBody>
                  <a:tcPr anchor="ctr"/>
                </a:tc>
                <a:tc>
                  <a:txBody>
                    <a:bodyPr/>
                    <a:lstStyle/>
                    <a:p>
                      <a:pPr algn="r">
                        <a:buNone/>
                      </a:pPr>
                      <a:r>
                        <a:rPr lang="en-IN" dirty="0">
                          <a:effectLst/>
                        </a:rPr>
                        <a:t>1.006756</a:t>
                      </a:r>
                    </a:p>
                  </a:txBody>
                  <a:tcPr anchor="ctr"/>
                </a:tc>
                <a:extLst>
                  <a:ext uri="{0D108BD9-81ED-4DB2-BD59-A6C34878D82A}">
                    <a16:rowId xmlns:a16="http://schemas.microsoft.com/office/drawing/2014/main" val="1603256480"/>
                  </a:ext>
                </a:extLst>
              </a:tr>
            </a:tbl>
          </a:graphicData>
        </a:graphic>
      </p:graphicFrame>
      <p:sp>
        <p:nvSpPr>
          <p:cNvPr id="5" name="TextBox 4">
            <a:extLst>
              <a:ext uri="{FF2B5EF4-FFF2-40B4-BE49-F238E27FC236}">
                <a16:creationId xmlns:a16="http://schemas.microsoft.com/office/drawing/2014/main" id="{DE91CEB9-92E1-51A5-6826-3B518F955701}"/>
              </a:ext>
            </a:extLst>
          </p:cNvPr>
          <p:cNvSpPr txBox="1"/>
          <p:nvPr/>
        </p:nvSpPr>
        <p:spPr>
          <a:xfrm>
            <a:off x="0" y="3932902"/>
            <a:ext cx="12192000" cy="2031325"/>
          </a:xfrm>
          <a:prstGeom prst="rect">
            <a:avLst/>
          </a:prstGeom>
          <a:noFill/>
        </p:spPr>
        <p:txBody>
          <a:bodyPr wrap="square" rtlCol="0">
            <a:spAutoFit/>
          </a:bodyPr>
          <a:lstStyle/>
          <a:p>
            <a:endParaRPr lang="en-IN" b="1" dirty="0"/>
          </a:p>
          <a:p>
            <a:r>
              <a:rPr lang="en-IN" b="1" dirty="0"/>
              <a:t>Observations:</a:t>
            </a:r>
            <a:endParaRPr lang="en-IN" dirty="0"/>
          </a:p>
          <a:p>
            <a:r>
              <a:rPr lang="en-IN" dirty="0"/>
              <a:t>Variance Inflation Factor analysis revealed extreme multicollinearity for </a:t>
            </a:r>
            <a:r>
              <a:rPr lang="en-IN" dirty="0" err="1"/>
              <a:t>ModelYear</a:t>
            </a:r>
            <a:r>
              <a:rPr lang="en-IN" dirty="0"/>
              <a:t> (VIF &gt; 1500), confirming deterministic dependency with CarAge. To stabilize linear model estimation, </a:t>
            </a:r>
            <a:r>
              <a:rPr lang="en-IN" dirty="0" err="1"/>
              <a:t>ModelYear</a:t>
            </a:r>
            <a:r>
              <a:rPr lang="en-IN" dirty="0"/>
              <a:t> was removed while retaining CarAge as the primary temporal feature</a:t>
            </a:r>
          </a:p>
          <a:p>
            <a:r>
              <a:rPr lang="en-IN" dirty="0"/>
              <a:t>Core Features to be Kept: CarAge → primary economic variable Kilometer → usage signal QualityScore → condition signal Warranty → lifecycle signal</a:t>
            </a:r>
          </a:p>
        </p:txBody>
      </p:sp>
    </p:spTree>
    <p:extLst>
      <p:ext uri="{BB962C8B-B14F-4D97-AF65-F5344CB8AC3E}">
        <p14:creationId xmlns:p14="http://schemas.microsoft.com/office/powerpoint/2010/main" val="3364001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FD661-C0DA-8E88-7F6C-8B28809AAAEA}"/>
              </a:ext>
            </a:extLst>
          </p:cNvPr>
          <p:cNvSpPr>
            <a:spLocks noGrp="1"/>
          </p:cNvSpPr>
          <p:nvPr>
            <p:ph type="title"/>
          </p:nvPr>
        </p:nvSpPr>
        <p:spPr>
          <a:xfrm>
            <a:off x="0" y="-70747"/>
            <a:ext cx="12192000" cy="1083470"/>
          </a:xfrm>
        </p:spPr>
        <p:txBody>
          <a:bodyPr>
            <a:normAutofit fontScale="90000"/>
          </a:bodyPr>
          <a:lstStyle/>
          <a:p>
            <a:r>
              <a:rPr lang="en-US" dirty="0"/>
              <a:t>Price Distribution &amp; Bivariate Analysis between Kilometer vs Price and Fuel Type vs Price</a:t>
            </a:r>
            <a:br>
              <a:rPr lang="en-US" dirty="0"/>
            </a:br>
            <a:endParaRPr lang="en-IN" dirty="0"/>
          </a:p>
        </p:txBody>
      </p:sp>
      <p:pic>
        <p:nvPicPr>
          <p:cNvPr id="5" name="Content Placeholder 4">
            <a:extLst>
              <a:ext uri="{FF2B5EF4-FFF2-40B4-BE49-F238E27FC236}">
                <a16:creationId xmlns:a16="http://schemas.microsoft.com/office/drawing/2014/main" id="{AFB1DE8B-CD6F-BB2F-8171-4A3AFCB571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012723"/>
            <a:ext cx="3892543" cy="3101975"/>
          </a:xfrm>
          <a:prstGeom prst="rect">
            <a:avLst/>
          </a:prstGeom>
          <a:scene3d>
            <a:camera prst="orthographicFront"/>
            <a:lightRig rig="threePt" dir="t"/>
          </a:scene3d>
          <a:sp3d>
            <a:bevelT/>
          </a:sp3d>
        </p:spPr>
      </p:pic>
      <p:pic>
        <p:nvPicPr>
          <p:cNvPr id="7" name="Picture 6">
            <a:extLst>
              <a:ext uri="{FF2B5EF4-FFF2-40B4-BE49-F238E27FC236}">
                <a16:creationId xmlns:a16="http://schemas.microsoft.com/office/drawing/2014/main" id="{9C09E431-CE79-DC9F-F5D5-C999FEA0AF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2543" y="973470"/>
            <a:ext cx="3892543" cy="3150782"/>
          </a:xfrm>
          <a:prstGeom prst="rect">
            <a:avLst/>
          </a:prstGeom>
          <a:scene3d>
            <a:camera prst="orthographicFront"/>
            <a:lightRig rig="threePt" dir="t"/>
          </a:scene3d>
          <a:sp3d>
            <a:bevelT/>
          </a:sp3d>
        </p:spPr>
      </p:pic>
      <p:pic>
        <p:nvPicPr>
          <p:cNvPr id="9" name="Picture 8">
            <a:extLst>
              <a:ext uri="{FF2B5EF4-FFF2-40B4-BE49-F238E27FC236}">
                <a16:creationId xmlns:a16="http://schemas.microsoft.com/office/drawing/2014/main" id="{ED3A04D3-97E1-6F89-4729-8F2608B4CE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5086" y="974042"/>
            <a:ext cx="4406914" cy="3150210"/>
          </a:xfrm>
          <a:prstGeom prst="rect">
            <a:avLst/>
          </a:prstGeom>
          <a:scene3d>
            <a:camera prst="orthographicFront"/>
            <a:lightRig rig="threePt" dir="t"/>
          </a:scene3d>
          <a:sp3d>
            <a:bevelT/>
          </a:sp3d>
        </p:spPr>
      </p:pic>
      <p:sp>
        <p:nvSpPr>
          <p:cNvPr id="13" name="TextBox 12">
            <a:extLst>
              <a:ext uri="{FF2B5EF4-FFF2-40B4-BE49-F238E27FC236}">
                <a16:creationId xmlns:a16="http://schemas.microsoft.com/office/drawing/2014/main" id="{4BE8B6D4-845A-1E0C-D684-7B24D762B639}"/>
              </a:ext>
            </a:extLst>
          </p:cNvPr>
          <p:cNvSpPr txBox="1"/>
          <p:nvPr/>
        </p:nvSpPr>
        <p:spPr>
          <a:xfrm>
            <a:off x="0" y="4163504"/>
            <a:ext cx="12192000" cy="2585323"/>
          </a:xfrm>
          <a:prstGeom prst="rect">
            <a:avLst/>
          </a:prstGeom>
          <a:noFill/>
        </p:spPr>
        <p:txBody>
          <a:bodyPr wrap="square" rtlCol="0">
            <a:spAutoFit/>
          </a:bodyPr>
          <a:lstStyle/>
          <a:p>
            <a:r>
              <a:rPr lang="en-US" b="1"/>
              <a:t>Observations:</a:t>
            </a:r>
            <a:endParaRPr lang="en-US"/>
          </a:p>
          <a:p>
            <a:r>
              <a:rPr lang="en-US"/>
              <a:t>Price Distribution</a:t>
            </a:r>
          </a:p>
          <a:p>
            <a:r>
              <a:rPr lang="en-US"/>
              <a:t>Right-skewed distribution → Most used cars are concentrated in the lower price bands, with a long tail of expensive vehicles.</a:t>
            </a:r>
          </a:p>
          <a:p>
            <a:r>
              <a:rPr lang="en-US"/>
              <a:t>Majority cluster appears roughly between ₹3 – ₹8 lakhs, indicating a budget-dominated market.</a:t>
            </a:r>
          </a:p>
          <a:p>
            <a:r>
              <a:rPr lang="en-US"/>
              <a:t>Few extreme high values (luxury / premium SUVs) stretch the tail.</a:t>
            </a:r>
          </a:p>
          <a:p>
            <a:r>
              <a:rPr lang="en-US"/>
              <a:t>Implication for modelling:</a:t>
            </a:r>
          </a:p>
          <a:p>
            <a:r>
              <a:rPr lang="en-US"/>
              <a:t>Raw price is non-normal, which can hurt linear models.</a:t>
            </a:r>
          </a:p>
          <a:p>
            <a:r>
              <a:rPr lang="en-US"/>
              <a:t>Justifies use of log transformation (logPrice).</a:t>
            </a:r>
          </a:p>
          <a:p>
            <a:r>
              <a:rPr lang="en-US"/>
              <a:t>Takeaway: The market is dominated by affordable vehicles; premium cars are rare but influential.</a:t>
            </a:r>
          </a:p>
        </p:txBody>
      </p:sp>
    </p:spTree>
    <p:extLst>
      <p:ext uri="{BB962C8B-B14F-4D97-AF65-F5344CB8AC3E}">
        <p14:creationId xmlns:p14="http://schemas.microsoft.com/office/powerpoint/2010/main" val="2166682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BE14D9-E339-C92D-630B-C066F36FF1B6}"/>
              </a:ext>
            </a:extLst>
          </p:cNvPr>
          <p:cNvSpPr>
            <a:spLocks noGrp="1"/>
          </p:cNvSpPr>
          <p:nvPr>
            <p:ph idx="1"/>
          </p:nvPr>
        </p:nvSpPr>
        <p:spPr>
          <a:xfrm>
            <a:off x="0" y="0"/>
            <a:ext cx="12192000" cy="6858000"/>
          </a:xfrm>
        </p:spPr>
        <p:txBody>
          <a:bodyPr/>
          <a:lstStyle/>
          <a:p>
            <a:r>
              <a:rPr lang="en-US" dirty="0"/>
              <a:t>Kilometers vs Price (Scatter Plot)</a:t>
            </a:r>
          </a:p>
          <a:p>
            <a:r>
              <a:rPr lang="en-US" dirty="0"/>
              <a:t>Weak negative relationship → Price generally declines as kilometers increase.</a:t>
            </a:r>
          </a:p>
          <a:p>
            <a:r>
              <a:rPr lang="en-US" dirty="0"/>
              <a:t>Heavy clustering under 100,000 km, showing most vehicles fall in a typical usage range.</a:t>
            </a:r>
          </a:p>
          <a:p>
            <a:r>
              <a:rPr lang="en-US" dirty="0"/>
              <a:t>High variance at low kilometers:</a:t>
            </a:r>
          </a:p>
          <a:p>
            <a:r>
              <a:rPr lang="en-US" dirty="0"/>
              <a:t>Cars with similar mileage have very different prices → Other features strongly affect price.</a:t>
            </a:r>
          </a:p>
          <a:p>
            <a:r>
              <a:rPr lang="en-US" dirty="0"/>
              <a:t>Extreme kilometer values (200k–600k) behave as leverage points.</a:t>
            </a:r>
          </a:p>
          <a:p>
            <a:r>
              <a:rPr lang="en-US" dirty="0"/>
              <a:t>Takeaway: Mileage alone is not a strong predictor; depreciation is influenced by multiple variables.</a:t>
            </a:r>
          </a:p>
          <a:p>
            <a:r>
              <a:rPr lang="en-US" dirty="0"/>
              <a:t>Fuel Type vs Price (Box Plot)</a:t>
            </a:r>
          </a:p>
          <a:p>
            <a:r>
              <a:rPr lang="en-US" dirty="0"/>
              <a:t>Diesel vehicles show higher median prices than petrol.</a:t>
            </a:r>
          </a:p>
          <a:p>
            <a:r>
              <a:rPr lang="en-US" dirty="0"/>
              <a:t>Diesel also has wider spread, suggesting:</a:t>
            </a:r>
          </a:p>
          <a:p>
            <a:r>
              <a:rPr lang="en-US" dirty="0"/>
              <a:t>Includes both economy and premium SUVs.</a:t>
            </a:r>
          </a:p>
          <a:p>
            <a:r>
              <a:rPr lang="en-US" dirty="0"/>
              <a:t>Petrol cars dominate volume but sit at lower price levels.</a:t>
            </a:r>
          </a:p>
          <a:p>
            <a:r>
              <a:rPr lang="en-US" dirty="0"/>
              <a:t>CNG cars cheaper on average, consistent with economy segment usage.</a:t>
            </a:r>
          </a:p>
          <a:p>
            <a:r>
              <a:rPr lang="en-US" dirty="0"/>
              <a:t>Hybrid &amp; LPG unreliable:</a:t>
            </a:r>
          </a:p>
          <a:p>
            <a:r>
              <a:rPr lang="en-US" dirty="0"/>
              <a:t>Extremely low sample size → statistics unstable.</a:t>
            </a:r>
          </a:p>
          <a:p>
            <a:r>
              <a:rPr lang="en-US" dirty="0"/>
              <a:t>Takeaway: Fuel type meaningfully influences price; diesel vehicles command premiums.</a:t>
            </a:r>
          </a:p>
          <a:p>
            <a:endParaRPr lang="en-IN" dirty="0"/>
          </a:p>
        </p:txBody>
      </p:sp>
    </p:spTree>
    <p:extLst>
      <p:ext uri="{BB962C8B-B14F-4D97-AF65-F5344CB8AC3E}">
        <p14:creationId xmlns:p14="http://schemas.microsoft.com/office/powerpoint/2010/main" val="1252276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E115C-E5B0-91DA-0062-F6C275A4C9F0}"/>
              </a:ext>
            </a:extLst>
          </p:cNvPr>
          <p:cNvSpPr>
            <a:spLocks noGrp="1"/>
          </p:cNvSpPr>
          <p:nvPr>
            <p:ph type="title"/>
          </p:nvPr>
        </p:nvSpPr>
        <p:spPr>
          <a:xfrm>
            <a:off x="0" y="1"/>
            <a:ext cx="12192000" cy="855406"/>
          </a:xfrm>
        </p:spPr>
        <p:txBody>
          <a:bodyPr/>
          <a:lstStyle/>
          <a:p>
            <a:r>
              <a:rPr lang="en-IN" dirty="0"/>
              <a:t>Column drop &amp; important features for model training</a:t>
            </a:r>
          </a:p>
        </p:txBody>
      </p:sp>
      <p:sp>
        <p:nvSpPr>
          <p:cNvPr id="3" name="Content Placeholder 2">
            <a:extLst>
              <a:ext uri="{FF2B5EF4-FFF2-40B4-BE49-F238E27FC236}">
                <a16:creationId xmlns:a16="http://schemas.microsoft.com/office/drawing/2014/main" id="{B8FA0343-302E-BEC8-5C57-8B380713B06D}"/>
              </a:ext>
            </a:extLst>
          </p:cNvPr>
          <p:cNvSpPr>
            <a:spLocks noGrp="1"/>
          </p:cNvSpPr>
          <p:nvPr>
            <p:ph idx="1"/>
          </p:nvPr>
        </p:nvSpPr>
        <p:spPr>
          <a:xfrm>
            <a:off x="0" y="855408"/>
            <a:ext cx="12192000" cy="6002592"/>
          </a:xfrm>
        </p:spPr>
        <p:txBody>
          <a:bodyPr>
            <a:normAutofit fontScale="92500" lnSpcReduction="10000"/>
          </a:bodyPr>
          <a:lstStyle/>
          <a:p>
            <a:r>
              <a:rPr lang="en-IN" b="1" dirty="0"/>
              <a:t>Columns That SHOULD Be Dropped: </a:t>
            </a:r>
          </a:p>
          <a:p>
            <a:r>
              <a:rPr lang="en-IN" dirty="0"/>
              <a:t>Id -Unique identifier, No relationship to price </a:t>
            </a:r>
          </a:p>
          <a:p>
            <a:r>
              <a:rPr lang="en-IN" dirty="0"/>
              <a:t>Dealer Name - Extremely high cardinality, Model memorizes dealer → overfitting </a:t>
            </a:r>
          </a:p>
          <a:p>
            <a:r>
              <a:rPr lang="en-IN" dirty="0"/>
              <a:t>Manufacture Date - Redundant with Model Year &amp; CarAge City -Redundant with Dealer State, Inflates categorical dimensions Variant (Case-Dependent) - Too granular, Noisy text patterns</a:t>
            </a:r>
          </a:p>
          <a:p>
            <a:r>
              <a:rPr lang="en-IN" b="1" dirty="0"/>
              <a:t>Columns That SHOULD Be Kept- Strong pricing signals: </a:t>
            </a:r>
          </a:p>
          <a:p>
            <a:r>
              <a:rPr lang="en-IN" dirty="0"/>
              <a:t>1) Company </a:t>
            </a:r>
          </a:p>
          <a:p>
            <a:r>
              <a:rPr lang="en-IN" dirty="0"/>
              <a:t>2) Model </a:t>
            </a:r>
          </a:p>
          <a:p>
            <a:r>
              <a:rPr lang="en-IN" dirty="0"/>
              <a:t>3) Fuel Type </a:t>
            </a:r>
          </a:p>
          <a:p>
            <a:r>
              <a:rPr lang="en-IN" dirty="0"/>
              <a:t>4) Transmission Type</a:t>
            </a:r>
          </a:p>
          <a:p>
            <a:r>
              <a:rPr lang="en-IN" dirty="0"/>
              <a:t> 5)  Kilometer </a:t>
            </a:r>
          </a:p>
          <a:p>
            <a:r>
              <a:rPr lang="en-IN" dirty="0"/>
              <a:t>6) Body Style </a:t>
            </a:r>
          </a:p>
          <a:p>
            <a:r>
              <a:rPr lang="en-IN" dirty="0"/>
              <a:t>7) CarAge</a:t>
            </a:r>
          </a:p>
          <a:p>
            <a:r>
              <a:rPr lang="en-IN" dirty="0"/>
              <a:t> 8) Owner </a:t>
            </a:r>
          </a:p>
          <a:p>
            <a:r>
              <a:rPr lang="en-IN" dirty="0"/>
              <a:t>9) Dealer State </a:t>
            </a:r>
          </a:p>
          <a:p>
            <a:r>
              <a:rPr lang="en-IN" dirty="0"/>
              <a:t>10) Warranty </a:t>
            </a:r>
          </a:p>
          <a:p>
            <a:r>
              <a:rPr lang="en-IN" dirty="0"/>
              <a:t>11) QualityScore</a:t>
            </a:r>
          </a:p>
        </p:txBody>
      </p:sp>
    </p:spTree>
    <p:extLst>
      <p:ext uri="{BB962C8B-B14F-4D97-AF65-F5344CB8AC3E}">
        <p14:creationId xmlns:p14="http://schemas.microsoft.com/office/powerpoint/2010/main" val="1506891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919C-EE41-B4D9-30E4-C658170CCD84}"/>
              </a:ext>
            </a:extLst>
          </p:cNvPr>
          <p:cNvSpPr>
            <a:spLocks noGrp="1"/>
          </p:cNvSpPr>
          <p:nvPr>
            <p:ph type="title"/>
          </p:nvPr>
        </p:nvSpPr>
        <p:spPr>
          <a:xfrm>
            <a:off x="78659" y="0"/>
            <a:ext cx="12113341" cy="1117973"/>
          </a:xfrm>
        </p:spPr>
        <p:txBody>
          <a:bodyPr/>
          <a:lstStyle/>
          <a:p>
            <a:r>
              <a:rPr lang="en-IN" dirty="0"/>
              <a:t>New features created</a:t>
            </a:r>
          </a:p>
        </p:txBody>
      </p:sp>
      <p:sp>
        <p:nvSpPr>
          <p:cNvPr id="3" name="Content Placeholder 2">
            <a:extLst>
              <a:ext uri="{FF2B5EF4-FFF2-40B4-BE49-F238E27FC236}">
                <a16:creationId xmlns:a16="http://schemas.microsoft.com/office/drawing/2014/main" id="{AAE7E07D-A80C-73B2-B737-243778036401}"/>
              </a:ext>
            </a:extLst>
          </p:cNvPr>
          <p:cNvSpPr>
            <a:spLocks noGrp="1"/>
          </p:cNvSpPr>
          <p:nvPr>
            <p:ph idx="1"/>
          </p:nvPr>
        </p:nvSpPr>
        <p:spPr>
          <a:xfrm>
            <a:off x="78659" y="1117974"/>
            <a:ext cx="12113341" cy="5813768"/>
          </a:xfrm>
        </p:spPr>
        <p:txBody>
          <a:bodyPr>
            <a:normAutofit fontScale="92500" lnSpcReduction="20000"/>
          </a:bodyPr>
          <a:lstStyle/>
          <a:p>
            <a:endParaRPr lang="en-US" dirty="0"/>
          </a:p>
          <a:p>
            <a:r>
              <a:rPr lang="en-US" b="1" dirty="0" err="1"/>
              <a:t>KM_per_Year</a:t>
            </a:r>
            <a:endParaRPr lang="en-US" b="1" dirty="0"/>
          </a:p>
          <a:p>
            <a:r>
              <a:rPr lang="en-US" dirty="0"/>
              <a:t>The feature </a:t>
            </a:r>
            <a:r>
              <a:rPr lang="en-US" dirty="0" err="1"/>
              <a:t>KM_per_Year</a:t>
            </a:r>
            <a:r>
              <a:rPr lang="en-US" dirty="0"/>
              <a:t> was engineered to normalize vehicle mileage by age, capturing annual usage intensity rather than cumulative distance alone. This transformation reflects real-world valuation logic, where usage rate significantly influences perceived wear and resale value. The adjustment improves model sensitivity to usage-driven depreciation effects.</a:t>
            </a:r>
          </a:p>
          <a:p>
            <a:r>
              <a:rPr lang="en-US" b="1" dirty="0" err="1"/>
              <a:t>IsPremiumBrand</a:t>
            </a:r>
            <a:endParaRPr lang="en-US" b="1" dirty="0"/>
          </a:p>
          <a:p>
            <a:r>
              <a:rPr lang="en-US" dirty="0"/>
              <a:t>This feature flags vehicles belonging to premium manufacturers (e.g., luxury or high-end brands). Premium brands typically exhibit distinct pricing </a:t>
            </a:r>
            <a:r>
              <a:rPr lang="en-US" dirty="0" err="1"/>
              <a:t>behaviour</a:t>
            </a:r>
            <a:r>
              <a:rPr lang="en-US" dirty="0"/>
              <a:t> due to stronger brand equity, superior build quality, and slower depreciation curves. Introducing this variable helps the model differentiate mass-market vehicles from premium segments, improving price prediction accuracy.</a:t>
            </a:r>
          </a:p>
          <a:p>
            <a:r>
              <a:rPr lang="en-US" b="1" dirty="0" err="1"/>
              <a:t>WarrantyImpact</a:t>
            </a:r>
            <a:endParaRPr lang="en-US" b="1" dirty="0"/>
          </a:p>
          <a:p>
            <a:r>
              <a:rPr lang="en-US" dirty="0" err="1"/>
              <a:t>WarrantyImpact</a:t>
            </a:r>
            <a:r>
              <a:rPr lang="en-US" dirty="0"/>
              <a:t> captures the combined effect of warranty availability and vehicle age/condition. Vehicles with active warranties generally command higher resale values as they reduce perceived buyer risk and potential maintenance costs. This feature allows the model to quantify the economic value of warranty coverage rather than treating warranty as a simple binary variable.</a:t>
            </a:r>
          </a:p>
          <a:p>
            <a:r>
              <a:rPr lang="en-US" b="1" dirty="0" err="1"/>
              <a:t>UsageIntensity</a:t>
            </a:r>
            <a:endParaRPr lang="en-US" b="1" dirty="0"/>
          </a:p>
          <a:p>
            <a:r>
              <a:rPr lang="en-US" dirty="0"/>
              <a:t>This feature normalizes vehicle usage by relating total kilometers driven to vehicle age. Absolute mileage alone can be misleading; a high-mileage older car may be typical, whereas similar mileage on a newer vehicle may signal heavy usage. </a:t>
            </a:r>
            <a:r>
              <a:rPr lang="en-US" dirty="0" err="1"/>
              <a:t>UsageIntensity</a:t>
            </a:r>
            <a:r>
              <a:rPr lang="en-US" dirty="0"/>
              <a:t> provides a more realistic representation of wear patterns and depreciation pressure.</a:t>
            </a:r>
          </a:p>
          <a:p>
            <a:r>
              <a:rPr lang="en-US" b="1" dirty="0" err="1"/>
              <a:t>WearAndTear</a:t>
            </a:r>
            <a:endParaRPr lang="en-US" b="1" dirty="0"/>
          </a:p>
          <a:p>
            <a:r>
              <a:rPr lang="en-US" dirty="0" err="1"/>
              <a:t>WearAndTear</a:t>
            </a:r>
            <a:r>
              <a:rPr lang="en-US" dirty="0"/>
              <a:t> represents a composite proxy for vehicle condition by combining factors such as age, mileage </a:t>
            </a:r>
            <a:r>
              <a:rPr lang="en-US" dirty="0" err="1"/>
              <a:t>behaviour</a:t>
            </a:r>
            <a:r>
              <a:rPr lang="en-US" dirty="0"/>
              <a:t>, and quality indicators. Used-car prices are strongly influenced by perceived condition rather than any single variable. This feature improves the model’s ability to capture real-world valuation logic where deterioration effects are cumulative.</a:t>
            </a:r>
          </a:p>
          <a:p>
            <a:endParaRPr lang="en-US" dirty="0"/>
          </a:p>
          <a:p>
            <a:endParaRPr lang="en-US" dirty="0"/>
          </a:p>
          <a:p>
            <a:endParaRPr lang="en-IN" dirty="0"/>
          </a:p>
        </p:txBody>
      </p:sp>
    </p:spTree>
    <p:extLst>
      <p:ext uri="{BB962C8B-B14F-4D97-AF65-F5344CB8AC3E}">
        <p14:creationId xmlns:p14="http://schemas.microsoft.com/office/powerpoint/2010/main" val="1118731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CC156-55F8-C650-4DE9-60785746271D}"/>
              </a:ext>
            </a:extLst>
          </p:cNvPr>
          <p:cNvSpPr>
            <a:spLocks noGrp="1"/>
          </p:cNvSpPr>
          <p:nvPr>
            <p:ph type="title"/>
          </p:nvPr>
        </p:nvSpPr>
        <p:spPr>
          <a:xfrm>
            <a:off x="2083653" y="99453"/>
            <a:ext cx="7729728" cy="1188720"/>
          </a:xfrm>
        </p:spPr>
        <p:txBody>
          <a:bodyPr/>
          <a:lstStyle/>
          <a:p>
            <a:r>
              <a:rPr lang="en-IN" dirty="0"/>
              <a:t>Defining Features &amp; Target</a:t>
            </a:r>
          </a:p>
        </p:txBody>
      </p:sp>
      <p:sp>
        <p:nvSpPr>
          <p:cNvPr id="3" name="Content Placeholder 2">
            <a:extLst>
              <a:ext uri="{FF2B5EF4-FFF2-40B4-BE49-F238E27FC236}">
                <a16:creationId xmlns:a16="http://schemas.microsoft.com/office/drawing/2014/main" id="{3DF121C1-7B15-A1FC-7285-70DE00C5BF3C}"/>
              </a:ext>
            </a:extLst>
          </p:cNvPr>
          <p:cNvSpPr>
            <a:spLocks noGrp="1"/>
          </p:cNvSpPr>
          <p:nvPr>
            <p:ph idx="1"/>
          </p:nvPr>
        </p:nvSpPr>
        <p:spPr>
          <a:xfrm>
            <a:off x="176981" y="1428676"/>
            <a:ext cx="11769213" cy="5329871"/>
          </a:xfrm>
        </p:spPr>
        <p:txBody>
          <a:bodyPr>
            <a:normAutofit/>
          </a:bodyPr>
          <a:lstStyle/>
          <a:p>
            <a:r>
              <a:rPr lang="en-US" dirty="0"/>
              <a:t>To build the price prediction model, the dataset was separated into </a:t>
            </a:r>
            <a:r>
              <a:rPr lang="en-US" b="1" dirty="0"/>
              <a:t>input features (X)</a:t>
            </a:r>
            <a:r>
              <a:rPr lang="en-US" dirty="0"/>
              <a:t> and the </a:t>
            </a:r>
            <a:r>
              <a:rPr lang="en-US" b="1" dirty="0"/>
              <a:t>target variable (y)</a:t>
            </a:r>
            <a:r>
              <a:rPr lang="en-US" dirty="0"/>
              <a:t>.</a:t>
            </a:r>
          </a:p>
          <a:p>
            <a:r>
              <a:rPr lang="en-US" dirty="0"/>
              <a:t>The </a:t>
            </a:r>
            <a:r>
              <a:rPr lang="en-US" b="1" dirty="0"/>
              <a:t>target variable</a:t>
            </a:r>
            <a:r>
              <a:rPr lang="en-US" dirty="0"/>
              <a:t> represents the outcome the model aims to predict — the vehicle price. Since used-car prices typically exhibit right-skewed distributions, a logarithmic transformation was applied:</a:t>
            </a:r>
          </a:p>
          <a:p>
            <a:r>
              <a:rPr lang="en-US" b="1" dirty="0"/>
              <a:t>Target (y):</a:t>
            </a:r>
            <a:r>
              <a:rPr lang="en-US" dirty="0"/>
              <a:t> </a:t>
            </a:r>
            <a:r>
              <a:rPr lang="en-US" dirty="0" err="1"/>
              <a:t>logPrice</a:t>
            </a:r>
            <a:r>
              <a:rPr lang="en-US" dirty="0"/>
              <a:t> = log1p(Price)</a:t>
            </a:r>
          </a:p>
          <a:p>
            <a:r>
              <a:rPr lang="en-US" dirty="0"/>
              <a:t>This transformation stabilizes variance, reduces the impact of extreme values, and improves model learning.</a:t>
            </a:r>
          </a:p>
          <a:p>
            <a:r>
              <a:rPr lang="en-US" dirty="0"/>
              <a:t>The </a:t>
            </a:r>
            <a:r>
              <a:rPr lang="en-US" b="1" dirty="0"/>
              <a:t>feature set (X)</a:t>
            </a:r>
            <a:r>
              <a:rPr lang="en-US" dirty="0"/>
              <a:t> consists of all relevant explanatory variables describing vehicle attributes, usage characteristics, seller information, and engineered predictors (such as vehicle age, usage intensity, warranty impact, etc.). These features provide the model with the necessary signals to learn pricing patterns.</a:t>
            </a:r>
          </a:p>
          <a:p>
            <a:r>
              <a:rPr lang="en-US" dirty="0"/>
              <a:t>This separation ensures the model learns relationships between vehicle characteristics and market value in a structured and statistically sound manner.</a:t>
            </a:r>
          </a:p>
          <a:p>
            <a:endParaRPr lang="en-IN" dirty="0"/>
          </a:p>
        </p:txBody>
      </p:sp>
    </p:spTree>
    <p:extLst>
      <p:ext uri="{BB962C8B-B14F-4D97-AF65-F5344CB8AC3E}">
        <p14:creationId xmlns:p14="http://schemas.microsoft.com/office/powerpoint/2010/main" val="13046271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10568-6825-618D-8E0B-FEEB93A62972}"/>
              </a:ext>
            </a:extLst>
          </p:cNvPr>
          <p:cNvSpPr>
            <a:spLocks noGrp="1"/>
          </p:cNvSpPr>
          <p:nvPr>
            <p:ph type="title"/>
          </p:nvPr>
        </p:nvSpPr>
        <p:spPr>
          <a:xfrm>
            <a:off x="0" y="-100242"/>
            <a:ext cx="12192000" cy="749172"/>
          </a:xfrm>
        </p:spPr>
        <p:txBody>
          <a:bodyPr>
            <a:normAutofit fontScale="90000"/>
          </a:bodyPr>
          <a:lstStyle/>
          <a:p>
            <a:br>
              <a:rPr lang="en-IN" dirty="0"/>
            </a:br>
            <a:r>
              <a:rPr lang="en-IN" dirty="0"/>
              <a:t>Data Preprocessing / Feature Categorization</a:t>
            </a:r>
            <a:br>
              <a:rPr lang="en-IN" dirty="0"/>
            </a:br>
            <a:endParaRPr lang="en-IN" dirty="0"/>
          </a:p>
        </p:txBody>
      </p:sp>
      <p:sp>
        <p:nvSpPr>
          <p:cNvPr id="4" name="Rectangle 1">
            <a:extLst>
              <a:ext uri="{FF2B5EF4-FFF2-40B4-BE49-F238E27FC236}">
                <a16:creationId xmlns:a16="http://schemas.microsoft.com/office/drawing/2014/main" id="{01313F27-BBBF-081B-D8E2-9EB76A6FBB05}"/>
              </a:ext>
            </a:extLst>
          </p:cNvPr>
          <p:cNvSpPr>
            <a:spLocks noGrp="1" noChangeArrowheads="1"/>
          </p:cNvSpPr>
          <p:nvPr>
            <p:ph idx="1"/>
          </p:nvPr>
        </p:nvSpPr>
        <p:spPr bwMode="auto">
          <a:xfrm>
            <a:off x="93406" y="988517"/>
            <a:ext cx="1202976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Prior to model development, systematic data preprocessing was performed to ensure analytical reliability and model stability. This phase focused on preparing raw data for machine learning by addressing common real-world data quality challenges.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Key preprocessing steps included: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Missing Value Treatment: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Numerical features were imputed using median values to preserve distributional properties, while categorical variables were filled with a constant </a:t>
            </a:r>
            <a:r>
              <a:rPr kumimoji="0" lang="en-US" altLang="en-US" b="0" i="0" u="none" strike="noStrike" cap="none" normalizeH="0" baseline="0" dirty="0">
                <a:ln>
                  <a:noFill/>
                </a:ln>
                <a:solidFill>
                  <a:schemeClr val="tx1"/>
                </a:solidFill>
                <a:effectLst/>
                <a:latin typeface="Arial" panose="020B0604020202020204" pitchFamily="34" charset="0"/>
              </a:rPr>
              <a:t>label (</a:t>
            </a:r>
            <a:r>
              <a:rPr kumimoji="0" lang="en-US" altLang="en-US" b="0" i="0" u="none" strike="noStrike" cap="none" normalizeH="0" baseline="0" dirty="0">
                <a:ln>
                  <a:noFill/>
                </a:ln>
                <a:solidFill>
                  <a:schemeClr val="tx1"/>
                </a:solidFill>
                <a:effectLst/>
                <a:latin typeface="Arial Unicode MS"/>
              </a:rPr>
              <a:t>"Unknown"</a:t>
            </a:r>
            <a:r>
              <a:rPr kumimoji="0" lang="en-US" altLang="en-US" b="0" i="0" u="none" strike="noStrike" cap="none" normalizeH="0" baseline="0" dirty="0">
                <a:ln>
                  <a:noFill/>
                </a:ln>
                <a:solidFill>
                  <a:schemeClr val="tx1"/>
                </a:solidFill>
                <a:effectLst/>
              </a:rPr>
              <a:t>) to retain records without introducing bias.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Categorical Standardization: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Inconsistent category labels (e.g., </a:t>
            </a:r>
            <a:r>
              <a:rPr kumimoji="0" lang="en-US" altLang="en-US" sz="1000"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latin typeface="Arial Unicode MS"/>
              </a:rPr>
              <a:t>Manual"</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"MANUAL"</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"manual"</a:t>
            </a:r>
            <a:r>
              <a:rPr kumimoji="0" lang="en-US" altLang="en-US" b="0" i="0" u="none" strike="noStrike" cap="none" normalizeH="0" baseline="0" dirty="0">
                <a:ln>
                  <a:noFill/>
                </a:ln>
                <a:solidFill>
                  <a:schemeClr val="tx1"/>
                </a:solidFill>
                <a:effectLst/>
              </a:rPr>
              <a:t>) were normalized to avoid artificial category fragmentation.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Categorization: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Variables were divided into: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Numerical Features</a:t>
            </a:r>
            <a:r>
              <a:rPr kumimoji="0" lang="en-US" altLang="en-US" sz="1800" b="0" i="0" u="none" strike="noStrike" cap="none" normalizeH="0" baseline="0" dirty="0">
                <a:ln>
                  <a:noFill/>
                </a:ln>
                <a:solidFill>
                  <a:schemeClr val="tx1"/>
                </a:solidFill>
                <a:effectLst/>
                <a:latin typeface="Arial" panose="020B0604020202020204" pitchFamily="34" charset="0"/>
              </a:rPr>
              <a:t> – Continuous variables such as </a:t>
            </a:r>
            <a:r>
              <a:rPr kumimoji="0" lang="en-US" altLang="en-US" sz="1800" b="0" i="0" u="none" strike="noStrike" cap="none" normalizeH="0" baseline="0" dirty="0">
                <a:ln>
                  <a:noFill/>
                </a:ln>
                <a:solidFill>
                  <a:schemeClr val="tx1"/>
                </a:solidFill>
                <a:effectLst/>
                <a:latin typeface="Arial Unicode MS"/>
              </a:rPr>
              <a:t>Kilometer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CarAge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latin typeface="Arial Unicode MS"/>
              </a:rPr>
              <a:t>Warranty</a:t>
            </a:r>
            <a:r>
              <a:rPr kumimoji="0" lang="en-US" altLang="en-US" sz="1800" b="0" i="0" u="none" strike="noStrike" cap="none" normalizeH="0" baseline="0" dirty="0">
                <a:ln>
                  <a:noFill/>
                </a:ln>
                <a:solidFill>
                  <a:schemeClr val="tx1"/>
                </a:solidFill>
                <a:effectLst/>
              </a:rPr>
              <a:t>, and </a:t>
            </a:r>
            <a:r>
              <a:rPr kumimoji="0" lang="en-US" altLang="en-US" sz="1800" b="0" i="0" u="none" strike="noStrike" cap="none" normalizeH="0" baseline="0" dirty="0" err="1">
                <a:ln>
                  <a:noFill/>
                </a:ln>
                <a:solidFill>
                  <a:schemeClr val="tx1"/>
                </a:solidFill>
                <a:effectLst/>
                <a:latin typeface="Arial Unicode MS"/>
              </a:rPr>
              <a:t>QualityScore</a:t>
            </a:r>
            <a:endParaRPr kumimoji="0" lang="en-US" altLang="en-US" sz="18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Categorical Features</a:t>
            </a:r>
            <a:r>
              <a:rPr kumimoji="0" lang="en-US" altLang="en-US" sz="1800" b="0" i="0" u="none" strike="noStrike" cap="none" normalizeH="0" baseline="0" dirty="0">
                <a:ln>
                  <a:noFill/>
                </a:ln>
                <a:solidFill>
                  <a:schemeClr val="tx1"/>
                </a:solidFill>
                <a:effectLst/>
                <a:latin typeface="Arial" panose="020B0604020202020204" pitchFamily="34" charset="0"/>
              </a:rPr>
              <a:t> – Descriptive attributes such as </a:t>
            </a:r>
            <a:r>
              <a:rPr kumimoji="0" lang="en-US" altLang="en-US" sz="1800" b="0" i="0" u="none" strike="noStrike" cap="none" normalizeH="0" baseline="0" dirty="0">
                <a:ln>
                  <a:noFill/>
                </a:ln>
                <a:solidFill>
                  <a:schemeClr val="tx1"/>
                </a:solidFill>
                <a:effectLst/>
                <a:latin typeface="Arial Unicode MS"/>
              </a:rPr>
              <a:t>Company</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latin typeface="Arial Unicode MS"/>
              </a:rPr>
              <a:t>Model</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FuelType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BodyStyle</a:t>
            </a:r>
            <a:r>
              <a:rPr kumimoji="0" lang="en-US" altLang="en-US" sz="1800" b="0" i="0" u="none" strike="noStrike" cap="none" normalizeH="0" baseline="0" dirty="0">
                <a:ln>
                  <a:noFill/>
                </a:ln>
                <a:solidFill>
                  <a:schemeClr val="tx1"/>
                </a:solidFill>
                <a:effectLst/>
              </a:rPr>
              <a:t>, etc.</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Encoding &amp; Scaling: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Categorical variables were transformed using One-Hot Encoding to enable model interpretation, while numerical variables were scaled using standardization to maintain comparable feature magnitudes.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These preprocessing steps ensured that the dataset was clean, consistent, and suitable for robust predictive modeling.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894271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1C348-13AD-5EF8-6D11-E4F05DCAD7A9}"/>
              </a:ext>
            </a:extLst>
          </p:cNvPr>
          <p:cNvSpPr>
            <a:spLocks noGrp="1"/>
          </p:cNvSpPr>
          <p:nvPr>
            <p:ph type="title"/>
          </p:nvPr>
        </p:nvSpPr>
        <p:spPr>
          <a:xfrm>
            <a:off x="68826" y="79789"/>
            <a:ext cx="12123174" cy="1188720"/>
          </a:xfrm>
        </p:spPr>
        <p:txBody>
          <a:bodyPr/>
          <a:lstStyle/>
          <a:p>
            <a:r>
              <a:rPr lang="en-US" dirty="0"/>
              <a:t>Column-wise Data Transformation using Pipelines</a:t>
            </a:r>
            <a:endParaRPr lang="en-IN" dirty="0"/>
          </a:p>
        </p:txBody>
      </p:sp>
      <p:sp>
        <p:nvSpPr>
          <p:cNvPr id="3" name="Content Placeholder 2">
            <a:extLst>
              <a:ext uri="{FF2B5EF4-FFF2-40B4-BE49-F238E27FC236}">
                <a16:creationId xmlns:a16="http://schemas.microsoft.com/office/drawing/2014/main" id="{466BF6A1-231F-1153-CED2-DD80D3935200}"/>
              </a:ext>
            </a:extLst>
          </p:cNvPr>
          <p:cNvSpPr>
            <a:spLocks noGrp="1"/>
          </p:cNvSpPr>
          <p:nvPr>
            <p:ph idx="1"/>
          </p:nvPr>
        </p:nvSpPr>
        <p:spPr>
          <a:xfrm>
            <a:off x="147484" y="1268510"/>
            <a:ext cx="12044516" cy="5589490"/>
          </a:xfrm>
        </p:spPr>
        <p:txBody>
          <a:bodyPr/>
          <a:lstStyle/>
          <a:p>
            <a:r>
              <a:rPr lang="en-US" dirty="0"/>
              <a:t>To ensure a clean and reproducible workflow, column-wise transformations were implemented using </a:t>
            </a:r>
            <a:r>
              <a:rPr lang="en-US" b="1" dirty="0"/>
              <a:t>scikit-learn Pipelines</a:t>
            </a:r>
            <a:r>
              <a:rPr lang="en-US" dirty="0"/>
              <a:t> and a </a:t>
            </a:r>
            <a:r>
              <a:rPr lang="en-US" b="1" dirty="0" err="1"/>
              <a:t>ColumnTransformer</a:t>
            </a:r>
            <a:r>
              <a:rPr lang="en-US" dirty="0"/>
              <a:t>. This approach allows different preprocessing steps to be applied to numerical and categorical features in a structured and automated manner.</a:t>
            </a:r>
          </a:p>
          <a:p>
            <a:r>
              <a:rPr lang="en-US" b="1" dirty="0"/>
              <a:t>Numerical Pipeline:</a:t>
            </a:r>
            <a:br>
              <a:rPr lang="en-US" dirty="0"/>
            </a:br>
            <a:r>
              <a:rPr lang="en-US" dirty="0"/>
              <a:t>Numerical variables were processed through a sequence of median imputation (to handle missing values) followed by feature scaling. Scaling standardizes the data and prevents models from being biased toward variables with larger magnitudes.</a:t>
            </a:r>
          </a:p>
          <a:p>
            <a:r>
              <a:rPr lang="en-US" b="1" dirty="0"/>
              <a:t>Categorical Pipeline:</a:t>
            </a:r>
            <a:br>
              <a:rPr lang="en-US" dirty="0"/>
            </a:br>
            <a:r>
              <a:rPr lang="en-US" dirty="0"/>
              <a:t>Categorical variables underwent constant-value imputation (for missing categories) and One-Hot Encoding, enabling algorithms to interpret non-numeric data without imposing ordinal relationships.</a:t>
            </a:r>
          </a:p>
          <a:p>
            <a:r>
              <a:rPr lang="en-US" b="1" dirty="0"/>
              <a:t>Unified Transformation:</a:t>
            </a:r>
            <a:br>
              <a:rPr lang="en-US" dirty="0"/>
            </a:br>
            <a:r>
              <a:rPr lang="en-US" dirty="0"/>
              <a:t>The </a:t>
            </a:r>
            <a:r>
              <a:rPr lang="en-US" dirty="0" err="1"/>
              <a:t>ColumnTransformer</a:t>
            </a:r>
            <a:r>
              <a:rPr lang="en-US" dirty="0"/>
              <a:t> combines both pipelines, ensuring each feature type receives appropriate treatment within a single modeling workflow.</a:t>
            </a:r>
          </a:p>
          <a:p>
            <a:r>
              <a:rPr lang="en-US" dirty="0"/>
              <a:t>This pipeline-driven design improves </a:t>
            </a:r>
            <a:r>
              <a:rPr lang="en-US" b="1" dirty="0"/>
              <a:t>code modularity</a:t>
            </a:r>
            <a:r>
              <a:rPr lang="en-US" dirty="0"/>
              <a:t>, </a:t>
            </a:r>
            <a:r>
              <a:rPr lang="en-US" b="1" dirty="0"/>
              <a:t>prevents data leakage</a:t>
            </a:r>
            <a:r>
              <a:rPr lang="en-US" dirty="0"/>
              <a:t>, and guarantees consistent preprocessing during both training and inference.</a:t>
            </a:r>
          </a:p>
          <a:p>
            <a:r>
              <a:rPr lang="en-US" b="1" dirty="0"/>
              <a:t>Writing code? Meet Codex.</a:t>
            </a:r>
          </a:p>
          <a:p>
            <a:endParaRPr lang="en-IN" dirty="0"/>
          </a:p>
        </p:txBody>
      </p:sp>
    </p:spTree>
    <p:extLst>
      <p:ext uri="{BB962C8B-B14F-4D97-AF65-F5344CB8AC3E}">
        <p14:creationId xmlns:p14="http://schemas.microsoft.com/office/powerpoint/2010/main" val="16248688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C5A37-DDE8-4BFE-4111-AA89D33F4CB1}"/>
              </a:ext>
            </a:extLst>
          </p:cNvPr>
          <p:cNvSpPr>
            <a:spLocks noGrp="1"/>
          </p:cNvSpPr>
          <p:nvPr>
            <p:ph type="title"/>
          </p:nvPr>
        </p:nvSpPr>
        <p:spPr>
          <a:xfrm>
            <a:off x="0" y="0"/>
            <a:ext cx="12093677" cy="1188720"/>
          </a:xfrm>
        </p:spPr>
        <p:txBody>
          <a:bodyPr/>
          <a:lstStyle/>
          <a:p>
            <a:r>
              <a:rPr lang="en-IN" dirty="0"/>
              <a:t>Train–Test Split &amp; cross-validation</a:t>
            </a:r>
          </a:p>
        </p:txBody>
      </p:sp>
      <p:sp>
        <p:nvSpPr>
          <p:cNvPr id="3" name="Content Placeholder 2">
            <a:extLst>
              <a:ext uri="{FF2B5EF4-FFF2-40B4-BE49-F238E27FC236}">
                <a16:creationId xmlns:a16="http://schemas.microsoft.com/office/drawing/2014/main" id="{356A2D25-0A97-083B-9D07-88FC2CC17E14}"/>
              </a:ext>
            </a:extLst>
          </p:cNvPr>
          <p:cNvSpPr>
            <a:spLocks noGrp="1"/>
          </p:cNvSpPr>
          <p:nvPr>
            <p:ph idx="1"/>
          </p:nvPr>
        </p:nvSpPr>
        <p:spPr>
          <a:xfrm>
            <a:off x="0" y="1340186"/>
            <a:ext cx="12093676" cy="5444072"/>
          </a:xfrm>
        </p:spPr>
        <p:txBody>
          <a:bodyPr>
            <a:normAutofit lnSpcReduction="10000"/>
          </a:bodyPr>
          <a:lstStyle/>
          <a:p>
            <a:r>
              <a:rPr lang="en-US" b="1" dirty="0"/>
              <a:t>Train-Test Split</a:t>
            </a:r>
          </a:p>
          <a:p>
            <a:r>
              <a:rPr lang="en-US" dirty="0"/>
              <a:t>To objectively evaluate model performance, the dataset was divided into </a:t>
            </a:r>
            <a:r>
              <a:rPr lang="en-US" b="1" dirty="0"/>
              <a:t>training</a:t>
            </a:r>
            <a:r>
              <a:rPr lang="en-US" dirty="0"/>
              <a:t> and </a:t>
            </a:r>
            <a:r>
              <a:rPr lang="en-US" b="1" dirty="0"/>
              <a:t>testing</a:t>
            </a:r>
            <a:r>
              <a:rPr lang="en-US" dirty="0"/>
              <a:t> subsets. The training set is used to learn relationships between features and vehicle prices, while the testing set provides an unbiased assessment of how well the model generalizes to unseen data.</a:t>
            </a:r>
          </a:p>
          <a:p>
            <a:r>
              <a:rPr lang="en-US" dirty="0"/>
              <a:t>A typical split ratio (e.g., </a:t>
            </a:r>
            <a:r>
              <a:rPr lang="en-US" b="1" dirty="0"/>
              <a:t>80% training / 20% testing</a:t>
            </a:r>
            <a:r>
              <a:rPr lang="en-US" dirty="0"/>
              <a:t>) ensures sufficient data for model learning while preserving a representative sample for validation. This separation helps detect overfitting and provides a realistic estimate of predictive accuracy.</a:t>
            </a:r>
          </a:p>
          <a:p>
            <a:r>
              <a:rPr lang="en-US" dirty="0"/>
              <a:t>By isolating evaluation data from the learning process, the train–test split establishes a reliable foundation for performance measurement and model comparison.</a:t>
            </a:r>
          </a:p>
          <a:p>
            <a:r>
              <a:rPr lang="en-US" b="1" dirty="0"/>
              <a:t>Cross-Validation</a:t>
            </a:r>
          </a:p>
          <a:p>
            <a:r>
              <a:rPr lang="en-US" dirty="0"/>
              <a:t>Cross-validation was employed to obtain a more reliable estimate of model performance and ensure robustness across different data samples. Instead of relying on a single train–test split, the dataset is repeatedly partitioned into multiple folds, where each fold serves as a temporary validation set while the remaining folds are used for training.</a:t>
            </a:r>
          </a:p>
          <a:p>
            <a:r>
              <a:rPr lang="en-US" dirty="0"/>
              <a:t>This technique reduces evaluation bias, improves stability of performance metrics, and helps detect overfitting. By averaging results across folds, cross-validation provides a more generalized assessment of how the model is expected to perform on unseen data.</a:t>
            </a:r>
          </a:p>
          <a:p>
            <a:r>
              <a:rPr lang="en-US" dirty="0"/>
              <a:t>Overall, cross-validation strengthens model selection and increases confidence in predictive reliability.</a:t>
            </a:r>
          </a:p>
          <a:p>
            <a:endParaRPr lang="en-US" dirty="0"/>
          </a:p>
          <a:p>
            <a:endParaRPr lang="en-IN" dirty="0"/>
          </a:p>
        </p:txBody>
      </p:sp>
    </p:spTree>
    <p:extLst>
      <p:ext uri="{BB962C8B-B14F-4D97-AF65-F5344CB8AC3E}">
        <p14:creationId xmlns:p14="http://schemas.microsoft.com/office/powerpoint/2010/main" val="3593167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CBCE1-5F8A-CCD1-7251-01559276758C}"/>
              </a:ext>
            </a:extLst>
          </p:cNvPr>
          <p:cNvSpPr>
            <a:spLocks noGrp="1"/>
          </p:cNvSpPr>
          <p:nvPr>
            <p:ph type="title"/>
          </p:nvPr>
        </p:nvSpPr>
        <p:spPr>
          <a:xfrm>
            <a:off x="0" y="0"/>
            <a:ext cx="12123174" cy="1188720"/>
          </a:xfrm>
        </p:spPr>
        <p:txBody>
          <a:bodyPr/>
          <a:lstStyle/>
          <a:p>
            <a:r>
              <a:rPr lang="en-IN" dirty="0"/>
              <a:t>Model Evaluation</a:t>
            </a:r>
            <a:br>
              <a:rPr lang="en-IN" dirty="0"/>
            </a:br>
            <a:endParaRPr lang="en-IN" dirty="0"/>
          </a:p>
        </p:txBody>
      </p:sp>
      <p:sp>
        <p:nvSpPr>
          <p:cNvPr id="3" name="Content Placeholder 2">
            <a:extLst>
              <a:ext uri="{FF2B5EF4-FFF2-40B4-BE49-F238E27FC236}">
                <a16:creationId xmlns:a16="http://schemas.microsoft.com/office/drawing/2014/main" id="{9DC56021-E456-31EA-A5C5-3677B740526B}"/>
              </a:ext>
            </a:extLst>
          </p:cNvPr>
          <p:cNvSpPr>
            <a:spLocks noGrp="1"/>
          </p:cNvSpPr>
          <p:nvPr>
            <p:ph idx="1"/>
          </p:nvPr>
        </p:nvSpPr>
        <p:spPr>
          <a:xfrm>
            <a:off x="137650" y="1330353"/>
            <a:ext cx="11985523" cy="5527647"/>
          </a:xfrm>
        </p:spPr>
        <p:txBody>
          <a:bodyPr>
            <a:normAutofit/>
          </a:bodyPr>
          <a:lstStyle/>
          <a:p>
            <a:r>
              <a:rPr lang="en-US" dirty="0"/>
              <a:t>Model performance was assessed using standard regression metrics to quantify prediction accuracy and explanatory power:</a:t>
            </a:r>
          </a:p>
          <a:p>
            <a:r>
              <a:rPr lang="en-US" b="1" dirty="0"/>
              <a:t>Mean Absolute Error (MAE):</a:t>
            </a:r>
            <a:r>
              <a:rPr lang="en-US" dirty="0"/>
              <a:t> Measures the average magnitude of prediction errors, providing an intuitive interpretation of typical deviation.</a:t>
            </a:r>
          </a:p>
          <a:p>
            <a:r>
              <a:rPr lang="en-US" b="1" dirty="0"/>
              <a:t>Mean Squared Error (MSE):</a:t>
            </a:r>
            <a:r>
              <a:rPr lang="en-US" dirty="0"/>
              <a:t> Penalizes larger errors more heavily, highlighting model sensitivity to significant mispredictions.</a:t>
            </a:r>
          </a:p>
          <a:p>
            <a:r>
              <a:rPr lang="en-US" b="1" dirty="0"/>
              <a:t>R² Score (Coefficient of Determination):</a:t>
            </a:r>
            <a:r>
              <a:rPr lang="en-US" dirty="0"/>
              <a:t> Indicates the proportion of variance in vehicle prices explained by the model.</a:t>
            </a:r>
          </a:p>
          <a:p>
            <a:r>
              <a:rPr lang="en-US" dirty="0"/>
              <a:t>Together, these metrics provide a balanced view of model effectiveness, enabling objective comparison across algorithms and guiding selection of the most reliable predictive model.</a:t>
            </a:r>
          </a:p>
          <a:p>
            <a:endParaRPr lang="en-IN" dirty="0"/>
          </a:p>
        </p:txBody>
      </p:sp>
    </p:spTree>
    <p:extLst>
      <p:ext uri="{BB962C8B-B14F-4D97-AF65-F5344CB8AC3E}">
        <p14:creationId xmlns:p14="http://schemas.microsoft.com/office/powerpoint/2010/main" val="950713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A1A66-D8CA-D679-D75E-B08B5D5A3FB4}"/>
              </a:ext>
            </a:extLst>
          </p:cNvPr>
          <p:cNvSpPr>
            <a:spLocks noGrp="1"/>
          </p:cNvSpPr>
          <p:nvPr>
            <p:ph type="title"/>
          </p:nvPr>
        </p:nvSpPr>
        <p:spPr>
          <a:xfrm>
            <a:off x="39329" y="0"/>
            <a:ext cx="12113341" cy="1188720"/>
          </a:xfrm>
        </p:spPr>
        <p:txBody>
          <a:bodyPr/>
          <a:lstStyle/>
          <a:p>
            <a:r>
              <a:rPr lang="en-IN" dirty="0"/>
              <a:t>Model pipeline &amp; hyper parameter tuning</a:t>
            </a:r>
          </a:p>
        </p:txBody>
      </p:sp>
      <p:sp>
        <p:nvSpPr>
          <p:cNvPr id="3" name="Content Placeholder 2">
            <a:extLst>
              <a:ext uri="{FF2B5EF4-FFF2-40B4-BE49-F238E27FC236}">
                <a16:creationId xmlns:a16="http://schemas.microsoft.com/office/drawing/2014/main" id="{B1888B4D-4BA3-1A1C-AB41-A5344DB4148F}"/>
              </a:ext>
            </a:extLst>
          </p:cNvPr>
          <p:cNvSpPr>
            <a:spLocks noGrp="1"/>
          </p:cNvSpPr>
          <p:nvPr>
            <p:ph idx="1"/>
          </p:nvPr>
        </p:nvSpPr>
        <p:spPr>
          <a:xfrm>
            <a:off x="39329" y="1188720"/>
            <a:ext cx="12133006" cy="5669280"/>
          </a:xfrm>
        </p:spPr>
        <p:txBody>
          <a:bodyPr>
            <a:normAutofit fontScale="92500" lnSpcReduction="20000"/>
          </a:bodyPr>
          <a:lstStyle/>
          <a:p>
            <a:r>
              <a:rPr lang="en-US" b="1" dirty="0"/>
              <a:t>Model Pipeline</a:t>
            </a:r>
          </a:p>
          <a:p>
            <a:r>
              <a:rPr lang="en-US" dirty="0"/>
              <a:t>A unified </a:t>
            </a:r>
            <a:r>
              <a:rPr lang="en-US" b="1" dirty="0"/>
              <a:t>model pipeline</a:t>
            </a:r>
            <a:r>
              <a:rPr lang="en-US" dirty="0"/>
              <a:t> was constructed to integrate preprocessing and algorithm training into a single, reusable workflow. This design ensures that all data transformations — including imputation, encoding, and scaling — are consistently applied during both training and prediction.</a:t>
            </a:r>
          </a:p>
          <a:p>
            <a:r>
              <a:rPr lang="en-US" dirty="0"/>
              <a:t>By encapsulating preprocessing and the estimator within one pipeline, the approach:</a:t>
            </a:r>
          </a:p>
          <a:p>
            <a:r>
              <a:rPr lang="en-US" dirty="0"/>
              <a:t>Prevents </a:t>
            </a:r>
            <a:r>
              <a:rPr lang="en-US" b="1" dirty="0"/>
              <a:t>data leakage</a:t>
            </a:r>
            <a:endParaRPr lang="en-US" dirty="0"/>
          </a:p>
          <a:p>
            <a:r>
              <a:rPr lang="en-US" dirty="0"/>
              <a:t>Improves </a:t>
            </a:r>
            <a:r>
              <a:rPr lang="en-US" b="1" dirty="0"/>
              <a:t>code modularity and maintainability</a:t>
            </a:r>
            <a:endParaRPr lang="en-US" dirty="0"/>
          </a:p>
          <a:p>
            <a:r>
              <a:rPr lang="en-US" dirty="0"/>
              <a:t>Ensures </a:t>
            </a:r>
            <a:r>
              <a:rPr lang="en-US" b="1" dirty="0"/>
              <a:t>reproducibility</a:t>
            </a:r>
            <a:endParaRPr lang="en-US" dirty="0"/>
          </a:p>
          <a:p>
            <a:r>
              <a:rPr lang="en-US" dirty="0"/>
              <a:t>Simplifies </a:t>
            </a:r>
            <a:r>
              <a:rPr lang="en-US" b="1" dirty="0"/>
              <a:t>deployment and inference</a:t>
            </a:r>
            <a:endParaRPr lang="en-US" dirty="0"/>
          </a:p>
          <a:p>
            <a:r>
              <a:rPr lang="en-US" dirty="0"/>
              <a:t>The pipeline-based structure reflects industry best practices for building reliable and production-ready machine learning systems.</a:t>
            </a:r>
          </a:p>
          <a:p>
            <a:endParaRPr lang="en-US" dirty="0"/>
          </a:p>
          <a:p>
            <a:r>
              <a:rPr lang="en-US" b="1" dirty="0"/>
              <a:t>Hyperparameter Tuning</a:t>
            </a:r>
          </a:p>
          <a:p>
            <a:r>
              <a:rPr lang="en-US" dirty="0"/>
              <a:t>Hyperparameter tuning was performed to optimize model performance by identifying the most effective configuration settings for each algorithm. Unlike model parameters learned from data, hyperparameters control the learning behavior (e.g., tree depth, learning rate, regularization strength).</a:t>
            </a:r>
          </a:p>
          <a:p>
            <a:r>
              <a:rPr lang="en-US" dirty="0"/>
              <a:t>A systematic search strategy (such as </a:t>
            </a:r>
            <a:r>
              <a:rPr lang="en-US" b="1" dirty="0"/>
              <a:t>Grid Search with Cross-Validation</a:t>
            </a:r>
            <a:r>
              <a:rPr lang="en-US" dirty="0"/>
              <a:t>) was used to evaluate multiple hyperparameter combinations and select the configuration that minimizes prediction error while maximizing generalization.</a:t>
            </a:r>
          </a:p>
          <a:p>
            <a:r>
              <a:rPr lang="en-US" dirty="0"/>
              <a:t>This process enhances model accuracy, reduces overfitting risk, and ensures the chosen algorithm operates at its full predictive potential.</a:t>
            </a:r>
          </a:p>
          <a:p>
            <a:endParaRPr lang="en-IN" dirty="0"/>
          </a:p>
        </p:txBody>
      </p:sp>
    </p:spTree>
    <p:extLst>
      <p:ext uri="{BB962C8B-B14F-4D97-AF65-F5344CB8AC3E}">
        <p14:creationId xmlns:p14="http://schemas.microsoft.com/office/powerpoint/2010/main" val="21349674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CB5AE-483C-5227-1FEC-238A420B1440}"/>
              </a:ext>
            </a:extLst>
          </p:cNvPr>
          <p:cNvSpPr>
            <a:spLocks noGrp="1"/>
          </p:cNvSpPr>
          <p:nvPr>
            <p:ph type="title"/>
          </p:nvPr>
        </p:nvSpPr>
        <p:spPr>
          <a:xfrm>
            <a:off x="0" y="69957"/>
            <a:ext cx="12192000" cy="643476"/>
          </a:xfrm>
        </p:spPr>
        <p:txBody>
          <a:bodyPr>
            <a:normAutofit fontScale="90000"/>
          </a:bodyPr>
          <a:lstStyle/>
          <a:p>
            <a:br>
              <a:rPr lang="en-US" dirty="0"/>
            </a:br>
            <a:r>
              <a:rPr lang="en-US" dirty="0"/>
              <a:t>Model Training with Different Algorithms</a:t>
            </a:r>
            <a:br>
              <a:rPr lang="en-US" dirty="0"/>
            </a:br>
            <a:endParaRPr lang="en-IN" dirty="0"/>
          </a:p>
        </p:txBody>
      </p:sp>
      <p:sp>
        <p:nvSpPr>
          <p:cNvPr id="4" name="Rectangle 1">
            <a:extLst>
              <a:ext uri="{FF2B5EF4-FFF2-40B4-BE49-F238E27FC236}">
                <a16:creationId xmlns:a16="http://schemas.microsoft.com/office/drawing/2014/main" id="{D84A18CB-7AF8-6FB7-DC81-64C834BDD102}"/>
              </a:ext>
            </a:extLst>
          </p:cNvPr>
          <p:cNvSpPr>
            <a:spLocks noGrp="1" noChangeArrowheads="1"/>
          </p:cNvSpPr>
          <p:nvPr>
            <p:ph idx="1"/>
          </p:nvPr>
        </p:nvSpPr>
        <p:spPr bwMode="auto">
          <a:xfrm>
            <a:off x="0" y="815204"/>
            <a:ext cx="12047974"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Model Training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Multiple supervised learning algorithms were trained to capture different patterns and relationships within the used-car pricing data. Each model offers distinct strengths, enabling a comprehensive comparative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Linear Regression:</a:t>
            </a:r>
            <a:r>
              <a:rPr kumimoji="0" lang="en-US" altLang="en-US" b="0" i="0" u="none" strike="noStrike" cap="none" normalizeH="0" baseline="0" dirty="0">
                <a:ln>
                  <a:noFill/>
                </a:ln>
                <a:solidFill>
                  <a:schemeClr val="tx1"/>
                </a:solidFill>
                <a:effectLst/>
                <a:latin typeface="Arial" panose="020B0604020202020204" pitchFamily="34" charset="0"/>
              </a:rPr>
              <a:t> Established a baseline by modeling linear relationships between features and prices.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Elastic Net (Ridge + Lasso):</a:t>
            </a:r>
            <a:r>
              <a:rPr kumimoji="0" lang="en-US" altLang="en-US" b="0" i="0" u="none" strike="noStrike" cap="none" normalizeH="0" baseline="0" dirty="0">
                <a:ln>
                  <a:noFill/>
                </a:ln>
                <a:solidFill>
                  <a:schemeClr val="tx1"/>
                </a:solidFill>
                <a:effectLst/>
                <a:latin typeface="Arial" panose="020B0604020202020204" pitchFamily="34" charset="0"/>
              </a:rPr>
              <a:t> Introduced regularization to improve generalization and handle multicollinearity.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Polynomial Regression:</a:t>
            </a:r>
            <a:r>
              <a:rPr kumimoji="0" lang="en-US" altLang="en-US" b="0" i="0" u="none" strike="noStrike" cap="none" normalizeH="0" baseline="0" dirty="0">
                <a:ln>
                  <a:noFill/>
                </a:ln>
                <a:solidFill>
                  <a:schemeClr val="tx1"/>
                </a:solidFill>
                <a:effectLst/>
                <a:latin typeface="Arial" panose="020B0604020202020204" pitchFamily="34" charset="0"/>
              </a:rPr>
              <a:t> Captured non-linear feature interactions through engineered polynomial terms.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Support Vector Regression (SVR):</a:t>
            </a:r>
            <a:r>
              <a:rPr kumimoji="0" lang="en-US" altLang="en-US" b="0" i="0" u="none" strike="noStrike" cap="none" normalizeH="0" baseline="0" dirty="0">
                <a:ln>
                  <a:noFill/>
                </a:ln>
                <a:solidFill>
                  <a:schemeClr val="tx1"/>
                </a:solidFill>
                <a:effectLst/>
                <a:latin typeface="Arial" panose="020B0604020202020204" pitchFamily="34" charset="0"/>
              </a:rPr>
              <a:t> Modeled complex, non-linear relationships using kernel-based learning.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Decision Tree Regressor:</a:t>
            </a:r>
            <a:r>
              <a:rPr kumimoji="0" lang="en-US" altLang="en-US" b="0" i="0" u="none" strike="noStrike" cap="none" normalizeH="0" baseline="0" dirty="0">
                <a:ln>
                  <a:noFill/>
                </a:ln>
                <a:solidFill>
                  <a:schemeClr val="tx1"/>
                </a:solidFill>
                <a:effectLst/>
                <a:latin typeface="Arial" panose="020B0604020202020204" pitchFamily="34" charset="0"/>
              </a:rPr>
              <a:t> Learned hierarchical decision rules to model non-linear dependencies.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Random Forest Regressor:</a:t>
            </a:r>
            <a:r>
              <a:rPr kumimoji="0" lang="en-US" altLang="en-US" b="0" i="0" u="none" strike="noStrike" cap="none" normalizeH="0" baseline="0" dirty="0">
                <a:ln>
                  <a:noFill/>
                </a:ln>
                <a:solidFill>
                  <a:schemeClr val="tx1"/>
                </a:solidFill>
                <a:effectLst/>
                <a:latin typeface="Arial" panose="020B0604020202020204" pitchFamily="34" charset="0"/>
              </a:rPr>
              <a:t> Reduced variance by aggregating multiple decision trees for more stable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Gradient Boosting Regressor:</a:t>
            </a:r>
            <a:r>
              <a:rPr kumimoji="0" lang="en-US" altLang="en-US" b="0" i="0" u="none" strike="noStrike" cap="none" normalizeH="0" baseline="0" dirty="0">
                <a:ln>
                  <a:noFill/>
                </a:ln>
                <a:solidFill>
                  <a:schemeClr val="tx1"/>
                </a:solidFill>
                <a:effectLst/>
                <a:latin typeface="Arial" panose="020B0604020202020204" pitchFamily="34" charset="0"/>
              </a:rPr>
              <a:t> Sequentially improved predictions by correcting prior errors.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XGBoost Regressor:</a:t>
            </a:r>
            <a:r>
              <a:rPr kumimoji="0" lang="en-US" altLang="en-US" b="0" i="0" u="none" strike="noStrike" cap="none" normalizeH="0" baseline="0" dirty="0">
                <a:ln>
                  <a:noFill/>
                </a:ln>
                <a:solidFill>
                  <a:schemeClr val="tx1"/>
                </a:solidFill>
                <a:effectLst/>
                <a:latin typeface="Arial" panose="020B0604020202020204" pitchFamily="34" charset="0"/>
              </a:rPr>
              <a:t> Leveraged advanced boosting techniques and regularization for enhanced predictive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performance.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Training diverse algorithms enabled robust model comparison and supported selection of the most accurate and reliable pricing model.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21012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6D94E-40A5-E09C-3102-22F7C15FAE2B}"/>
              </a:ext>
            </a:extLst>
          </p:cNvPr>
          <p:cNvSpPr>
            <a:spLocks noGrp="1"/>
          </p:cNvSpPr>
          <p:nvPr>
            <p:ph type="title"/>
          </p:nvPr>
        </p:nvSpPr>
        <p:spPr>
          <a:xfrm>
            <a:off x="0" y="0"/>
            <a:ext cx="12191999" cy="727587"/>
          </a:xfrm>
        </p:spPr>
        <p:txBody>
          <a:bodyPr>
            <a:normAutofit fontScale="90000"/>
          </a:bodyPr>
          <a:lstStyle/>
          <a:p>
            <a:r>
              <a:rPr lang="en-IN" dirty="0"/>
              <a:t>Model comparison &amp; performance analysis</a:t>
            </a:r>
          </a:p>
        </p:txBody>
      </p:sp>
      <p:graphicFrame>
        <p:nvGraphicFramePr>
          <p:cNvPr id="5" name="Content Placeholder 4">
            <a:extLst>
              <a:ext uri="{FF2B5EF4-FFF2-40B4-BE49-F238E27FC236}">
                <a16:creationId xmlns:a16="http://schemas.microsoft.com/office/drawing/2014/main" id="{3FA658E2-AF5A-D3B0-AE9B-D20AAA8AF3BD}"/>
              </a:ext>
            </a:extLst>
          </p:cNvPr>
          <p:cNvGraphicFramePr>
            <a:graphicFrameLocks noGrp="1"/>
          </p:cNvGraphicFramePr>
          <p:nvPr>
            <p:ph idx="1"/>
            <p:extLst>
              <p:ext uri="{D42A27DB-BD31-4B8C-83A1-F6EECF244321}">
                <p14:modId xmlns:p14="http://schemas.microsoft.com/office/powerpoint/2010/main" val="4227702138"/>
              </p:ext>
            </p:extLst>
          </p:nvPr>
        </p:nvGraphicFramePr>
        <p:xfrm>
          <a:off x="6272980" y="1117972"/>
          <a:ext cx="5919019" cy="4299601"/>
        </p:xfrm>
        <a:graphic>
          <a:graphicData uri="http://schemas.openxmlformats.org/drawingml/2006/table">
            <a:tbl>
              <a:tblPr firstRow="1" bandRow="1">
                <a:tableStyleId>{5C22544A-7EE6-4342-B048-85BDC9FD1C3A}</a:tableStyleId>
              </a:tblPr>
              <a:tblGrid>
                <a:gridCol w="1469031">
                  <a:extLst>
                    <a:ext uri="{9D8B030D-6E8A-4147-A177-3AD203B41FA5}">
                      <a16:colId xmlns:a16="http://schemas.microsoft.com/office/drawing/2014/main" val="598776411"/>
                    </a:ext>
                  </a:extLst>
                </a:gridCol>
                <a:gridCol w="1490478">
                  <a:extLst>
                    <a:ext uri="{9D8B030D-6E8A-4147-A177-3AD203B41FA5}">
                      <a16:colId xmlns:a16="http://schemas.microsoft.com/office/drawing/2014/main" val="3521125887"/>
                    </a:ext>
                  </a:extLst>
                </a:gridCol>
                <a:gridCol w="1479755">
                  <a:extLst>
                    <a:ext uri="{9D8B030D-6E8A-4147-A177-3AD203B41FA5}">
                      <a16:colId xmlns:a16="http://schemas.microsoft.com/office/drawing/2014/main" val="1904244959"/>
                    </a:ext>
                  </a:extLst>
                </a:gridCol>
                <a:gridCol w="1479755">
                  <a:extLst>
                    <a:ext uri="{9D8B030D-6E8A-4147-A177-3AD203B41FA5}">
                      <a16:colId xmlns:a16="http://schemas.microsoft.com/office/drawing/2014/main" val="4074441510"/>
                    </a:ext>
                  </a:extLst>
                </a:gridCol>
              </a:tblGrid>
              <a:tr h="469229">
                <a:tc>
                  <a:txBody>
                    <a:bodyPr/>
                    <a:lstStyle/>
                    <a:p>
                      <a:endParaRPr lang="en-IN" dirty="0"/>
                    </a:p>
                  </a:txBody>
                  <a:tcPr/>
                </a:tc>
                <a:tc>
                  <a:txBody>
                    <a:bodyPr/>
                    <a:lstStyle/>
                    <a:p>
                      <a:r>
                        <a:rPr lang="en-IN" sz="1800" b="0" i="0" kern="1200" dirty="0">
                          <a:solidFill>
                            <a:schemeClr val="lt1"/>
                          </a:solidFill>
                          <a:effectLst/>
                          <a:latin typeface="+mn-lt"/>
                          <a:ea typeface="+mn-ea"/>
                          <a:cs typeface="+mn-cs"/>
                        </a:rPr>
                        <a:t>MAE</a:t>
                      </a:r>
                      <a:endParaRPr lang="en-IN" dirty="0"/>
                    </a:p>
                  </a:txBody>
                  <a:tcPr/>
                </a:tc>
                <a:tc>
                  <a:txBody>
                    <a:bodyPr/>
                    <a:lstStyle/>
                    <a:p>
                      <a:r>
                        <a:rPr lang="en-IN" dirty="0"/>
                        <a:t>MSE</a:t>
                      </a:r>
                    </a:p>
                  </a:txBody>
                  <a:tcPr/>
                </a:tc>
                <a:tc>
                  <a:txBody>
                    <a:bodyPr/>
                    <a:lstStyle/>
                    <a:p>
                      <a:r>
                        <a:rPr lang="en-IN" dirty="0"/>
                        <a:t>R2</a:t>
                      </a:r>
                    </a:p>
                  </a:txBody>
                  <a:tcPr/>
                </a:tc>
                <a:extLst>
                  <a:ext uri="{0D108BD9-81ED-4DB2-BD59-A6C34878D82A}">
                    <a16:rowId xmlns:a16="http://schemas.microsoft.com/office/drawing/2014/main" val="2212881290"/>
                  </a:ext>
                </a:extLst>
              </a:tr>
              <a:tr h="651152">
                <a:tc>
                  <a:txBody>
                    <a:bodyPr/>
                    <a:lstStyle/>
                    <a:p>
                      <a:r>
                        <a:rPr lang="en-IN" dirty="0"/>
                        <a:t>Linear Regression</a:t>
                      </a:r>
                    </a:p>
                  </a:txBody>
                  <a:tcPr/>
                </a:tc>
                <a:tc>
                  <a:txBody>
                    <a:bodyPr/>
                    <a:lstStyle/>
                    <a:p>
                      <a:r>
                        <a:rPr lang="en-IN" sz="1800" b="0" i="0" kern="1200" dirty="0">
                          <a:solidFill>
                            <a:schemeClr val="dk1"/>
                          </a:solidFill>
                          <a:effectLst/>
                          <a:latin typeface="+mn-lt"/>
                          <a:ea typeface="+mn-ea"/>
                          <a:cs typeface="+mn-cs"/>
                        </a:rPr>
                        <a:t>1.061560</a:t>
                      </a:r>
                      <a:endParaRPr lang="en-IN" dirty="0"/>
                    </a:p>
                  </a:txBody>
                  <a:tcPr/>
                </a:tc>
                <a:tc>
                  <a:txBody>
                    <a:bodyPr/>
                    <a:lstStyle/>
                    <a:p>
                      <a:r>
                        <a:rPr lang="en-IN" sz="1800" b="0" i="0" kern="1200" dirty="0">
                          <a:solidFill>
                            <a:schemeClr val="dk1"/>
                          </a:solidFill>
                          <a:effectLst/>
                          <a:latin typeface="+mn-lt"/>
                          <a:ea typeface="+mn-ea"/>
                          <a:cs typeface="+mn-cs"/>
                        </a:rPr>
                        <a:t>3.718841</a:t>
                      </a:r>
                      <a:endParaRPr lang="en-IN" dirty="0"/>
                    </a:p>
                  </a:txBody>
                  <a:tcPr/>
                </a:tc>
                <a:tc>
                  <a:txBody>
                    <a:bodyPr/>
                    <a:lstStyle/>
                    <a:p>
                      <a:r>
                        <a:rPr lang="en-IN" sz="1800" b="0" i="0" kern="1200" dirty="0">
                          <a:solidFill>
                            <a:schemeClr val="dk1"/>
                          </a:solidFill>
                          <a:effectLst/>
                          <a:latin typeface="+mn-lt"/>
                          <a:ea typeface="+mn-ea"/>
                          <a:cs typeface="+mn-cs"/>
                        </a:rPr>
                        <a:t>0.837907</a:t>
                      </a:r>
                      <a:endParaRPr lang="en-IN" dirty="0"/>
                    </a:p>
                  </a:txBody>
                  <a:tcPr/>
                </a:tc>
                <a:extLst>
                  <a:ext uri="{0D108BD9-81ED-4DB2-BD59-A6C34878D82A}">
                    <a16:rowId xmlns:a16="http://schemas.microsoft.com/office/drawing/2014/main" val="2254443507"/>
                  </a:ext>
                </a:extLst>
              </a:tr>
              <a:tr h="469229">
                <a:tc>
                  <a:txBody>
                    <a:bodyPr/>
                    <a:lstStyle/>
                    <a:p>
                      <a:r>
                        <a:rPr lang="en-IN" dirty="0"/>
                        <a:t>SVR</a:t>
                      </a:r>
                    </a:p>
                  </a:txBody>
                  <a:tcPr/>
                </a:tc>
                <a:tc>
                  <a:txBody>
                    <a:bodyPr/>
                    <a:lstStyle/>
                    <a:p>
                      <a:r>
                        <a:rPr lang="en-IN" sz="1800" b="0" i="0" kern="1200" dirty="0">
                          <a:solidFill>
                            <a:schemeClr val="dk1"/>
                          </a:solidFill>
                          <a:effectLst/>
                          <a:latin typeface="+mn-lt"/>
                          <a:ea typeface="+mn-ea"/>
                          <a:cs typeface="+mn-cs"/>
                        </a:rPr>
                        <a:t>0.923738</a:t>
                      </a:r>
                      <a:endParaRPr lang="en-IN" dirty="0"/>
                    </a:p>
                  </a:txBody>
                  <a:tcPr/>
                </a:tc>
                <a:tc>
                  <a:txBody>
                    <a:bodyPr/>
                    <a:lstStyle/>
                    <a:p>
                      <a:r>
                        <a:rPr lang="en-IN" sz="1800" b="0" i="0" kern="1200" dirty="0">
                          <a:solidFill>
                            <a:schemeClr val="dk1"/>
                          </a:solidFill>
                          <a:effectLst/>
                          <a:latin typeface="+mn-lt"/>
                          <a:ea typeface="+mn-ea"/>
                          <a:cs typeface="+mn-cs"/>
                        </a:rPr>
                        <a:t>2.619959 </a:t>
                      </a:r>
                      <a:endParaRPr lang="en-IN" dirty="0"/>
                    </a:p>
                  </a:txBody>
                  <a:tcPr/>
                </a:tc>
                <a:tc>
                  <a:txBody>
                    <a:bodyPr/>
                    <a:lstStyle/>
                    <a:p>
                      <a:r>
                        <a:rPr lang="en-IN" sz="1800" b="0" i="0" kern="1200" dirty="0">
                          <a:solidFill>
                            <a:schemeClr val="dk1"/>
                          </a:solidFill>
                          <a:effectLst/>
                          <a:latin typeface="+mn-lt"/>
                          <a:ea typeface="+mn-ea"/>
                          <a:cs typeface="+mn-cs"/>
                        </a:rPr>
                        <a:t>0.885804</a:t>
                      </a:r>
                      <a:endParaRPr lang="en-IN" dirty="0"/>
                    </a:p>
                  </a:txBody>
                  <a:tcPr/>
                </a:tc>
                <a:extLst>
                  <a:ext uri="{0D108BD9-81ED-4DB2-BD59-A6C34878D82A}">
                    <a16:rowId xmlns:a16="http://schemas.microsoft.com/office/drawing/2014/main" val="2355688820"/>
                  </a:ext>
                </a:extLst>
              </a:tr>
              <a:tr h="469229">
                <a:tc>
                  <a:txBody>
                    <a:bodyPr/>
                    <a:lstStyle/>
                    <a:p>
                      <a:r>
                        <a:rPr lang="en-IN" dirty="0"/>
                        <a:t>Decision Tree</a:t>
                      </a:r>
                    </a:p>
                  </a:txBody>
                  <a:tcPr/>
                </a:tc>
                <a:tc>
                  <a:txBody>
                    <a:bodyPr/>
                    <a:lstStyle/>
                    <a:p>
                      <a:r>
                        <a:rPr lang="en-IN" sz="1800" b="0" i="0" kern="1200" dirty="0">
                          <a:solidFill>
                            <a:schemeClr val="dk1"/>
                          </a:solidFill>
                          <a:effectLst/>
                          <a:latin typeface="+mn-lt"/>
                          <a:ea typeface="+mn-ea"/>
                          <a:cs typeface="+mn-cs"/>
                        </a:rPr>
                        <a:t>2.006150</a:t>
                      </a:r>
                      <a:endParaRPr lang="en-IN" dirty="0"/>
                    </a:p>
                  </a:txBody>
                  <a:tcPr/>
                </a:tc>
                <a:tc>
                  <a:txBody>
                    <a:bodyPr/>
                    <a:lstStyle/>
                    <a:p>
                      <a:r>
                        <a:rPr lang="en-IN" sz="1800" b="0" i="0" kern="1200" dirty="0">
                          <a:solidFill>
                            <a:schemeClr val="dk1"/>
                          </a:solidFill>
                          <a:effectLst/>
                          <a:latin typeface="+mn-lt"/>
                          <a:ea typeface="+mn-ea"/>
                          <a:cs typeface="+mn-cs"/>
                        </a:rPr>
                        <a:t>11.192230</a:t>
                      </a:r>
                      <a:endParaRPr lang="en-IN" dirty="0"/>
                    </a:p>
                  </a:txBody>
                  <a:tcPr/>
                </a:tc>
                <a:tc>
                  <a:txBody>
                    <a:bodyPr/>
                    <a:lstStyle/>
                    <a:p>
                      <a:r>
                        <a:rPr lang="en-IN" sz="1800" b="0" i="0" kern="1200" dirty="0">
                          <a:solidFill>
                            <a:schemeClr val="dk1"/>
                          </a:solidFill>
                          <a:effectLst/>
                          <a:latin typeface="+mn-lt"/>
                          <a:ea typeface="+mn-ea"/>
                          <a:cs typeface="+mn-cs"/>
                        </a:rPr>
                        <a:t>0.512164</a:t>
                      </a:r>
                      <a:endParaRPr lang="en-IN" dirty="0"/>
                    </a:p>
                  </a:txBody>
                  <a:tcPr/>
                </a:tc>
                <a:extLst>
                  <a:ext uri="{0D108BD9-81ED-4DB2-BD59-A6C34878D82A}">
                    <a16:rowId xmlns:a16="http://schemas.microsoft.com/office/drawing/2014/main" val="2139697696"/>
                  </a:ext>
                </a:extLst>
              </a:tr>
              <a:tr h="469229">
                <a:tc>
                  <a:txBody>
                    <a:bodyPr/>
                    <a:lstStyle/>
                    <a:p>
                      <a:r>
                        <a:rPr lang="en-IN" dirty="0"/>
                        <a:t>Elastic Net</a:t>
                      </a:r>
                    </a:p>
                  </a:txBody>
                  <a:tcPr/>
                </a:tc>
                <a:tc>
                  <a:txBody>
                    <a:bodyPr/>
                    <a:lstStyle/>
                    <a:p>
                      <a:r>
                        <a:rPr lang="en-IN" sz="1800" b="0" i="0" kern="1200" dirty="0">
                          <a:solidFill>
                            <a:schemeClr val="dk1"/>
                          </a:solidFill>
                          <a:effectLst/>
                          <a:latin typeface="+mn-lt"/>
                          <a:ea typeface="+mn-ea"/>
                          <a:cs typeface="+mn-cs"/>
                        </a:rPr>
                        <a:t>1.247392</a:t>
                      </a:r>
                      <a:endParaRPr lang="en-IN" dirty="0"/>
                    </a:p>
                  </a:txBody>
                  <a:tcPr/>
                </a:tc>
                <a:tc>
                  <a:txBody>
                    <a:bodyPr/>
                    <a:lstStyle/>
                    <a:p>
                      <a:r>
                        <a:rPr lang="en-IN" sz="1800" b="0" i="0" kern="1200" dirty="0">
                          <a:solidFill>
                            <a:schemeClr val="dk1"/>
                          </a:solidFill>
                          <a:effectLst/>
                          <a:latin typeface="+mn-lt"/>
                          <a:ea typeface="+mn-ea"/>
                          <a:cs typeface="+mn-cs"/>
                        </a:rPr>
                        <a:t>4.964558 </a:t>
                      </a:r>
                      <a:endParaRPr lang="en-IN" dirty="0"/>
                    </a:p>
                  </a:txBody>
                  <a:tcPr/>
                </a:tc>
                <a:tc>
                  <a:txBody>
                    <a:bodyPr/>
                    <a:lstStyle/>
                    <a:p>
                      <a:r>
                        <a:rPr lang="en-IN" sz="1800" b="0" i="0" kern="1200" dirty="0">
                          <a:solidFill>
                            <a:schemeClr val="dk1"/>
                          </a:solidFill>
                          <a:effectLst/>
                          <a:latin typeface="+mn-lt"/>
                          <a:ea typeface="+mn-ea"/>
                          <a:cs typeface="+mn-cs"/>
                        </a:rPr>
                        <a:t>0.783610</a:t>
                      </a:r>
                      <a:endParaRPr lang="en-IN" dirty="0"/>
                    </a:p>
                  </a:txBody>
                  <a:tcPr/>
                </a:tc>
                <a:extLst>
                  <a:ext uri="{0D108BD9-81ED-4DB2-BD59-A6C34878D82A}">
                    <a16:rowId xmlns:a16="http://schemas.microsoft.com/office/drawing/2014/main" val="353192877"/>
                  </a:ext>
                </a:extLst>
              </a:tr>
              <a:tr h="651152">
                <a:tc>
                  <a:txBody>
                    <a:bodyPr/>
                    <a:lstStyle/>
                    <a:p>
                      <a:r>
                        <a:rPr lang="en-IN" dirty="0"/>
                        <a:t>Random Forest</a:t>
                      </a:r>
                    </a:p>
                  </a:txBody>
                  <a:tcPr/>
                </a:tc>
                <a:tc>
                  <a:txBody>
                    <a:bodyPr/>
                    <a:lstStyle/>
                    <a:p>
                      <a:r>
                        <a:rPr lang="en-IN" sz="1800" b="0" i="0" kern="1200" dirty="0">
                          <a:solidFill>
                            <a:schemeClr val="dk1"/>
                          </a:solidFill>
                          <a:effectLst/>
                          <a:latin typeface="+mn-lt"/>
                          <a:ea typeface="+mn-ea"/>
                          <a:cs typeface="+mn-cs"/>
                        </a:rPr>
                        <a:t>2.032418</a:t>
                      </a:r>
                      <a:endParaRPr lang="en-IN" dirty="0"/>
                    </a:p>
                  </a:txBody>
                  <a:tcPr/>
                </a:tc>
                <a:tc>
                  <a:txBody>
                    <a:bodyPr/>
                    <a:lstStyle/>
                    <a:p>
                      <a:r>
                        <a:rPr lang="en-IN" sz="1800" b="0" i="0" kern="1200" dirty="0">
                          <a:solidFill>
                            <a:schemeClr val="dk1"/>
                          </a:solidFill>
                          <a:effectLst/>
                          <a:latin typeface="+mn-lt"/>
                          <a:ea typeface="+mn-ea"/>
                          <a:cs typeface="+mn-cs"/>
                        </a:rPr>
                        <a:t>11.628509 </a:t>
                      </a:r>
                      <a:endParaRPr lang="en-IN" dirty="0"/>
                    </a:p>
                  </a:txBody>
                  <a:tcPr/>
                </a:tc>
                <a:tc>
                  <a:txBody>
                    <a:bodyPr/>
                    <a:lstStyle/>
                    <a:p>
                      <a:r>
                        <a:rPr lang="en-IN" sz="1800" b="0" i="0" kern="1200" dirty="0">
                          <a:solidFill>
                            <a:schemeClr val="dk1"/>
                          </a:solidFill>
                          <a:effectLst/>
                          <a:latin typeface="+mn-lt"/>
                          <a:ea typeface="+mn-ea"/>
                          <a:cs typeface="+mn-cs"/>
                        </a:rPr>
                        <a:t>0.493148</a:t>
                      </a:r>
                      <a:endParaRPr lang="en-IN" dirty="0"/>
                    </a:p>
                  </a:txBody>
                  <a:tcPr/>
                </a:tc>
                <a:extLst>
                  <a:ext uri="{0D108BD9-81ED-4DB2-BD59-A6C34878D82A}">
                    <a16:rowId xmlns:a16="http://schemas.microsoft.com/office/drawing/2014/main" val="1089941546"/>
                  </a:ext>
                </a:extLst>
              </a:tr>
              <a:tr h="651152">
                <a:tc>
                  <a:txBody>
                    <a:bodyPr/>
                    <a:lstStyle/>
                    <a:p>
                      <a:r>
                        <a:rPr lang="en-IN" dirty="0"/>
                        <a:t>Gradient Boosting</a:t>
                      </a:r>
                    </a:p>
                  </a:txBody>
                  <a:tcPr/>
                </a:tc>
                <a:tc>
                  <a:txBody>
                    <a:bodyPr/>
                    <a:lstStyle/>
                    <a:p>
                      <a:r>
                        <a:rPr lang="en-IN" sz="1800" b="0" i="0" kern="1200" dirty="0">
                          <a:solidFill>
                            <a:schemeClr val="dk1"/>
                          </a:solidFill>
                          <a:effectLst/>
                          <a:latin typeface="+mn-lt"/>
                          <a:ea typeface="+mn-ea"/>
                          <a:cs typeface="+mn-cs"/>
                        </a:rPr>
                        <a:t>1.408209</a:t>
                      </a:r>
                      <a:endParaRPr lang="en-IN" dirty="0"/>
                    </a:p>
                  </a:txBody>
                  <a:tcPr/>
                </a:tc>
                <a:tc>
                  <a:txBody>
                    <a:bodyPr/>
                    <a:lstStyle/>
                    <a:p>
                      <a:r>
                        <a:rPr lang="en-IN" sz="1800" b="0" i="0" kern="1200" dirty="0">
                          <a:solidFill>
                            <a:schemeClr val="dk1"/>
                          </a:solidFill>
                          <a:effectLst/>
                          <a:latin typeface="+mn-lt"/>
                          <a:ea typeface="+mn-ea"/>
                          <a:cs typeface="+mn-cs"/>
                        </a:rPr>
                        <a:t>5.632237</a:t>
                      </a:r>
                      <a:endParaRPr lang="en-IN" dirty="0"/>
                    </a:p>
                  </a:txBody>
                  <a:tcPr/>
                </a:tc>
                <a:tc>
                  <a:txBody>
                    <a:bodyPr/>
                    <a:lstStyle/>
                    <a:p>
                      <a:r>
                        <a:rPr lang="en-IN" sz="1800" b="0" i="0" kern="1200" dirty="0">
                          <a:solidFill>
                            <a:schemeClr val="dk1"/>
                          </a:solidFill>
                          <a:effectLst/>
                          <a:latin typeface="+mn-lt"/>
                          <a:ea typeface="+mn-ea"/>
                          <a:cs typeface="+mn-cs"/>
                        </a:rPr>
                        <a:t>0.754508</a:t>
                      </a:r>
                      <a:endParaRPr lang="en-IN" dirty="0"/>
                    </a:p>
                  </a:txBody>
                  <a:tcPr/>
                </a:tc>
                <a:extLst>
                  <a:ext uri="{0D108BD9-81ED-4DB2-BD59-A6C34878D82A}">
                    <a16:rowId xmlns:a16="http://schemas.microsoft.com/office/drawing/2014/main" val="3386683893"/>
                  </a:ext>
                </a:extLst>
              </a:tr>
              <a:tr h="469229">
                <a:tc>
                  <a:txBody>
                    <a:bodyPr/>
                    <a:lstStyle/>
                    <a:p>
                      <a:r>
                        <a:rPr lang="en-IN" dirty="0" err="1"/>
                        <a:t>XGBoost</a:t>
                      </a:r>
                      <a:endParaRPr lang="en-IN" dirty="0"/>
                    </a:p>
                  </a:txBody>
                  <a:tcPr/>
                </a:tc>
                <a:tc>
                  <a:txBody>
                    <a:bodyPr/>
                    <a:lstStyle/>
                    <a:p>
                      <a:r>
                        <a:rPr lang="en-IN" sz="1800" b="0" i="0" kern="1200" dirty="0">
                          <a:solidFill>
                            <a:schemeClr val="dk1"/>
                          </a:solidFill>
                          <a:effectLst/>
                          <a:latin typeface="+mn-lt"/>
                          <a:ea typeface="+mn-ea"/>
                          <a:cs typeface="+mn-cs"/>
                        </a:rPr>
                        <a:t>1.251208</a:t>
                      </a:r>
                      <a:endParaRPr lang="en-IN" dirty="0"/>
                    </a:p>
                  </a:txBody>
                  <a:tcPr/>
                </a:tc>
                <a:tc>
                  <a:txBody>
                    <a:bodyPr/>
                    <a:lstStyle/>
                    <a:p>
                      <a:r>
                        <a:rPr lang="en-IN" sz="1800" b="0" i="0" kern="1200" dirty="0">
                          <a:solidFill>
                            <a:schemeClr val="dk1"/>
                          </a:solidFill>
                          <a:effectLst/>
                          <a:latin typeface="+mn-lt"/>
                          <a:ea typeface="+mn-ea"/>
                          <a:cs typeface="+mn-cs"/>
                        </a:rPr>
                        <a:t>4.876608 </a:t>
                      </a:r>
                      <a:endParaRPr lang="en-IN" dirty="0"/>
                    </a:p>
                  </a:txBody>
                  <a:tcPr/>
                </a:tc>
                <a:tc>
                  <a:txBody>
                    <a:bodyPr/>
                    <a:lstStyle/>
                    <a:p>
                      <a:r>
                        <a:rPr lang="en-IN" sz="1800" b="0" i="0" kern="1200" dirty="0">
                          <a:solidFill>
                            <a:schemeClr val="dk1"/>
                          </a:solidFill>
                          <a:effectLst/>
                          <a:latin typeface="+mn-lt"/>
                          <a:ea typeface="+mn-ea"/>
                          <a:cs typeface="+mn-cs"/>
                        </a:rPr>
                        <a:t>0.787443</a:t>
                      </a:r>
                      <a:endParaRPr lang="en-IN" dirty="0"/>
                    </a:p>
                  </a:txBody>
                  <a:tcPr/>
                </a:tc>
                <a:extLst>
                  <a:ext uri="{0D108BD9-81ED-4DB2-BD59-A6C34878D82A}">
                    <a16:rowId xmlns:a16="http://schemas.microsoft.com/office/drawing/2014/main" val="889970689"/>
                  </a:ext>
                </a:extLst>
              </a:tr>
            </a:tbl>
          </a:graphicData>
        </a:graphic>
      </p:graphicFrame>
      <p:sp>
        <p:nvSpPr>
          <p:cNvPr id="6" name="TextBox 5">
            <a:extLst>
              <a:ext uri="{FF2B5EF4-FFF2-40B4-BE49-F238E27FC236}">
                <a16:creationId xmlns:a16="http://schemas.microsoft.com/office/drawing/2014/main" id="{7A57B35A-31AB-6DEE-33D2-5AA225E31C53}"/>
              </a:ext>
            </a:extLst>
          </p:cNvPr>
          <p:cNvSpPr txBox="1"/>
          <p:nvPr/>
        </p:nvSpPr>
        <p:spPr>
          <a:xfrm>
            <a:off x="0" y="754178"/>
            <a:ext cx="6272980" cy="6463308"/>
          </a:xfrm>
          <a:prstGeom prst="rect">
            <a:avLst/>
          </a:prstGeom>
          <a:noFill/>
        </p:spPr>
        <p:txBody>
          <a:bodyPr wrap="square" rtlCol="0">
            <a:spAutoFit/>
          </a:bodyPr>
          <a:lstStyle/>
          <a:p>
            <a:r>
              <a:rPr lang="en-US" b="1" dirty="0"/>
              <a:t>Model Performance Analysis</a:t>
            </a:r>
          </a:p>
          <a:p>
            <a:r>
              <a:rPr lang="en-US" dirty="0"/>
              <a:t>The comparative evaluation of regression models reveals clear differences in predictive effectiveness:</a:t>
            </a:r>
          </a:p>
          <a:p>
            <a:r>
              <a:rPr lang="en-US" b="1" dirty="0"/>
              <a:t>Support Vector Regression (SVR)</a:t>
            </a:r>
            <a:r>
              <a:rPr lang="en-US" dirty="0"/>
              <a:t> emerged as the </a:t>
            </a:r>
            <a:r>
              <a:rPr lang="en-US" b="1" dirty="0"/>
              <a:t>best-performing model</a:t>
            </a:r>
            <a:r>
              <a:rPr lang="en-US" dirty="0"/>
              <a:t>, achieving the </a:t>
            </a:r>
            <a:r>
              <a:rPr lang="en-US" b="1" dirty="0"/>
              <a:t>lowest MAE (0.92)</a:t>
            </a:r>
            <a:r>
              <a:rPr lang="en-US" dirty="0"/>
              <a:t>, </a:t>
            </a:r>
            <a:r>
              <a:rPr lang="en-US" b="1" dirty="0"/>
              <a:t>lowest MSE (2.62)</a:t>
            </a:r>
            <a:r>
              <a:rPr lang="en-US" dirty="0"/>
              <a:t>, and the </a:t>
            </a:r>
            <a:r>
              <a:rPr lang="en-US" b="1" dirty="0"/>
              <a:t>highest R² (0.886)</a:t>
            </a:r>
            <a:r>
              <a:rPr lang="en-US" dirty="0"/>
              <a:t>. This indicates strong capability in capturing complex, non-linear pricing relationships present in the dataset.</a:t>
            </a:r>
          </a:p>
          <a:p>
            <a:r>
              <a:rPr lang="en-US" b="1" dirty="0"/>
              <a:t>Linear Regression</a:t>
            </a:r>
            <a:r>
              <a:rPr lang="en-US" dirty="0"/>
              <a:t> delivered surprisingly strong results (</a:t>
            </a:r>
            <a:r>
              <a:rPr lang="en-US" b="1" dirty="0"/>
              <a:t>R² = 0.838</a:t>
            </a:r>
            <a:r>
              <a:rPr lang="en-US" dirty="0"/>
              <a:t>), suggesting that a substantial portion of price variability is explained by near-linear relationships after preprocessing and feature engineering.</a:t>
            </a:r>
          </a:p>
          <a:p>
            <a:r>
              <a:rPr lang="en-US" b="1" dirty="0"/>
              <a:t>Elastic Net</a:t>
            </a:r>
            <a:r>
              <a:rPr lang="en-US" dirty="0"/>
              <a:t> and </a:t>
            </a:r>
            <a:r>
              <a:rPr lang="en-US" b="1" dirty="0"/>
              <a:t>XGBoost</a:t>
            </a:r>
            <a:r>
              <a:rPr lang="en-US" dirty="0"/>
              <a:t> showed competitive performance, balancing bias–variance trade-offs, though slightly underperforming compared to SVR. These models still demonstrate good generalization and robustness.</a:t>
            </a:r>
          </a:p>
          <a:p>
            <a:r>
              <a:rPr lang="en-US" b="1" dirty="0"/>
              <a:t>Gradient Boosting</a:t>
            </a:r>
            <a:r>
              <a:rPr lang="en-US" dirty="0"/>
              <a:t> performed moderately well but did not surpass simpler linear methods, implying limited additional gains from boosting under the current feature set.</a:t>
            </a:r>
          </a:p>
          <a:p>
            <a:r>
              <a:rPr lang="en-US" b="1" dirty="0"/>
              <a:t>Decision Tree</a:t>
            </a:r>
            <a:r>
              <a:rPr lang="en-US" dirty="0"/>
              <a:t> and </a:t>
            </a:r>
            <a:r>
              <a:rPr lang="en-US" b="1" dirty="0"/>
              <a:t>Random Forest</a:t>
            </a:r>
            <a:r>
              <a:rPr lang="en-US" dirty="0"/>
              <a:t> produced notably </a:t>
            </a:r>
            <a:r>
              <a:rPr lang="en-US" b="1" dirty="0"/>
              <a:t>higher errors and lower R²</a:t>
            </a:r>
            <a:r>
              <a:rPr lang="en-US" dirty="0"/>
              <a:t>, indicating overfitting tendencies or insufficient signal capture relative to model complexity</a:t>
            </a:r>
          </a:p>
          <a:p>
            <a:endParaRPr lang="en-US" dirty="0"/>
          </a:p>
        </p:txBody>
      </p:sp>
    </p:spTree>
    <p:extLst>
      <p:ext uri="{BB962C8B-B14F-4D97-AF65-F5344CB8AC3E}">
        <p14:creationId xmlns:p14="http://schemas.microsoft.com/office/powerpoint/2010/main" val="24265529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1A023-B5B9-3492-EABD-37AB7BB853B6}"/>
              </a:ext>
            </a:extLst>
          </p:cNvPr>
          <p:cNvSpPr>
            <a:spLocks noGrp="1"/>
          </p:cNvSpPr>
          <p:nvPr>
            <p:ph type="title"/>
          </p:nvPr>
        </p:nvSpPr>
        <p:spPr>
          <a:xfrm>
            <a:off x="0" y="89621"/>
            <a:ext cx="12191999" cy="765785"/>
          </a:xfrm>
        </p:spPr>
        <p:txBody>
          <a:bodyPr/>
          <a:lstStyle/>
          <a:p>
            <a:r>
              <a:rPr lang="en-IN" dirty="0"/>
              <a:t>Cross-validation analysis</a:t>
            </a:r>
          </a:p>
        </p:txBody>
      </p:sp>
      <p:sp>
        <p:nvSpPr>
          <p:cNvPr id="3" name="Content Placeholder 2">
            <a:extLst>
              <a:ext uri="{FF2B5EF4-FFF2-40B4-BE49-F238E27FC236}">
                <a16:creationId xmlns:a16="http://schemas.microsoft.com/office/drawing/2014/main" id="{D4839713-EF7D-5004-E6CF-F8F83C06FB91}"/>
              </a:ext>
            </a:extLst>
          </p:cNvPr>
          <p:cNvSpPr>
            <a:spLocks noGrp="1"/>
          </p:cNvSpPr>
          <p:nvPr>
            <p:ph idx="1"/>
          </p:nvPr>
        </p:nvSpPr>
        <p:spPr>
          <a:xfrm>
            <a:off x="0" y="855406"/>
            <a:ext cx="12192000" cy="6002594"/>
          </a:xfrm>
        </p:spPr>
        <p:txBody>
          <a:bodyPr/>
          <a:lstStyle/>
          <a:p>
            <a:r>
              <a:rPr lang="en-US" b="1" dirty="0"/>
              <a:t>SVR Cross-Validation Analysis</a:t>
            </a:r>
          </a:p>
          <a:p>
            <a:r>
              <a:rPr lang="en-US" dirty="0"/>
              <a:t>The Support Vector Regression (SVR) model achieved a </a:t>
            </a:r>
            <a:r>
              <a:rPr lang="en-US" b="1" dirty="0"/>
              <a:t>cross-validation mean R² of 0.783</a:t>
            </a:r>
            <a:r>
              <a:rPr lang="en-US" dirty="0"/>
              <a:t>, indicating strong and consistent predictive capability across different data folds. This suggests that the model generalizes well and is not overly dependent on a specific train–test split.</a:t>
            </a:r>
          </a:p>
          <a:p>
            <a:r>
              <a:rPr lang="en-US" dirty="0"/>
              <a:t>The </a:t>
            </a:r>
            <a:r>
              <a:rPr lang="en-US" b="1" dirty="0"/>
              <a:t>standard deviation of 0.058</a:t>
            </a:r>
            <a:r>
              <a:rPr lang="en-US" dirty="0"/>
              <a:t> is relatively low, demonstrating </a:t>
            </a:r>
            <a:r>
              <a:rPr lang="en-US" b="1" dirty="0"/>
              <a:t>stable performance with minimal variability</a:t>
            </a:r>
            <a:r>
              <a:rPr lang="en-US" dirty="0"/>
              <a:t> between folds. Such consistency is a positive indicator of model robustness and reliability.</a:t>
            </a:r>
          </a:p>
          <a:p>
            <a:r>
              <a:rPr lang="en-US" dirty="0"/>
              <a:t>Overall, the cross-validation results reinforce that SVR provides dependable predictive performance and maintains good generalization across unseen data samples.</a:t>
            </a:r>
          </a:p>
          <a:p>
            <a:endParaRPr lang="en-IN" dirty="0"/>
          </a:p>
        </p:txBody>
      </p:sp>
    </p:spTree>
    <p:extLst>
      <p:ext uri="{BB962C8B-B14F-4D97-AF65-F5344CB8AC3E}">
        <p14:creationId xmlns:p14="http://schemas.microsoft.com/office/powerpoint/2010/main" val="31058603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39814-7D2E-8559-D7F2-D761618B8A06}"/>
              </a:ext>
            </a:extLst>
          </p:cNvPr>
          <p:cNvSpPr>
            <a:spLocks noGrp="1"/>
          </p:cNvSpPr>
          <p:nvPr>
            <p:ph type="title"/>
          </p:nvPr>
        </p:nvSpPr>
        <p:spPr>
          <a:xfrm>
            <a:off x="-34413" y="0"/>
            <a:ext cx="12226413" cy="865239"/>
          </a:xfrm>
        </p:spPr>
        <p:txBody>
          <a:bodyPr>
            <a:normAutofit fontScale="90000"/>
          </a:bodyPr>
          <a:lstStyle/>
          <a:p>
            <a:r>
              <a:rPr lang="en-US" dirty="0"/>
              <a:t>	</a:t>
            </a:r>
            <a:br>
              <a:rPr lang="en-US" dirty="0"/>
            </a:br>
            <a:r>
              <a:rPr lang="en-US" dirty="0"/>
              <a:t>Actual vs Predicted Plot - SVR Regression</a:t>
            </a:r>
            <a:br>
              <a:rPr lang="en-US" dirty="0"/>
            </a:br>
            <a:endParaRPr lang="en-IN" dirty="0"/>
          </a:p>
        </p:txBody>
      </p:sp>
      <p:pic>
        <p:nvPicPr>
          <p:cNvPr id="5" name="Content Placeholder 4">
            <a:extLst>
              <a:ext uri="{FF2B5EF4-FFF2-40B4-BE49-F238E27FC236}">
                <a16:creationId xmlns:a16="http://schemas.microsoft.com/office/drawing/2014/main" id="{87B572F9-AF13-7500-6DE4-79E8ADC4F2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61622" y="938509"/>
            <a:ext cx="5230378" cy="4233680"/>
          </a:xfrm>
          <a:prstGeom prst="rect">
            <a:avLst/>
          </a:prstGeom>
          <a:scene3d>
            <a:camera prst="orthographicFront"/>
            <a:lightRig rig="threePt" dir="t"/>
          </a:scene3d>
          <a:sp3d>
            <a:bevelT/>
          </a:sp3d>
        </p:spPr>
      </p:pic>
      <p:sp>
        <p:nvSpPr>
          <p:cNvPr id="6" name="TextBox 5">
            <a:extLst>
              <a:ext uri="{FF2B5EF4-FFF2-40B4-BE49-F238E27FC236}">
                <a16:creationId xmlns:a16="http://schemas.microsoft.com/office/drawing/2014/main" id="{A7665564-164D-5162-6BA8-F73289260149}"/>
              </a:ext>
            </a:extLst>
          </p:cNvPr>
          <p:cNvSpPr txBox="1"/>
          <p:nvPr/>
        </p:nvSpPr>
        <p:spPr>
          <a:xfrm>
            <a:off x="0" y="938509"/>
            <a:ext cx="6882580" cy="4524315"/>
          </a:xfrm>
          <a:prstGeom prst="rect">
            <a:avLst/>
          </a:prstGeom>
          <a:noFill/>
        </p:spPr>
        <p:txBody>
          <a:bodyPr wrap="square" rtlCol="0">
            <a:spAutoFit/>
          </a:bodyPr>
          <a:lstStyle/>
          <a:p>
            <a:r>
              <a:rPr lang="en-US" b="1" dirty="0"/>
              <a:t>Observations:</a:t>
            </a:r>
          </a:p>
          <a:p>
            <a:endParaRPr lang="en-US" b="1" dirty="0"/>
          </a:p>
          <a:p>
            <a:endParaRPr lang="en-US" b="1" dirty="0"/>
          </a:p>
          <a:p>
            <a:r>
              <a:rPr lang="en-US" dirty="0"/>
              <a:t>Overall Pattern — Strong Model Fit- The points are closely aligned with the diagonal line.</a:t>
            </a:r>
          </a:p>
          <a:p>
            <a:r>
              <a:rPr lang="en-US" dirty="0"/>
              <a:t>Low &amp; Mid Price Range — Very Accurate- Low &amp; Mid Price Range — Very Accurate</a:t>
            </a:r>
          </a:p>
          <a:p>
            <a:r>
              <a:rPr lang="en-US" dirty="0"/>
              <a:t>Higher Price Range — Slight Deviation (Normal &amp; Expected)- Right side (expensive cars):</a:t>
            </a:r>
          </a:p>
          <a:p>
            <a:r>
              <a:rPr lang="en-US" dirty="0"/>
              <a:t>No Systematic Bias Visible - Points are scattered around the line</a:t>
            </a:r>
          </a:p>
          <a:p>
            <a:endParaRPr lang="en-US" dirty="0"/>
          </a:p>
          <a:p>
            <a:r>
              <a:rPr lang="en-US" dirty="0"/>
              <a:t>The Actual vs Predicted plot shows strong agreement along the identity line, indicating that Support Vector Regressor effectively models vehicle prices. Minor dispersion at higher price levels is expected due to reduced sample density and greater pricing variability among premium vehicles</a:t>
            </a:r>
          </a:p>
        </p:txBody>
      </p:sp>
    </p:spTree>
    <p:extLst>
      <p:ext uri="{BB962C8B-B14F-4D97-AF65-F5344CB8AC3E}">
        <p14:creationId xmlns:p14="http://schemas.microsoft.com/office/powerpoint/2010/main" val="12834485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FF52C-9AF0-9B77-61AE-25696E4E1667}"/>
              </a:ext>
            </a:extLst>
          </p:cNvPr>
          <p:cNvSpPr>
            <a:spLocks noGrp="1"/>
          </p:cNvSpPr>
          <p:nvPr>
            <p:ph type="title"/>
          </p:nvPr>
        </p:nvSpPr>
        <p:spPr>
          <a:xfrm>
            <a:off x="0" y="0"/>
            <a:ext cx="12192000" cy="1188720"/>
          </a:xfrm>
        </p:spPr>
        <p:txBody>
          <a:bodyPr>
            <a:normAutofit fontScale="90000"/>
          </a:bodyPr>
          <a:lstStyle/>
          <a:p>
            <a:r>
              <a:rPr lang="en-US" dirty="0"/>
              <a:t>Residual Distribution for Support Vector Regression Model</a:t>
            </a:r>
            <a:br>
              <a:rPr lang="en-US" dirty="0"/>
            </a:br>
            <a:endParaRPr lang="en-IN" dirty="0"/>
          </a:p>
        </p:txBody>
      </p:sp>
      <p:pic>
        <p:nvPicPr>
          <p:cNvPr id="5" name="Content Placeholder 4">
            <a:extLst>
              <a:ext uri="{FF2B5EF4-FFF2-40B4-BE49-F238E27FC236}">
                <a16:creationId xmlns:a16="http://schemas.microsoft.com/office/drawing/2014/main" id="{E6762897-3098-6292-CA0F-01D577A6E5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15902" y="1250934"/>
            <a:ext cx="5276098" cy="4233680"/>
          </a:xfrm>
          <a:prstGeom prst="rect">
            <a:avLst/>
          </a:prstGeom>
          <a:scene3d>
            <a:camera prst="orthographicFront"/>
            <a:lightRig rig="threePt" dir="t"/>
          </a:scene3d>
          <a:sp3d>
            <a:bevelT/>
          </a:sp3d>
        </p:spPr>
      </p:pic>
      <p:sp>
        <p:nvSpPr>
          <p:cNvPr id="6" name="TextBox 5">
            <a:extLst>
              <a:ext uri="{FF2B5EF4-FFF2-40B4-BE49-F238E27FC236}">
                <a16:creationId xmlns:a16="http://schemas.microsoft.com/office/drawing/2014/main" id="{99714060-3C45-16B0-76F1-34F3A906F0D8}"/>
              </a:ext>
            </a:extLst>
          </p:cNvPr>
          <p:cNvSpPr txBox="1"/>
          <p:nvPr/>
        </p:nvSpPr>
        <p:spPr>
          <a:xfrm>
            <a:off x="0" y="1250934"/>
            <a:ext cx="6915902" cy="4524315"/>
          </a:xfrm>
          <a:prstGeom prst="rect">
            <a:avLst/>
          </a:prstGeom>
          <a:noFill/>
        </p:spPr>
        <p:txBody>
          <a:bodyPr wrap="square" rtlCol="0">
            <a:spAutoFit/>
          </a:bodyPr>
          <a:lstStyle/>
          <a:p>
            <a:r>
              <a:rPr lang="en-US" b="1" dirty="0"/>
              <a:t>Observations:</a:t>
            </a:r>
          </a:p>
          <a:p>
            <a:endParaRPr lang="en-US" dirty="0"/>
          </a:p>
          <a:p>
            <a:r>
              <a:rPr lang="en-US" dirty="0"/>
              <a:t>Residuals Centered Around Zero Predictions are </a:t>
            </a:r>
            <a:r>
              <a:rPr lang="en-US" dirty="0" err="1"/>
              <a:t>unbiased,No</a:t>
            </a:r>
            <a:r>
              <a:rPr lang="en-US" dirty="0"/>
              <a:t> systematic overpricing or underpricing &amp; Model errors are random rather than directional</a:t>
            </a:r>
          </a:p>
          <a:p>
            <a:endParaRPr lang="en-US" dirty="0"/>
          </a:p>
          <a:p>
            <a:r>
              <a:rPr lang="en-US" dirty="0"/>
              <a:t>Roughly Bell-Shaped Curve Residuals resemble a normal distribution Errors behave like random noise, No obvious structural modeling issue</a:t>
            </a:r>
          </a:p>
          <a:p>
            <a:r>
              <a:rPr lang="en-US" dirty="0"/>
              <a:t>3.Majority of Errors Are Small Most residuals fall within a narrow band around zero. Typical prediction errors are low, Model performs reliably for most vehicles</a:t>
            </a:r>
          </a:p>
          <a:p>
            <a:endParaRPr lang="en-US" dirty="0"/>
          </a:p>
          <a:p>
            <a:r>
              <a:rPr lang="en-US" dirty="0"/>
              <a:t>Residuals are approximately normally distributed and centered near zero, indicating minimal prediction bias. A slight right skew is observed, suggesting occasional underestimation of high-priced vehicles — a common characteristic of linear models applied to skewed price data.</a:t>
            </a:r>
          </a:p>
        </p:txBody>
      </p:sp>
    </p:spTree>
    <p:extLst>
      <p:ext uri="{BB962C8B-B14F-4D97-AF65-F5344CB8AC3E}">
        <p14:creationId xmlns:p14="http://schemas.microsoft.com/office/powerpoint/2010/main" val="35948085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D3669-0871-537E-6BF5-849AF77C1FD3}"/>
              </a:ext>
            </a:extLst>
          </p:cNvPr>
          <p:cNvSpPr>
            <a:spLocks noGrp="1"/>
          </p:cNvSpPr>
          <p:nvPr>
            <p:ph type="title"/>
          </p:nvPr>
        </p:nvSpPr>
        <p:spPr>
          <a:xfrm>
            <a:off x="0" y="99453"/>
            <a:ext cx="12192000" cy="1188720"/>
          </a:xfrm>
        </p:spPr>
        <p:txBody>
          <a:bodyPr/>
          <a:lstStyle/>
          <a:p>
            <a:r>
              <a:rPr lang="en-US" dirty="0"/>
              <a:t>Residual Plot for SVR Regression</a:t>
            </a:r>
            <a:br>
              <a:rPr lang="en-US" dirty="0"/>
            </a:br>
            <a:endParaRPr lang="en-IN" dirty="0"/>
          </a:p>
        </p:txBody>
      </p:sp>
      <p:pic>
        <p:nvPicPr>
          <p:cNvPr id="5" name="Content Placeholder 4">
            <a:extLst>
              <a:ext uri="{FF2B5EF4-FFF2-40B4-BE49-F238E27FC236}">
                <a16:creationId xmlns:a16="http://schemas.microsoft.com/office/drawing/2014/main" id="{478931B9-C1C2-EB9B-D78E-E9D8AC90E6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33187" y="1360232"/>
            <a:ext cx="4758813" cy="3841033"/>
          </a:xfrm>
          <a:prstGeom prst="rect">
            <a:avLst/>
          </a:prstGeom>
          <a:scene3d>
            <a:camera prst="orthographicFront"/>
            <a:lightRig rig="threePt" dir="t"/>
          </a:scene3d>
          <a:sp3d>
            <a:bevelT/>
          </a:sp3d>
        </p:spPr>
      </p:pic>
      <p:sp>
        <p:nvSpPr>
          <p:cNvPr id="6" name="TextBox 5">
            <a:extLst>
              <a:ext uri="{FF2B5EF4-FFF2-40B4-BE49-F238E27FC236}">
                <a16:creationId xmlns:a16="http://schemas.microsoft.com/office/drawing/2014/main" id="{FA35F09E-A231-B205-75C1-51ECA230F7DE}"/>
              </a:ext>
            </a:extLst>
          </p:cNvPr>
          <p:cNvSpPr txBox="1"/>
          <p:nvPr/>
        </p:nvSpPr>
        <p:spPr>
          <a:xfrm>
            <a:off x="108155" y="1288173"/>
            <a:ext cx="7325032" cy="5078313"/>
          </a:xfrm>
          <a:prstGeom prst="rect">
            <a:avLst/>
          </a:prstGeom>
          <a:noFill/>
        </p:spPr>
        <p:txBody>
          <a:bodyPr wrap="square" rtlCol="0">
            <a:spAutoFit/>
          </a:bodyPr>
          <a:lstStyle/>
          <a:p>
            <a:r>
              <a:rPr lang="en-US" b="1" dirty="0"/>
              <a:t>Observations:</a:t>
            </a:r>
            <a:endParaRPr lang="en-US" dirty="0"/>
          </a:p>
          <a:p>
            <a:r>
              <a:rPr lang="en-US" dirty="0"/>
              <a:t>Random Scatter Around Zero → Very Good Sign Points are distributed on both sides of the zero line.</a:t>
            </a:r>
          </a:p>
          <a:p>
            <a:endParaRPr lang="en-US" dirty="0"/>
          </a:p>
          <a:p>
            <a:r>
              <a:rPr lang="en-US" dirty="0"/>
              <a:t>2.No Clear Pattern We do not see a U-shape or wave pattern.</a:t>
            </a:r>
          </a:p>
          <a:p>
            <a:endParaRPr lang="en-US" dirty="0"/>
          </a:p>
          <a:p>
            <a:r>
              <a:rPr lang="en-US" dirty="0"/>
              <a:t>3.Slight Funnel Shape Spread of residuals increases as predicted price increases.</a:t>
            </a:r>
          </a:p>
          <a:p>
            <a:endParaRPr lang="en-US" dirty="0"/>
          </a:p>
          <a:p>
            <a:r>
              <a:rPr lang="en-US" dirty="0"/>
              <a:t>4. Large Errors Mostly at Mid / High Prices Notice bigger residuals around predicted values 10 – 18.</a:t>
            </a:r>
          </a:p>
          <a:p>
            <a:endParaRPr lang="en-US" dirty="0"/>
          </a:p>
          <a:p>
            <a:r>
              <a:rPr lang="en-US" dirty="0"/>
              <a:t>Residuals are randomly dispersed around zero with no visible nonlinear pattern, indicating that the linear model adequately captures the underlying relationship. A mild increase in variance at higher predicted prices suggests heteroscedasticity, which is common in price modeling tasks due to greater variability among high-value vehicles</a:t>
            </a:r>
          </a:p>
          <a:p>
            <a:endParaRPr lang="en-US" dirty="0"/>
          </a:p>
        </p:txBody>
      </p:sp>
    </p:spTree>
    <p:extLst>
      <p:ext uri="{BB962C8B-B14F-4D97-AF65-F5344CB8AC3E}">
        <p14:creationId xmlns:p14="http://schemas.microsoft.com/office/powerpoint/2010/main" val="469227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9DC00-0727-6031-0628-2DF8DE527AC0}"/>
              </a:ext>
            </a:extLst>
          </p:cNvPr>
          <p:cNvSpPr>
            <a:spLocks noGrp="1"/>
          </p:cNvSpPr>
          <p:nvPr>
            <p:ph type="title"/>
          </p:nvPr>
        </p:nvSpPr>
        <p:spPr>
          <a:xfrm>
            <a:off x="1" y="0"/>
            <a:ext cx="12192000" cy="776748"/>
          </a:xfrm>
        </p:spPr>
        <p:txBody>
          <a:bodyPr>
            <a:normAutofit fontScale="90000"/>
          </a:bodyPr>
          <a:lstStyle/>
          <a:p>
            <a:br>
              <a:rPr lang="en-IN" dirty="0"/>
            </a:br>
            <a:r>
              <a:rPr lang="en-IN" dirty="0"/>
              <a:t>Support Vector feature importance analysis(Permutation Importance)</a:t>
            </a:r>
            <a:br>
              <a:rPr lang="en-IN" dirty="0"/>
            </a:br>
            <a:endParaRPr lang="en-IN" dirty="0"/>
          </a:p>
        </p:txBody>
      </p:sp>
      <p:pic>
        <p:nvPicPr>
          <p:cNvPr id="5" name="Content Placeholder 4">
            <a:extLst>
              <a:ext uri="{FF2B5EF4-FFF2-40B4-BE49-F238E27FC236}">
                <a16:creationId xmlns:a16="http://schemas.microsoft.com/office/drawing/2014/main" id="{DF6D188C-3AE5-CA9F-2A54-C61EFACF16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789857"/>
            <a:ext cx="6020524" cy="4255729"/>
          </a:xfrm>
          <a:prstGeom prst="rect">
            <a:avLst/>
          </a:prstGeom>
        </p:spPr>
      </p:pic>
      <p:sp>
        <p:nvSpPr>
          <p:cNvPr id="6" name="TextBox 5">
            <a:extLst>
              <a:ext uri="{FF2B5EF4-FFF2-40B4-BE49-F238E27FC236}">
                <a16:creationId xmlns:a16="http://schemas.microsoft.com/office/drawing/2014/main" id="{7599788C-EC6A-0097-2CC0-6F7EA99B0A23}"/>
              </a:ext>
            </a:extLst>
          </p:cNvPr>
          <p:cNvSpPr txBox="1"/>
          <p:nvPr/>
        </p:nvSpPr>
        <p:spPr>
          <a:xfrm>
            <a:off x="0" y="789857"/>
            <a:ext cx="5938684" cy="6186309"/>
          </a:xfrm>
          <a:prstGeom prst="rect">
            <a:avLst/>
          </a:prstGeom>
          <a:noFill/>
        </p:spPr>
        <p:txBody>
          <a:bodyPr wrap="square" rtlCol="0">
            <a:spAutoFit/>
          </a:bodyPr>
          <a:lstStyle/>
          <a:p>
            <a:r>
              <a:rPr lang="en-US" dirty="0"/>
              <a:t>The permutation importance results highlight the primary drivers of used-car prices captured by the SVR model.</a:t>
            </a:r>
          </a:p>
          <a:p>
            <a:r>
              <a:rPr lang="en-US" b="1" dirty="0" err="1"/>
              <a:t>IsPremiumBrand</a:t>
            </a:r>
            <a:r>
              <a:rPr lang="en-US" dirty="0"/>
              <a:t> emerges as the most influential feature, indicating that brand positioning and perceived market value play a dominant role in pricing. Premium vehicles exhibit distinct valuation </a:t>
            </a:r>
            <a:r>
              <a:rPr lang="en-US" dirty="0" err="1"/>
              <a:t>behaviour</a:t>
            </a:r>
            <a:r>
              <a:rPr lang="en-US" dirty="0"/>
              <a:t> that strongly impacts predictions.</a:t>
            </a:r>
          </a:p>
          <a:p>
            <a:r>
              <a:rPr lang="en-US" b="1" dirty="0"/>
              <a:t>Model</a:t>
            </a:r>
            <a:r>
              <a:rPr lang="en-US" dirty="0"/>
              <a:t> ranks as the second most important predictor, reflecting that pricing differences are significantly driven by vehicle-specific characteristics beyond the manufacturer level.</a:t>
            </a:r>
          </a:p>
          <a:p>
            <a:r>
              <a:rPr lang="en-US" b="1" dirty="0" err="1"/>
              <a:t>CarAge</a:t>
            </a:r>
            <a:r>
              <a:rPr lang="en-US" dirty="0"/>
              <a:t> shows high importance, confirming that depreciation effects are central to used-car valuation, with newer vehicles commanding higher prices.</a:t>
            </a:r>
          </a:p>
          <a:p>
            <a:r>
              <a:rPr lang="en-US" b="1" dirty="0" err="1"/>
              <a:t>BodyStyle</a:t>
            </a:r>
            <a:r>
              <a:rPr lang="en-US" dirty="0"/>
              <a:t> and </a:t>
            </a:r>
            <a:r>
              <a:rPr lang="en-US" b="1" dirty="0"/>
              <a:t>Company</a:t>
            </a:r>
            <a:r>
              <a:rPr lang="en-US" dirty="0"/>
              <a:t> contribute meaningfully, suggesting that vehicle segment (SUV, Sedan, etc.) and manufacturer reputation affect resale value.</a:t>
            </a:r>
          </a:p>
          <a:p>
            <a:r>
              <a:rPr lang="en-US" b="1" dirty="0" err="1"/>
              <a:t>WearAndTear</a:t>
            </a:r>
            <a:r>
              <a:rPr lang="en-US" dirty="0"/>
              <a:t> demonstrates moderate influence, validating that composite condition-related signals improve price estimation.</a:t>
            </a:r>
          </a:p>
          <a:p>
            <a:r>
              <a:rPr lang="en-US" dirty="0"/>
              <a:t>Features such as </a:t>
            </a:r>
            <a:r>
              <a:rPr lang="en-US" b="1" dirty="0" err="1"/>
              <a:t>FuelType</a:t>
            </a:r>
            <a:r>
              <a:rPr lang="en-US" dirty="0"/>
              <a:t>, </a:t>
            </a:r>
            <a:r>
              <a:rPr lang="en-US" b="1" dirty="0" err="1"/>
              <a:t>QualityScore</a:t>
            </a:r>
            <a:r>
              <a:rPr lang="en-US" dirty="0"/>
              <a:t>, and </a:t>
            </a:r>
            <a:r>
              <a:rPr lang="en-US" b="1" dirty="0" err="1"/>
              <a:t>WarrantyImpact</a:t>
            </a:r>
            <a:r>
              <a:rPr lang="en-US" dirty="0"/>
              <a:t> show relatively lower importance, implying their effects are secondary or indirectly captured through stronger correlated predictors.</a:t>
            </a:r>
          </a:p>
        </p:txBody>
      </p:sp>
      <p:sp>
        <p:nvSpPr>
          <p:cNvPr id="7" name="TextBox 6">
            <a:extLst>
              <a:ext uri="{FF2B5EF4-FFF2-40B4-BE49-F238E27FC236}">
                <a16:creationId xmlns:a16="http://schemas.microsoft.com/office/drawing/2014/main" id="{C1C1E0EE-2FB2-1951-A2A0-7B26B74D209E}"/>
              </a:ext>
            </a:extLst>
          </p:cNvPr>
          <p:cNvSpPr txBox="1"/>
          <p:nvPr/>
        </p:nvSpPr>
        <p:spPr>
          <a:xfrm>
            <a:off x="5840361" y="5058694"/>
            <a:ext cx="6351639" cy="1477328"/>
          </a:xfrm>
          <a:prstGeom prst="rect">
            <a:avLst/>
          </a:prstGeom>
          <a:noFill/>
        </p:spPr>
        <p:txBody>
          <a:bodyPr wrap="square" rtlCol="0">
            <a:spAutoFit/>
          </a:bodyPr>
          <a:lstStyle/>
          <a:p>
            <a:r>
              <a:rPr lang="en-US" b="1" dirty="0"/>
              <a:t>Key Insight</a:t>
            </a:r>
          </a:p>
          <a:p>
            <a:r>
              <a:rPr lang="en-US" dirty="0"/>
              <a:t>The SVR model primarily relies on </a:t>
            </a:r>
            <a:r>
              <a:rPr lang="en-US" b="1" dirty="0"/>
              <a:t>brand tier, model identity, and vehicle age</a:t>
            </a:r>
            <a:r>
              <a:rPr lang="en-US" dirty="0"/>
              <a:t>, which aligns closely with real-world automotive pricing dynamics where depreciation and brand perception dominate valuation decisions.</a:t>
            </a:r>
          </a:p>
        </p:txBody>
      </p:sp>
    </p:spTree>
    <p:extLst>
      <p:ext uri="{BB962C8B-B14F-4D97-AF65-F5344CB8AC3E}">
        <p14:creationId xmlns:p14="http://schemas.microsoft.com/office/powerpoint/2010/main" val="1159175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AE6E9-6C88-3DEA-CF0C-2045F1619044}"/>
              </a:ext>
            </a:extLst>
          </p:cNvPr>
          <p:cNvSpPr>
            <a:spLocks noGrp="1"/>
          </p:cNvSpPr>
          <p:nvPr>
            <p:ph type="title"/>
          </p:nvPr>
        </p:nvSpPr>
        <p:spPr>
          <a:xfrm>
            <a:off x="0" y="1"/>
            <a:ext cx="12192000" cy="678426"/>
          </a:xfrm>
        </p:spPr>
        <p:txBody>
          <a:bodyPr>
            <a:normAutofit fontScale="90000"/>
          </a:bodyPr>
          <a:lstStyle/>
          <a:p>
            <a:r>
              <a:rPr lang="en-US" dirty="0"/>
              <a:t>Project Conclusion – Predicting Used Car Prices</a:t>
            </a:r>
            <a:endParaRPr lang="en-IN" dirty="0"/>
          </a:p>
        </p:txBody>
      </p:sp>
      <p:sp>
        <p:nvSpPr>
          <p:cNvPr id="3" name="Content Placeholder 2">
            <a:extLst>
              <a:ext uri="{FF2B5EF4-FFF2-40B4-BE49-F238E27FC236}">
                <a16:creationId xmlns:a16="http://schemas.microsoft.com/office/drawing/2014/main" id="{BF90790D-87B0-BF41-6084-A614C509441B}"/>
              </a:ext>
            </a:extLst>
          </p:cNvPr>
          <p:cNvSpPr>
            <a:spLocks noGrp="1"/>
          </p:cNvSpPr>
          <p:nvPr>
            <p:ph idx="1"/>
          </p:nvPr>
        </p:nvSpPr>
        <p:spPr>
          <a:xfrm>
            <a:off x="0" y="678426"/>
            <a:ext cx="12192000" cy="6179573"/>
          </a:xfrm>
        </p:spPr>
        <p:txBody>
          <a:bodyPr>
            <a:normAutofit/>
          </a:bodyPr>
          <a:lstStyle/>
          <a:p>
            <a:pPr marL="0" indent="0">
              <a:buNone/>
            </a:pPr>
            <a:endParaRPr lang="en-US" dirty="0"/>
          </a:p>
          <a:p>
            <a:pPr marL="0" indent="0">
              <a:buNone/>
            </a:pPr>
            <a:r>
              <a:rPr lang="en-US" dirty="0"/>
              <a:t>This project demonstrates the effectiveness of machine learning techniques in building a reliable, data-driven used-car pricing model. Through systematic data preprocessing, robust feature engineering, and comparative evaluation of multiple algorithms, the analysis successfully identified patterns governing vehicle valuation.</a:t>
            </a:r>
          </a:p>
          <a:p>
            <a:pPr marL="0" indent="0">
              <a:buNone/>
            </a:pPr>
            <a:r>
              <a:rPr lang="en-US" dirty="0"/>
              <a:t>Among the evaluated models, </a:t>
            </a:r>
            <a:r>
              <a:rPr lang="en-US" b="1" dirty="0"/>
              <a:t>Support Vector Regression (SVR)</a:t>
            </a:r>
            <a:r>
              <a:rPr lang="en-US" dirty="0"/>
              <a:t> delivered the strongest predictive performance, achieving the lowest error metrics and highest explanatory power. Cross-validation results further confirmed the model’s </a:t>
            </a:r>
            <a:r>
              <a:rPr lang="en-US" b="1" dirty="0"/>
              <a:t>stability and generalization capability</a:t>
            </a:r>
            <a:r>
              <a:rPr lang="en-US" dirty="0"/>
              <a:t>, indicating dependable performance on unseen data.</a:t>
            </a:r>
          </a:p>
          <a:p>
            <a:pPr marL="0" indent="0">
              <a:buNone/>
            </a:pPr>
            <a:r>
              <a:rPr lang="en-US" dirty="0"/>
              <a:t>Feature importance analysis revealed that </a:t>
            </a:r>
            <a:r>
              <a:rPr lang="en-US" b="1" dirty="0"/>
              <a:t>brand tier (</a:t>
            </a:r>
            <a:r>
              <a:rPr lang="en-US" b="1" dirty="0" err="1"/>
              <a:t>IsPremiumBrand</a:t>
            </a:r>
            <a:r>
              <a:rPr lang="en-US" b="1" dirty="0"/>
              <a:t>), vehicle model, and car age</a:t>
            </a:r>
            <a:r>
              <a:rPr lang="en-US" dirty="0"/>
              <a:t> are the dominant pricing drivers, aligning closely with real-world market </a:t>
            </a:r>
            <a:r>
              <a:rPr lang="en-US" dirty="0" err="1"/>
              <a:t>behaviour</a:t>
            </a:r>
            <a:r>
              <a:rPr lang="en-US" dirty="0"/>
              <a:t>. Engineered features such as </a:t>
            </a:r>
            <a:r>
              <a:rPr lang="en-US" b="1" dirty="0" err="1"/>
              <a:t>UsageIntensity</a:t>
            </a:r>
            <a:r>
              <a:rPr lang="en-US" dirty="0"/>
              <a:t> and </a:t>
            </a:r>
            <a:r>
              <a:rPr lang="en-US" b="1" dirty="0" err="1"/>
              <a:t>WearAndTear</a:t>
            </a:r>
            <a:r>
              <a:rPr lang="en-US" dirty="0"/>
              <a:t> also contributed meaningful predictive signals, validating the value of domain-informed feature design.</a:t>
            </a:r>
          </a:p>
          <a:p>
            <a:pPr marL="0" indent="0">
              <a:buNone/>
            </a:pPr>
            <a:r>
              <a:rPr lang="en-US" dirty="0"/>
              <a:t>From a business perspective, the developed model offers practical benefits:</a:t>
            </a:r>
          </a:p>
          <a:p>
            <a:pPr marL="0" indent="0">
              <a:buNone/>
            </a:pPr>
            <a:r>
              <a:rPr lang="en-US" dirty="0"/>
              <a:t>• Enables consistent and objective price estimation</a:t>
            </a:r>
            <a:br>
              <a:rPr lang="en-US" dirty="0"/>
            </a:br>
            <a:r>
              <a:rPr lang="en-US" dirty="0"/>
              <a:t>• Reduces reliance on subjective valuation methods</a:t>
            </a:r>
            <a:br>
              <a:rPr lang="en-US" dirty="0"/>
            </a:br>
            <a:r>
              <a:rPr lang="en-US" dirty="0"/>
              <a:t>• Supports improved inventory and pricing decisions</a:t>
            </a:r>
            <a:br>
              <a:rPr lang="en-US" dirty="0"/>
            </a:br>
            <a:r>
              <a:rPr lang="en-US" dirty="0"/>
              <a:t>• Enhances buyer and seller confidence</a:t>
            </a:r>
          </a:p>
          <a:p>
            <a:pPr marL="0" indent="0">
              <a:buNone/>
            </a:pPr>
            <a:r>
              <a:rPr lang="en-US" dirty="0"/>
              <a:t>Overall, the project confirms that combining </a:t>
            </a:r>
            <a:r>
              <a:rPr lang="en-US" b="1" dirty="0"/>
              <a:t>data quality management, domain logic, and advanced regression techniques</a:t>
            </a:r>
            <a:r>
              <a:rPr lang="en-US" dirty="0"/>
              <a:t> can significantly improve pricing accuracy in the used-car marketplace. The resulting framework is scalable, interpretable, and suitable for real-world deployment scenarios.</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981714504"/>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docProps/app.xml><?xml version="1.0" encoding="utf-8"?>
<Properties xmlns="http://schemas.openxmlformats.org/officeDocument/2006/extended-properties" xmlns:vt="http://schemas.openxmlformats.org/officeDocument/2006/docPropsVTypes">
  <Template/>
  <TotalTime>276</TotalTime>
  <Words>6797</Words>
  <Application>Microsoft Office PowerPoint</Application>
  <PresentationFormat>Widescreen</PresentationFormat>
  <Paragraphs>565</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Arial Unicode MS</vt:lpstr>
      <vt:lpstr>Gill Sans MT</vt:lpstr>
      <vt:lpstr>Parcel</vt:lpstr>
      <vt:lpstr>Project on predicting used car prices</vt:lpstr>
      <vt:lpstr>Introduction</vt:lpstr>
      <vt:lpstr>Problem statement</vt:lpstr>
      <vt:lpstr>METHODOLOGY</vt:lpstr>
      <vt:lpstr>PowerPoint Presentation</vt:lpstr>
      <vt:lpstr>Dataset information</vt:lpstr>
      <vt:lpstr>PowerPoint Presentation</vt:lpstr>
      <vt:lpstr>PowerPoint Presentation</vt:lpstr>
      <vt:lpstr>Dataset description</vt:lpstr>
      <vt:lpstr>PowerPoint Presentation</vt:lpstr>
      <vt:lpstr>Target distribution (price)</vt:lpstr>
      <vt:lpstr>Numeric features: distribution and relationship with price</vt:lpstr>
      <vt:lpstr>PowerPoint Presentation</vt:lpstr>
      <vt:lpstr>Correlation matrix (numeric) </vt:lpstr>
      <vt:lpstr>PowerPoint Presentation</vt:lpstr>
      <vt:lpstr>Categorical features: counts &amp; Price summary (mean/median) </vt:lpstr>
      <vt:lpstr>PowerPoint Presentation</vt:lpstr>
      <vt:lpstr>Major Data Quality Problems Detected </vt:lpstr>
      <vt:lpstr>Boxplots / violinplots for important categories </vt:lpstr>
      <vt:lpstr>PowerPoint Presentation</vt:lpstr>
      <vt:lpstr>PowerPoint Presentation</vt:lpstr>
      <vt:lpstr> Price vs Kilometer &amp; Car-Age with trendlines </vt:lpstr>
      <vt:lpstr> Categorical encoding effect: Price means for categories (bar plot) </vt:lpstr>
      <vt:lpstr>PowerPoint Presentation</vt:lpstr>
      <vt:lpstr>Missing value visualization </vt:lpstr>
      <vt:lpstr>Outlier detection (IQR &amp; Top outliers) </vt:lpstr>
      <vt:lpstr>Target transform check: Does modeling logPrice help? </vt:lpstr>
      <vt:lpstr>PowerPoint Presentation</vt:lpstr>
      <vt:lpstr>Multi-collinearity check </vt:lpstr>
      <vt:lpstr>Price Distribution &amp; Bivariate Analysis between Kilometer vs Price and Fuel Type vs Price </vt:lpstr>
      <vt:lpstr>PowerPoint Presentation</vt:lpstr>
      <vt:lpstr>Column drop &amp; important features for model training</vt:lpstr>
      <vt:lpstr>New features created</vt:lpstr>
      <vt:lpstr>Defining Features &amp; Target</vt:lpstr>
      <vt:lpstr> Data Preprocessing / Feature Categorization </vt:lpstr>
      <vt:lpstr>Column-wise Data Transformation using Pipelines</vt:lpstr>
      <vt:lpstr>Train–Test Split &amp; cross-validation</vt:lpstr>
      <vt:lpstr>Model Evaluation </vt:lpstr>
      <vt:lpstr>Model pipeline &amp; hyper parameter tuning</vt:lpstr>
      <vt:lpstr> Model Training with Different Algorithms </vt:lpstr>
      <vt:lpstr>Model comparison &amp; performance analysis</vt:lpstr>
      <vt:lpstr>Cross-validation analysis</vt:lpstr>
      <vt:lpstr>  Actual vs Predicted Plot - SVR Regression </vt:lpstr>
      <vt:lpstr>Residual Distribution for Support Vector Regression Model </vt:lpstr>
      <vt:lpstr>Residual Plot for SVR Regression </vt:lpstr>
      <vt:lpstr> Support Vector feature importance analysis(Permutation Importance) </vt:lpstr>
      <vt:lpstr>Project Conclusion – Predicting Used Car Prices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sanu mathew</dc:creator>
  <cp:lastModifiedBy>sanu mathew</cp:lastModifiedBy>
  <cp:revision>1</cp:revision>
  <dcterms:created xsi:type="dcterms:W3CDTF">2026-02-22T13:26:09Z</dcterms:created>
  <dcterms:modified xsi:type="dcterms:W3CDTF">2026-03-25T15:19:55Z</dcterms:modified>
</cp:coreProperties>
</file>